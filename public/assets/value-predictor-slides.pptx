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Baseline SVP (2.02 HM)</c:v>
                </c:pt>
              </c:strCache>
            </c:strRef>
          </c:tx>
          <c:spPr>
            <a:solidFill>
              <a:srgbClr val="4A7FC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perlbench</c:v>
                  </c:pt>
                  <c:pt idx="1">
                    <c:v>h264ref</c:v>
                  </c:pt>
                  <c:pt idx="2">
                    <c:v>sjeng</c:v>
                  </c:pt>
                  <c:pt idx="3">
                    <c:v>povray</c:v>
                  </c:pt>
                  <c:pt idx="4">
                    <c:v>astar</c:v>
                  </c:pt>
                  <c:pt idx="5">
                    <c:v>zeusmp</c:v>
                  </c:pt>
                  <c:pt idx="6">
                    <c:v>leela</c:v>
                  </c:pt>
                  <c:pt idx="7">
                    <c:v>omnetpp</c:v>
                  </c:pt>
                  <c:pt idx="8">
                    <c:v>mcf</c:v>
                  </c:pt>
                </c:lvl>
              </c:multiLvlStrCache>
            </c:multiLvlStrRef>
          </c:cat>
          <c:val>
            <c:numRef>
              <c:f>Sheet1!$B$2:$B$10</c:f>
              <c:numCache>
                <c:formatCode>General</c:formatCode>
                <c:ptCount val="9"/>
                <c:pt idx="0">
                  <c:v>5.01</c:v>
                </c:pt>
                <c:pt idx="1">
                  <c:v>5.46</c:v>
                </c:pt>
                <c:pt idx="2">
                  <c:v>3.16</c:v>
                </c:pt>
                <c:pt idx="3">
                  <c:v>3.12</c:v>
                </c:pt>
                <c:pt idx="4">
                  <c:v>2.59</c:v>
                </c:pt>
                <c:pt idx="5">
                  <c:v>2.04</c:v>
                </c:pt>
                <c:pt idx="6">
                  <c:v>2.38</c:v>
                </c:pt>
                <c:pt idx="7">
                  <c:v>0.82</c:v>
                </c:pt>
                <c:pt idx="8">
                  <c:v>0.82</c:v>
                </c:pt>
              </c:numCache>
            </c:numRef>
          </c:val>
        </c:ser>
        <c:ser>
          <c:idx val="1"/>
          <c:order val="1"/>
          <c:tx>
            <c:strRef>
              <c:f>Sheet1!$C$1</c:f>
              <c:strCache>
                <c:ptCount val="1"/>
                <c:pt idx="0">
                  <c:v>Our Predictor (2.051 HM)</c:v>
                </c:pt>
              </c:strCache>
            </c:strRef>
          </c:tx>
          <c:spPr>
            <a:solidFill>
              <a:srgbClr val="00F5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perlbench</c:v>
                  </c:pt>
                  <c:pt idx="1">
                    <c:v>h264ref</c:v>
                  </c:pt>
                  <c:pt idx="2">
                    <c:v>sjeng</c:v>
                  </c:pt>
                  <c:pt idx="3">
                    <c:v>povray</c:v>
                  </c:pt>
                  <c:pt idx="4">
                    <c:v>astar</c:v>
                  </c:pt>
                  <c:pt idx="5">
                    <c:v>zeusmp</c:v>
                  </c:pt>
                  <c:pt idx="6">
                    <c:v>leela</c:v>
                  </c:pt>
                  <c:pt idx="7">
                    <c:v>omnetpp</c:v>
                  </c:pt>
                  <c:pt idx="8">
                    <c:v>mcf</c:v>
                  </c:pt>
                </c:lvl>
              </c:multiLvlStrCache>
            </c:multiLvlStrRef>
          </c:cat>
          <c:val>
            <c:numRef>
              <c:f>Sheet1!$C$2:$C$10</c:f>
              <c:numCache>
                <c:formatCode>General</c:formatCode>
                <c:ptCount val="9"/>
                <c:pt idx="0">
                  <c:v>5.67</c:v>
                </c:pt>
                <c:pt idx="1">
                  <c:v>5.79</c:v>
                </c:pt>
                <c:pt idx="2">
                  <c:v>3.16</c:v>
                </c:pt>
                <c:pt idx="3">
                  <c:v>3.13</c:v>
                </c:pt>
                <c:pt idx="4">
                  <c:v>2.85</c:v>
                </c:pt>
                <c:pt idx="5">
                  <c:v>2.31</c:v>
                </c:pt>
                <c:pt idx="6">
                  <c:v>2.4</c:v>
                </c:pt>
                <c:pt idx="7">
                  <c:v>0.86</c:v>
                </c:pt>
                <c:pt idx="8">
                  <c:v>1.67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EACC4"/>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1A3A5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EACC4"/>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8EACC4"/>
              </a:solidFill>
            </a:defRPr>
          </a:pPr>
          <a:endParaRPr lang="en-US"/>
        </a:p>
      </c:txPr>
    </c:legend>
    <c:plotVisOnly val="1"/>
    <c:dispBlanksAs val="span"/>
  </c:chart>
  <c:spPr>
    <a:solidFill>
      <a:srgbClr val="0D213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B4D8"/>
          </a:solidFill>
          <a:ln w="12700">
            <a:solidFill>
              <a:srgbClr val="00B4D8"/>
            </a:solidFill>
            <a:prstDash val="solid"/>
          </a:ln>
        </p:spPr>
      </p:sp>
      <p:sp>
        <p:nvSpPr>
          <p:cNvPr id="3" name="Shape 1"/>
          <p:cNvSpPr/>
          <p:nvPr/>
        </p:nvSpPr>
        <p:spPr>
          <a:xfrm>
            <a:off x="9089136" y="0"/>
            <a:ext cx="54864" cy="5143500"/>
          </a:xfrm>
          <a:prstGeom prst="rect">
            <a:avLst/>
          </a:prstGeom>
          <a:solidFill>
            <a:srgbClr val="00B4D8"/>
          </a:solidFill>
          <a:ln w="12700">
            <a:solidFill>
              <a:srgbClr val="00B4D8"/>
            </a:solidFill>
            <a:prstDash val="solid"/>
          </a:ln>
        </p:spPr>
      </p:sp>
      <p:sp>
        <p:nvSpPr>
          <p:cNvPr id="4" name="Shape 2"/>
          <p:cNvSpPr/>
          <p:nvPr/>
        </p:nvSpPr>
        <p:spPr>
          <a:xfrm>
            <a:off x="0" y="365760"/>
            <a:ext cx="9144000" cy="54864"/>
          </a:xfrm>
          <a:prstGeom prst="rect">
            <a:avLst/>
          </a:prstGeom>
          <a:solidFill>
            <a:srgbClr val="00B4D8"/>
          </a:solidFill>
          <a:ln w="12700">
            <a:solidFill>
              <a:srgbClr val="00B4D8"/>
            </a:solidFill>
            <a:prstDash val="solid"/>
          </a:ln>
        </p:spPr>
      </p:sp>
      <p:sp>
        <p:nvSpPr>
          <p:cNvPr id="5" name="Shape 3"/>
          <p:cNvSpPr/>
          <p:nvPr/>
        </p:nvSpPr>
        <p:spPr>
          <a:xfrm>
            <a:off x="0" y="4754880"/>
            <a:ext cx="9144000" cy="54864"/>
          </a:xfrm>
          <a:prstGeom prst="rect">
            <a:avLst/>
          </a:prstGeom>
          <a:solidFill>
            <a:srgbClr val="00B4D8"/>
          </a:solidFill>
          <a:ln w="12700">
            <a:solidFill>
              <a:srgbClr val="00B4D8"/>
            </a:solidFill>
            <a:prstDash val="solid"/>
          </a:ln>
        </p:spPr>
      </p:sp>
      <p:sp>
        <p:nvSpPr>
          <p:cNvPr id="6" name="Text 4"/>
          <p:cNvSpPr/>
          <p:nvPr/>
        </p:nvSpPr>
        <p:spPr>
          <a:xfrm>
            <a:off x="274320" y="91440"/>
            <a:ext cx="8595360" cy="274320"/>
          </a:xfrm>
          <a:prstGeom prst="rect">
            <a:avLst/>
          </a:prstGeom>
          <a:noFill/>
          <a:ln/>
        </p:spPr>
        <p:txBody>
          <a:bodyPr wrap="square" rtlCol="0" anchor="ctr"/>
          <a:lstStyle/>
          <a:p>
            <a:pPr indent="0" marL="0">
              <a:buNone/>
            </a:pPr>
            <a:r>
              <a:rPr lang="en-US" sz="1100" i="1" dirty="0">
                <a:solidFill>
                  <a:srgbClr val="00B4D8"/>
                </a:solidFill>
                <a:latin typeface="Calibri" pitchFamily="34" charset="0"/>
                <a:ea typeface="Calibri" pitchFamily="34" charset="-122"/>
                <a:cs typeface="Calibri" pitchFamily="34" charset="-120"/>
              </a:rPr>
              <a:t>ECE 721 — Value Prediction Project</a:t>
            </a:r>
            <a:endParaRPr lang="en-US" sz="1100" dirty="0"/>
          </a:p>
        </p:txBody>
      </p:sp>
      <p:sp>
        <p:nvSpPr>
          <p:cNvPr id="7" name="Text 5"/>
          <p:cNvSpPr/>
          <p:nvPr/>
        </p:nvSpPr>
        <p:spPr>
          <a:xfrm>
            <a:off x="457200" y="822960"/>
            <a:ext cx="5943600" cy="2011680"/>
          </a:xfrm>
          <a:prstGeom prst="rect">
            <a:avLst/>
          </a:prstGeom>
          <a:noFill/>
          <a:ln/>
        </p:spPr>
        <p:txBody>
          <a:bodyPr wrap="square" rtlCol="0" anchor="ctr"/>
          <a:lstStyle/>
          <a:p>
            <a:pPr algn="l" indent="0" marL="0">
              <a:buNone/>
            </a:pPr>
            <a:r>
              <a:rPr lang="en-US" sz="4400" b="1" dirty="0">
                <a:solidFill>
                  <a:srgbClr val="FFFFFF"/>
                </a:solidFill>
                <a:latin typeface="Calibri" pitchFamily="34" charset="0"/>
                <a:ea typeface="Calibri" pitchFamily="34" charset="-122"/>
                <a:cs typeface="Calibri" pitchFamily="34" charset="-120"/>
              </a:rPr>
              <a:t>32KB Hybrid Out-of-Order</a:t>
            </a:r>
            <a:endParaRPr lang="en-US" sz="4400" dirty="0"/>
          </a:p>
          <a:p>
            <a:pPr algn="l" indent="0" marL="0">
              <a:buNone/>
            </a:pPr>
            <a:r>
              <a:rPr lang="en-US" sz="4400" b="1" dirty="0">
                <a:solidFill>
                  <a:srgbClr val="FFFFFF"/>
                </a:solidFill>
                <a:latin typeface="Calibri" pitchFamily="34" charset="0"/>
                <a:ea typeface="Calibri" pitchFamily="34" charset="-122"/>
                <a:cs typeface="Calibri" pitchFamily="34" charset="-120"/>
              </a:rPr>
              <a:t>Value Predictor</a:t>
            </a:r>
            <a:endParaRPr lang="en-US" sz="4400" dirty="0"/>
          </a:p>
        </p:txBody>
      </p:sp>
      <p:sp>
        <p:nvSpPr>
          <p:cNvPr id="8" name="Text 6"/>
          <p:cNvSpPr/>
          <p:nvPr/>
        </p:nvSpPr>
        <p:spPr>
          <a:xfrm>
            <a:off x="457200" y="2697480"/>
            <a:ext cx="5943600" cy="457200"/>
          </a:xfrm>
          <a:prstGeom prst="rect">
            <a:avLst/>
          </a:prstGeom>
          <a:noFill/>
          <a:ln/>
        </p:spPr>
        <p:txBody>
          <a:bodyPr wrap="square" rtlCol="0" anchor="ctr"/>
          <a:lstStyle/>
          <a:p>
            <a:pPr algn="l" indent="0" marL="0">
              <a:buNone/>
            </a:pPr>
            <a:r>
              <a:rPr lang="en-US" sz="2000" dirty="0">
                <a:solidFill>
                  <a:srgbClr val="00B4D8"/>
                </a:solidFill>
                <a:latin typeface="Calibri" pitchFamily="34" charset="0"/>
                <a:ea typeface="Calibri" pitchFamily="34" charset="-122"/>
                <a:cs typeface="Calibri" pitchFamily="34" charset="-120"/>
              </a:rPr>
              <a:t>SVP + VTAGE Hybrid Architecture</a:t>
            </a:r>
            <a:endParaRPr lang="en-US" sz="2000" dirty="0"/>
          </a:p>
        </p:txBody>
      </p:sp>
      <p:sp>
        <p:nvSpPr>
          <p:cNvPr id="9" name="Text 7"/>
          <p:cNvSpPr/>
          <p:nvPr/>
        </p:nvSpPr>
        <p:spPr>
          <a:xfrm>
            <a:off x="457200" y="3246120"/>
            <a:ext cx="6400800" cy="365760"/>
          </a:xfrm>
          <a:prstGeom prst="rect">
            <a:avLst/>
          </a:prstGeom>
          <a:noFill/>
          <a:ln/>
        </p:spPr>
        <p:txBody>
          <a:bodyPr wrap="square" rtlCol="0" anchor="ctr"/>
          <a:lstStyle/>
          <a:p>
            <a:pPr algn="l" indent="0" marL="0">
              <a:buNone/>
            </a:pPr>
            <a:r>
              <a:rPr lang="en-US" sz="1300" dirty="0">
                <a:solidFill>
                  <a:srgbClr val="8EACC4"/>
                </a:solidFill>
                <a:latin typeface="Calibri" pitchFamily="34" charset="0"/>
                <a:ea typeface="Calibri" pitchFamily="34" charset="-122"/>
                <a:cs typeface="Calibri" pitchFamily="34" charset="-120"/>
              </a:rPr>
              <a:t>Inspiration from Seznec's EVES  |  Novel Hybrid Policies  |  31.97 KB / 32 KB</a:t>
            </a:r>
            <a:endParaRPr lang="en-US" sz="1300" dirty="0"/>
          </a:p>
        </p:txBody>
      </p:sp>
      <p:sp>
        <p:nvSpPr>
          <p:cNvPr id="10" name="Shape 8"/>
          <p:cNvSpPr/>
          <p:nvPr/>
        </p:nvSpPr>
        <p:spPr>
          <a:xfrm>
            <a:off x="6583680" y="777240"/>
            <a:ext cx="2331720" cy="1143000"/>
          </a:xfrm>
          <a:prstGeom prst="rect">
            <a:avLst/>
          </a:prstGeom>
          <a:solidFill>
            <a:srgbClr val="0D2137"/>
          </a:solidFill>
          <a:ln w="19050">
            <a:solidFill>
              <a:srgbClr val="00B4D8"/>
            </a:solidFill>
            <a:prstDash val="solid"/>
          </a:ln>
        </p:spPr>
      </p:sp>
      <p:sp>
        <p:nvSpPr>
          <p:cNvPr id="11" name="Text 9"/>
          <p:cNvSpPr/>
          <p:nvPr/>
        </p:nvSpPr>
        <p:spPr>
          <a:xfrm>
            <a:off x="6583680" y="822960"/>
            <a:ext cx="2331720" cy="621792"/>
          </a:xfrm>
          <a:prstGeom prst="rect">
            <a:avLst/>
          </a:prstGeom>
          <a:noFill/>
          <a:ln/>
        </p:spPr>
        <p:txBody>
          <a:bodyPr wrap="square" rtlCol="0" anchor="ctr"/>
          <a:lstStyle/>
          <a:p>
            <a:pPr algn="ctr" indent="0" marL="0">
              <a:buNone/>
            </a:pPr>
            <a:r>
              <a:rPr lang="en-US" sz="3200" b="1" dirty="0">
                <a:solidFill>
                  <a:srgbClr val="00F5D4"/>
                </a:solidFill>
                <a:latin typeface="Calibri" pitchFamily="34" charset="0"/>
                <a:ea typeface="Calibri" pitchFamily="34" charset="-122"/>
                <a:cs typeface="Calibri" pitchFamily="34" charset="-120"/>
              </a:rPr>
              <a:t>2.02</a:t>
            </a:r>
            <a:endParaRPr lang="en-US" sz="3200" dirty="0"/>
          </a:p>
        </p:txBody>
      </p:sp>
      <p:sp>
        <p:nvSpPr>
          <p:cNvPr id="12" name="Text 10"/>
          <p:cNvSpPr/>
          <p:nvPr/>
        </p:nvSpPr>
        <p:spPr>
          <a:xfrm>
            <a:off x="6583680" y="1417320"/>
            <a:ext cx="2331720"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Baseline IPC</a:t>
            </a:r>
            <a:endParaRPr lang="en-US" sz="1100" dirty="0"/>
          </a:p>
        </p:txBody>
      </p:sp>
      <p:sp>
        <p:nvSpPr>
          <p:cNvPr id="13" name="Text 11"/>
          <p:cNvSpPr/>
          <p:nvPr/>
        </p:nvSpPr>
        <p:spPr>
          <a:xfrm>
            <a:off x="6583680" y="1655064"/>
            <a:ext cx="2331720" cy="219456"/>
          </a:xfrm>
          <a:prstGeom prst="rect">
            <a:avLst/>
          </a:prstGeom>
          <a:noFill/>
          <a:ln/>
        </p:spPr>
        <p:txBody>
          <a:bodyPr wrap="square" rtlCol="0" anchor="ctr"/>
          <a:lstStyle/>
          <a:p>
            <a:pPr algn="ctr" indent="0" marL="0">
              <a:buNone/>
            </a:pPr>
            <a:r>
              <a:rPr lang="en-US" sz="1000" dirty="0">
                <a:solidFill>
                  <a:srgbClr val="8EACC4"/>
                </a:solidFill>
                <a:latin typeface="Calibri" pitchFamily="34" charset="0"/>
                <a:ea typeface="Calibri" pitchFamily="34" charset="-122"/>
                <a:cs typeface="Calibri" pitchFamily="34" charset="-120"/>
              </a:rPr>
              <a:t>Pure SVP (19 KB)</a:t>
            </a:r>
            <a:endParaRPr lang="en-US" sz="1000" dirty="0"/>
          </a:p>
        </p:txBody>
      </p:sp>
      <p:sp>
        <p:nvSpPr>
          <p:cNvPr id="14" name="Shape 12"/>
          <p:cNvSpPr/>
          <p:nvPr/>
        </p:nvSpPr>
        <p:spPr>
          <a:xfrm>
            <a:off x="6583680" y="2167128"/>
            <a:ext cx="2331720" cy="1143000"/>
          </a:xfrm>
          <a:prstGeom prst="rect">
            <a:avLst/>
          </a:prstGeom>
          <a:solidFill>
            <a:srgbClr val="0D2137"/>
          </a:solidFill>
          <a:ln w="19050">
            <a:solidFill>
              <a:srgbClr val="00B4D8"/>
            </a:solidFill>
            <a:prstDash val="solid"/>
          </a:ln>
        </p:spPr>
      </p:sp>
      <p:sp>
        <p:nvSpPr>
          <p:cNvPr id="15" name="Text 13"/>
          <p:cNvSpPr/>
          <p:nvPr/>
        </p:nvSpPr>
        <p:spPr>
          <a:xfrm>
            <a:off x="6583680" y="2212848"/>
            <a:ext cx="2331720" cy="621792"/>
          </a:xfrm>
          <a:prstGeom prst="rect">
            <a:avLst/>
          </a:prstGeom>
          <a:noFill/>
          <a:ln/>
        </p:spPr>
        <p:txBody>
          <a:bodyPr wrap="square" rtlCol="0" anchor="ctr"/>
          <a:lstStyle/>
          <a:p>
            <a:pPr algn="ctr" indent="0" marL="0">
              <a:buNone/>
            </a:pPr>
            <a:r>
              <a:rPr lang="en-US" sz="3200" b="1" dirty="0">
                <a:solidFill>
                  <a:srgbClr val="00F5D4"/>
                </a:solidFill>
                <a:latin typeface="Calibri" pitchFamily="34" charset="0"/>
                <a:ea typeface="Calibri" pitchFamily="34" charset="-122"/>
                <a:cs typeface="Calibri" pitchFamily="34" charset="-120"/>
              </a:rPr>
              <a:t>2.051</a:t>
            </a:r>
            <a:endParaRPr lang="en-US" sz="3200" dirty="0"/>
          </a:p>
        </p:txBody>
      </p:sp>
      <p:sp>
        <p:nvSpPr>
          <p:cNvPr id="16" name="Text 14"/>
          <p:cNvSpPr/>
          <p:nvPr/>
        </p:nvSpPr>
        <p:spPr>
          <a:xfrm>
            <a:off x="6583680" y="2807208"/>
            <a:ext cx="2331720"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Our IPC</a:t>
            </a:r>
            <a:endParaRPr lang="en-US" sz="1100" dirty="0"/>
          </a:p>
        </p:txBody>
      </p:sp>
      <p:sp>
        <p:nvSpPr>
          <p:cNvPr id="17" name="Text 15"/>
          <p:cNvSpPr/>
          <p:nvPr/>
        </p:nvSpPr>
        <p:spPr>
          <a:xfrm>
            <a:off x="6583680" y="3044952"/>
            <a:ext cx="2331720" cy="219456"/>
          </a:xfrm>
          <a:prstGeom prst="rect">
            <a:avLst/>
          </a:prstGeom>
          <a:noFill/>
          <a:ln/>
        </p:spPr>
        <p:txBody>
          <a:bodyPr wrap="square" rtlCol="0" anchor="ctr"/>
          <a:lstStyle/>
          <a:p>
            <a:pPr algn="ctr" indent="0" marL="0">
              <a:buNone/>
            </a:pPr>
            <a:r>
              <a:rPr lang="en-US" sz="1000" dirty="0">
                <a:solidFill>
                  <a:srgbClr val="8EACC4"/>
                </a:solidFill>
                <a:latin typeface="Calibri" pitchFamily="34" charset="0"/>
                <a:ea typeface="Calibri" pitchFamily="34" charset="-122"/>
                <a:cs typeface="Calibri" pitchFamily="34" charset="-120"/>
              </a:rPr>
              <a:t>+1.5% gain</a:t>
            </a:r>
            <a:endParaRPr lang="en-US" sz="1000" dirty="0"/>
          </a:p>
        </p:txBody>
      </p:sp>
      <p:sp>
        <p:nvSpPr>
          <p:cNvPr id="18" name="Shape 16"/>
          <p:cNvSpPr/>
          <p:nvPr/>
        </p:nvSpPr>
        <p:spPr>
          <a:xfrm>
            <a:off x="6583680" y="3557016"/>
            <a:ext cx="2331720" cy="1143000"/>
          </a:xfrm>
          <a:prstGeom prst="rect">
            <a:avLst/>
          </a:prstGeom>
          <a:solidFill>
            <a:srgbClr val="0D2137"/>
          </a:solidFill>
          <a:ln w="19050">
            <a:solidFill>
              <a:srgbClr val="00B4D8"/>
            </a:solidFill>
            <a:prstDash val="solid"/>
          </a:ln>
        </p:spPr>
      </p:sp>
      <p:sp>
        <p:nvSpPr>
          <p:cNvPr id="19" name="Text 17"/>
          <p:cNvSpPr/>
          <p:nvPr/>
        </p:nvSpPr>
        <p:spPr>
          <a:xfrm>
            <a:off x="6583680" y="3602736"/>
            <a:ext cx="2331720" cy="621792"/>
          </a:xfrm>
          <a:prstGeom prst="rect">
            <a:avLst/>
          </a:prstGeom>
          <a:noFill/>
          <a:ln/>
        </p:spPr>
        <p:txBody>
          <a:bodyPr wrap="square" rtlCol="0" anchor="ctr"/>
          <a:lstStyle/>
          <a:p>
            <a:pPr algn="ctr" indent="0" marL="0">
              <a:buNone/>
            </a:pPr>
            <a:r>
              <a:rPr lang="en-US" sz="3200" b="1" dirty="0">
                <a:solidFill>
                  <a:srgbClr val="00F5D4"/>
                </a:solidFill>
                <a:latin typeface="Calibri" pitchFamily="34" charset="0"/>
                <a:ea typeface="Calibri" pitchFamily="34" charset="-122"/>
                <a:cs typeface="Calibri" pitchFamily="34" charset="-120"/>
              </a:rPr>
              <a:t>31.97</a:t>
            </a:r>
            <a:endParaRPr lang="en-US" sz="3200" dirty="0"/>
          </a:p>
        </p:txBody>
      </p:sp>
      <p:sp>
        <p:nvSpPr>
          <p:cNvPr id="20" name="Text 18"/>
          <p:cNvSpPr/>
          <p:nvPr/>
        </p:nvSpPr>
        <p:spPr>
          <a:xfrm>
            <a:off x="6583680" y="4197096"/>
            <a:ext cx="2331720"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Budget Used</a:t>
            </a:r>
            <a:endParaRPr lang="en-US" sz="1100" dirty="0"/>
          </a:p>
        </p:txBody>
      </p:sp>
      <p:sp>
        <p:nvSpPr>
          <p:cNvPr id="21" name="Text 19"/>
          <p:cNvSpPr/>
          <p:nvPr/>
        </p:nvSpPr>
        <p:spPr>
          <a:xfrm>
            <a:off x="6583680" y="4434840"/>
            <a:ext cx="2331720" cy="219456"/>
          </a:xfrm>
          <a:prstGeom prst="rect">
            <a:avLst/>
          </a:prstGeom>
          <a:noFill/>
          <a:ln/>
        </p:spPr>
        <p:txBody>
          <a:bodyPr wrap="square" rtlCol="0" anchor="ctr"/>
          <a:lstStyle/>
          <a:p>
            <a:pPr algn="ctr" indent="0" marL="0">
              <a:buNone/>
            </a:pPr>
            <a:r>
              <a:rPr lang="en-US" sz="1000" dirty="0">
                <a:solidFill>
                  <a:srgbClr val="8EACC4"/>
                </a:solidFill>
                <a:latin typeface="Calibri" pitchFamily="34" charset="0"/>
                <a:ea typeface="Calibri" pitchFamily="34" charset="-122"/>
                <a:cs typeface="Calibri" pitchFamily="34" charset="-120"/>
              </a:rPr>
              <a:t>KB / 32 KB</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D2137"/>
          </a:solidFill>
          <a:ln w="12700">
            <a:solidFill>
              <a:srgbClr val="0D2137"/>
            </a:solidFill>
            <a:prstDash val="solid"/>
          </a:ln>
        </p:spPr>
      </p:sp>
      <p:sp>
        <p:nvSpPr>
          <p:cNvPr id="3" name="Text 1"/>
          <p:cNvSpPr/>
          <p:nvPr/>
        </p:nvSpPr>
        <p:spPr>
          <a:xfrm>
            <a:off x="365760" y="73152"/>
            <a:ext cx="8229600" cy="36576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Architecture Overview</a:t>
            </a:r>
            <a:endParaRPr lang="en-US" sz="2200" dirty="0"/>
          </a:p>
        </p:txBody>
      </p:sp>
      <p:sp>
        <p:nvSpPr>
          <p:cNvPr id="4" name="Shape 2"/>
          <p:cNvSpPr/>
          <p:nvPr/>
        </p:nvSpPr>
        <p:spPr>
          <a:xfrm>
            <a:off x="365760" y="502920"/>
            <a:ext cx="1645920" cy="36576"/>
          </a:xfrm>
          <a:prstGeom prst="rect">
            <a:avLst/>
          </a:prstGeom>
          <a:solidFill>
            <a:srgbClr val="00B4D8"/>
          </a:solidFill>
          <a:ln w="12700">
            <a:solidFill>
              <a:srgbClr val="00B4D8"/>
            </a:solidFill>
            <a:prstDash val="solid"/>
          </a:ln>
        </p:spPr>
      </p:sp>
      <p:sp>
        <p:nvSpPr>
          <p:cNvPr id="5" name="Shape 3"/>
          <p:cNvSpPr/>
          <p:nvPr/>
        </p:nvSpPr>
        <p:spPr>
          <a:xfrm>
            <a:off x="274320" y="658368"/>
            <a:ext cx="3931920" cy="4297680"/>
          </a:xfrm>
          <a:prstGeom prst="rect">
            <a:avLst/>
          </a:prstGeom>
          <a:solidFill>
            <a:srgbClr val="0D4F8B"/>
          </a:solidFill>
          <a:ln w="19050">
            <a:solidFill>
              <a:srgbClr val="00B4D8"/>
            </a:solidFill>
            <a:prstDash val="solid"/>
          </a:ln>
        </p:spPr>
      </p:sp>
      <p:sp>
        <p:nvSpPr>
          <p:cNvPr id="6" name="Shape 4"/>
          <p:cNvSpPr/>
          <p:nvPr/>
        </p:nvSpPr>
        <p:spPr>
          <a:xfrm>
            <a:off x="274320" y="658368"/>
            <a:ext cx="3931920" cy="411480"/>
          </a:xfrm>
          <a:prstGeom prst="rect">
            <a:avLst/>
          </a:prstGeom>
          <a:solidFill>
            <a:srgbClr val="00B4D8"/>
          </a:solidFill>
          <a:ln w="12700">
            <a:solidFill>
              <a:srgbClr val="00B4D8"/>
            </a:solidFill>
            <a:prstDash val="solid"/>
          </a:ln>
        </p:spPr>
      </p:sp>
      <p:sp>
        <p:nvSpPr>
          <p:cNvPr id="7" name="Text 5"/>
          <p:cNvSpPr/>
          <p:nvPr/>
        </p:nvSpPr>
        <p:spPr>
          <a:xfrm>
            <a:off x="365760" y="676656"/>
            <a:ext cx="3749040" cy="347472"/>
          </a:xfrm>
          <a:prstGeom prst="rect">
            <a:avLst/>
          </a:prstGeom>
          <a:noFill/>
          <a:ln/>
        </p:spPr>
        <p:txBody>
          <a:bodyPr wrap="square" rtlCol="0" anchor="ctr"/>
          <a:lstStyle/>
          <a:p>
            <a:pPr indent="0" marL="0">
              <a:buNone/>
            </a:pPr>
            <a:r>
              <a:rPr lang="en-US" sz="1400" b="1" dirty="0">
                <a:solidFill>
                  <a:srgbClr val="0A1628"/>
                </a:solidFill>
                <a:latin typeface="Calibri" pitchFamily="34" charset="0"/>
                <a:ea typeface="Calibri" pitchFamily="34" charset="-122"/>
                <a:cs typeface="Calibri" pitchFamily="34" charset="-120"/>
              </a:rPr>
              <a:t>Stride Value Predictor  (SVP)</a:t>
            </a:r>
            <a:endParaRPr lang="en-US" sz="1400" dirty="0"/>
          </a:p>
        </p:txBody>
      </p:sp>
      <p:sp>
        <p:nvSpPr>
          <p:cNvPr id="8" name="Text 6"/>
          <p:cNvSpPr/>
          <p:nvPr/>
        </p:nvSpPr>
        <p:spPr>
          <a:xfrm>
            <a:off x="411480" y="1143000"/>
            <a:ext cx="3749040" cy="256032"/>
          </a:xfrm>
          <a:prstGeom prst="rect">
            <a:avLst/>
          </a:prstGeom>
          <a:noFill/>
          <a:ln/>
        </p:spPr>
        <p:txBody>
          <a:bodyPr wrap="square" rtlCol="0" anchor="ctr"/>
          <a:lstStyle/>
          <a:p>
            <a:pPr indent="0" marL="0">
              <a:buNone/>
            </a:pPr>
            <a:r>
              <a:rPr lang="en-US" sz="1200" b="1" dirty="0">
                <a:solidFill>
                  <a:srgbClr val="FFD166"/>
                </a:solidFill>
                <a:latin typeface="Calibri" pitchFamily="34" charset="0"/>
                <a:ea typeface="Calibri" pitchFamily="34" charset="-122"/>
                <a:cs typeface="Calibri" pitchFamily="34" charset="-120"/>
              </a:rPr>
              <a:t>Role: Base Predictor</a:t>
            </a:r>
            <a:endParaRPr lang="en-US" sz="1200" dirty="0"/>
          </a:p>
        </p:txBody>
      </p:sp>
      <p:sp>
        <p:nvSpPr>
          <p:cNvPr id="9" name="Text 7"/>
          <p:cNvSpPr/>
          <p:nvPr/>
        </p:nvSpPr>
        <p:spPr>
          <a:xfrm>
            <a:off x="411480" y="1417320"/>
            <a:ext cx="3749040" cy="2240280"/>
          </a:xfrm>
          <a:prstGeom prst="rect">
            <a:avLst/>
          </a:prstGeom>
          <a:noFill/>
          <a:ln/>
        </p:spPr>
        <p:txBody>
          <a:bodyPr wrap="square" rtlCol="0" anchor="ctr"/>
          <a:lstStyle/>
          <a:p>
            <a:pPr indent="0" marL="0">
              <a:buNone/>
            </a:pPr>
            <a:r>
              <a:rPr lang="en-US" sz="1100" dirty="0">
                <a:solidFill>
                  <a:srgbClr val="E8F4FD"/>
                </a:solidFill>
                <a:latin typeface="Calibri" pitchFamily="34" charset="0"/>
                <a:ea typeface="Calibri" pitchFamily="34" charset="-122"/>
                <a:cs typeface="Calibri" pitchFamily="34" charset="-120"/>
              </a:rPr>
              <a:t>The SVP is the mathematical backbone of the predictor. It tracks the stride between consecutive values produced by each instruction and predicts the next value as:</a:t>
            </a:r>
            <a:endParaRPr lang="en-US" sz="1100" dirty="0"/>
          </a:p>
          <a:p>
            <a:pPr indent="0" marL="0">
              <a:buNone/>
            </a:pPr>
            <a:endParaRPr lang="en-US" sz="1100" dirty="0"/>
          </a:p>
          <a:p>
            <a:pPr indent="0" marL="0">
              <a:buNone/>
            </a:pPr>
            <a:r>
              <a:rPr lang="en-US" sz="1100" dirty="0">
                <a:solidFill>
                  <a:srgbClr val="E8F4FD"/>
                </a:solidFill>
                <a:latin typeface="Calibri" pitchFamily="34" charset="0"/>
                <a:ea typeface="Calibri" pitchFamily="34" charset="-122"/>
                <a:cs typeface="Calibri" pitchFamily="34" charset="-120"/>
              </a:rPr>
              <a:t>next = last_value + (in-flight count × stride)</a:t>
            </a:r>
            <a:endParaRPr lang="en-US" sz="1100" dirty="0"/>
          </a:p>
          <a:p>
            <a:pPr indent="0" marL="0">
              <a:buNone/>
            </a:pPr>
            <a:endParaRPr lang="en-US" sz="1100" dirty="0"/>
          </a:p>
          <a:p>
            <a:pPr indent="0" marL="0">
              <a:buNone/>
            </a:pPr>
            <a:r>
              <a:rPr lang="en-US" sz="1100" dirty="0">
                <a:solidFill>
                  <a:srgbClr val="E8F4FD"/>
                </a:solidFill>
                <a:latin typeface="Calibri" pitchFamily="34" charset="0"/>
                <a:ea typeface="Calibri" pitchFamily="34" charset="-122"/>
                <a:cs typeface="Calibri" pitchFamily="34" charset="-120"/>
              </a:rPr>
              <a:t>It excels on simple, predictable patterns: loop counters, constants, and sequential memory accesses. When an instruction's stride is consistent for many consecutive occurrences, SVP reaches maximum confidence and can fire with very high accuracy.</a:t>
            </a:r>
            <a:endParaRPr lang="en-US" sz="1100" dirty="0"/>
          </a:p>
        </p:txBody>
      </p:sp>
      <p:sp>
        <p:nvSpPr>
          <p:cNvPr id="10" name="Text 8"/>
          <p:cNvSpPr/>
          <p:nvPr/>
        </p:nvSpPr>
        <p:spPr>
          <a:xfrm>
            <a:off x="411480" y="3703320"/>
            <a:ext cx="914400" cy="228600"/>
          </a:xfrm>
          <a:prstGeom prst="rect">
            <a:avLst/>
          </a:prstGeom>
          <a:noFill/>
          <a:ln/>
        </p:spPr>
        <p:txBody>
          <a:bodyPr wrap="square" rtlCol="0" anchor="ctr"/>
          <a:lstStyle/>
          <a:p>
            <a:pPr indent="0" marL="0">
              <a:buNone/>
            </a:pPr>
            <a:r>
              <a:rPr lang="en-US" sz="1100" b="1" dirty="0">
                <a:solidFill>
                  <a:srgbClr val="00B4D8"/>
                </a:solidFill>
                <a:latin typeface="Calibri" pitchFamily="34" charset="0"/>
                <a:ea typeface="Calibri" pitchFamily="34" charset="-122"/>
                <a:cs typeface="Calibri" pitchFamily="34" charset="-120"/>
              </a:rPr>
              <a:t>Best for:</a:t>
            </a:r>
            <a:endParaRPr lang="en-US" sz="1100" dirty="0"/>
          </a:p>
        </p:txBody>
      </p:sp>
      <p:sp>
        <p:nvSpPr>
          <p:cNvPr id="11" name="Text 9"/>
          <p:cNvSpPr/>
          <p:nvPr/>
        </p:nvSpPr>
        <p:spPr>
          <a:xfrm>
            <a:off x="1325880" y="3703320"/>
            <a:ext cx="2743200" cy="228600"/>
          </a:xfrm>
          <a:prstGeom prst="rect">
            <a:avLst/>
          </a:prstGeom>
          <a:noFill/>
          <a:ln/>
        </p:spPr>
        <p:txBody>
          <a:bodyPr wrap="square" rtlCol="0" anchor="ctr"/>
          <a:lstStyle/>
          <a:p>
            <a:pPr indent="0" marL="0">
              <a:buNone/>
            </a:pPr>
            <a:r>
              <a:rPr lang="en-US" sz="1100" dirty="0">
                <a:solidFill>
                  <a:srgbClr val="D0E4F0"/>
                </a:solidFill>
                <a:latin typeface="Calibri" pitchFamily="34" charset="0"/>
                <a:ea typeface="Calibri" pitchFamily="34" charset="-122"/>
                <a:cs typeface="Calibri" pitchFamily="34" charset="-120"/>
              </a:rPr>
              <a:t>Loop counters  ·  Constants  ·  Stride memory</a:t>
            </a:r>
            <a:endParaRPr lang="en-US" sz="1100" dirty="0"/>
          </a:p>
        </p:txBody>
      </p:sp>
      <p:sp>
        <p:nvSpPr>
          <p:cNvPr id="12" name="Text 10"/>
          <p:cNvSpPr/>
          <p:nvPr/>
        </p:nvSpPr>
        <p:spPr>
          <a:xfrm>
            <a:off x="411480" y="3977640"/>
            <a:ext cx="1005840" cy="228600"/>
          </a:xfrm>
          <a:prstGeom prst="rect">
            <a:avLst/>
          </a:prstGeom>
          <a:noFill/>
          <a:ln/>
        </p:spPr>
        <p:txBody>
          <a:bodyPr wrap="square" rtlCol="0" anchor="ctr"/>
          <a:lstStyle/>
          <a:p>
            <a:pPr indent="0" marL="0">
              <a:buNone/>
            </a:pPr>
            <a:r>
              <a:rPr lang="en-US" sz="1100" b="1" dirty="0">
                <a:solidFill>
                  <a:srgbClr val="FF6B35"/>
                </a:solidFill>
                <a:latin typeface="Calibri" pitchFamily="34" charset="0"/>
                <a:ea typeface="Calibri" pitchFamily="34" charset="-122"/>
                <a:cs typeface="Calibri" pitchFamily="34" charset="-120"/>
              </a:rPr>
              <a:t>Limitation:</a:t>
            </a:r>
            <a:endParaRPr lang="en-US" sz="1100" dirty="0"/>
          </a:p>
        </p:txBody>
      </p:sp>
      <p:sp>
        <p:nvSpPr>
          <p:cNvPr id="13" name="Text 11"/>
          <p:cNvSpPr/>
          <p:nvPr/>
        </p:nvSpPr>
        <p:spPr>
          <a:xfrm>
            <a:off x="1417320" y="3977640"/>
            <a:ext cx="2697480" cy="228600"/>
          </a:xfrm>
          <a:prstGeom prst="rect">
            <a:avLst/>
          </a:prstGeom>
          <a:noFill/>
          <a:ln/>
        </p:spPr>
        <p:txBody>
          <a:bodyPr wrap="square" rtlCol="0" anchor="ctr"/>
          <a:lstStyle/>
          <a:p>
            <a:pPr indent="0" marL="0">
              <a:buNone/>
            </a:pPr>
            <a:r>
              <a:rPr lang="en-US" sz="1100" dirty="0">
                <a:solidFill>
                  <a:srgbClr val="D0E4F0"/>
                </a:solidFill>
                <a:latin typeface="Calibri" pitchFamily="34" charset="0"/>
                <a:ea typeface="Calibri" pitchFamily="34" charset="-122"/>
                <a:cs typeface="Calibri" pitchFamily="34" charset="-120"/>
              </a:rPr>
              <a:t>Cannot capture irregular, context-dependent patterns</a:t>
            </a:r>
            <a:endParaRPr lang="en-US" sz="1100" dirty="0"/>
          </a:p>
        </p:txBody>
      </p:sp>
      <p:sp>
        <p:nvSpPr>
          <p:cNvPr id="14" name="Shape 12"/>
          <p:cNvSpPr/>
          <p:nvPr/>
        </p:nvSpPr>
        <p:spPr>
          <a:xfrm>
            <a:off x="4572000" y="658368"/>
            <a:ext cx="4297680" cy="4297680"/>
          </a:xfrm>
          <a:prstGeom prst="rect">
            <a:avLst/>
          </a:prstGeom>
          <a:solidFill>
            <a:srgbClr val="0D2E1A"/>
          </a:solidFill>
          <a:ln w="19050">
            <a:solidFill>
              <a:srgbClr val="06D6A0"/>
            </a:solidFill>
            <a:prstDash val="solid"/>
          </a:ln>
        </p:spPr>
      </p:sp>
      <p:sp>
        <p:nvSpPr>
          <p:cNvPr id="15" name="Shape 13"/>
          <p:cNvSpPr/>
          <p:nvPr/>
        </p:nvSpPr>
        <p:spPr>
          <a:xfrm>
            <a:off x="4572000" y="658368"/>
            <a:ext cx="4297680" cy="411480"/>
          </a:xfrm>
          <a:prstGeom prst="rect">
            <a:avLst/>
          </a:prstGeom>
          <a:solidFill>
            <a:srgbClr val="06D6A0"/>
          </a:solidFill>
          <a:ln w="12700">
            <a:solidFill>
              <a:srgbClr val="06D6A0"/>
            </a:solidFill>
            <a:prstDash val="solid"/>
          </a:ln>
        </p:spPr>
      </p:sp>
      <p:sp>
        <p:nvSpPr>
          <p:cNvPr id="16" name="Text 14"/>
          <p:cNvSpPr/>
          <p:nvPr/>
        </p:nvSpPr>
        <p:spPr>
          <a:xfrm>
            <a:off x="4663440" y="676656"/>
            <a:ext cx="4114800" cy="347472"/>
          </a:xfrm>
          <a:prstGeom prst="rect">
            <a:avLst/>
          </a:prstGeom>
          <a:noFill/>
          <a:ln/>
        </p:spPr>
        <p:txBody>
          <a:bodyPr wrap="square" rtlCol="0" anchor="ctr"/>
          <a:lstStyle/>
          <a:p>
            <a:pPr indent="0" marL="0">
              <a:buNone/>
            </a:pPr>
            <a:r>
              <a:rPr lang="en-US" sz="1400" b="1" dirty="0">
                <a:solidFill>
                  <a:srgbClr val="0A1628"/>
                </a:solidFill>
                <a:latin typeface="Calibri" pitchFamily="34" charset="0"/>
                <a:ea typeface="Calibri" pitchFamily="34" charset="-122"/>
                <a:cs typeface="Calibri" pitchFamily="34" charset="-120"/>
              </a:rPr>
              <a:t>VTAGE — Tagged History Predictor</a:t>
            </a:r>
            <a:endParaRPr lang="en-US" sz="1400" dirty="0"/>
          </a:p>
        </p:txBody>
      </p:sp>
      <p:sp>
        <p:nvSpPr>
          <p:cNvPr id="17" name="Text 15"/>
          <p:cNvSpPr/>
          <p:nvPr/>
        </p:nvSpPr>
        <p:spPr>
          <a:xfrm>
            <a:off x="4663440" y="1143000"/>
            <a:ext cx="4023360" cy="256032"/>
          </a:xfrm>
          <a:prstGeom prst="rect">
            <a:avLst/>
          </a:prstGeom>
          <a:noFill/>
          <a:ln/>
        </p:spPr>
        <p:txBody>
          <a:bodyPr wrap="square" rtlCol="0" anchor="ctr"/>
          <a:lstStyle/>
          <a:p>
            <a:pPr indent="0" marL="0">
              <a:buNone/>
            </a:pPr>
            <a:r>
              <a:rPr lang="en-US" sz="1200" b="1" dirty="0">
                <a:solidFill>
                  <a:srgbClr val="FFD166"/>
                </a:solidFill>
                <a:latin typeface="Calibri" pitchFamily="34" charset="0"/>
                <a:ea typeface="Calibri" pitchFamily="34" charset="-122"/>
                <a:cs typeface="Calibri" pitchFamily="34" charset="-120"/>
              </a:rPr>
              <a:t>Role: Context-Aware Overlay</a:t>
            </a:r>
            <a:endParaRPr lang="en-US" sz="1200" dirty="0"/>
          </a:p>
        </p:txBody>
      </p:sp>
      <p:sp>
        <p:nvSpPr>
          <p:cNvPr id="18" name="Text 16"/>
          <p:cNvSpPr/>
          <p:nvPr/>
        </p:nvSpPr>
        <p:spPr>
          <a:xfrm>
            <a:off x="4663440" y="1417320"/>
            <a:ext cx="4069080" cy="2240280"/>
          </a:xfrm>
          <a:prstGeom prst="rect">
            <a:avLst/>
          </a:prstGeom>
          <a:noFill/>
          <a:ln/>
        </p:spPr>
        <p:txBody>
          <a:bodyPr wrap="square" rtlCol="0" anchor="ctr"/>
          <a:lstStyle/>
          <a:p>
            <a:pPr indent="0" marL="0">
              <a:buNone/>
            </a:pPr>
            <a:r>
              <a:rPr lang="en-US" sz="1100" dirty="0">
                <a:solidFill>
                  <a:srgbClr val="E8F4FD"/>
                </a:solidFill>
                <a:latin typeface="Calibri" pitchFamily="34" charset="0"/>
                <a:ea typeface="Calibri" pitchFamily="34" charset="-122"/>
                <a:cs typeface="Calibri" pitchFamily="34" charset="-120"/>
              </a:rPr>
              <a:t>VTAGE is a tagged, multi-table predictor indexed by the global branch history. It maintains multiple tables with geometrically increasing history lengths, so short loops, medium function calls, and long execution paths each get a dedicated context window.</a:t>
            </a:r>
            <a:endParaRPr lang="en-US" sz="1100" dirty="0"/>
          </a:p>
          <a:p>
            <a:pPr indent="0" marL="0">
              <a:buNone/>
            </a:pPr>
            <a:endParaRPr lang="en-US" sz="1100" dirty="0"/>
          </a:p>
          <a:p>
            <a:pPr indent="0" marL="0">
              <a:buNone/>
            </a:pPr>
            <a:r>
              <a:rPr lang="en-US" sz="1100" dirty="0">
                <a:solidFill>
                  <a:srgbClr val="E8F4FD"/>
                </a:solidFill>
                <a:latin typeface="Calibri" pitchFamily="34" charset="0"/>
                <a:ea typeface="Calibri" pitchFamily="34" charset="-122"/>
                <a:cs typeface="Calibri" pitchFamily="34" charset="-120"/>
              </a:rPr>
              <a:t>Each entry stores a predicted value, a confidence counter, and a usefulness bit. An entry only fires when it has proven itself through many consecutive correct predictions — a high confidence bar that filters noise.</a:t>
            </a:r>
            <a:endParaRPr lang="en-US" sz="1100" dirty="0"/>
          </a:p>
        </p:txBody>
      </p:sp>
      <p:sp>
        <p:nvSpPr>
          <p:cNvPr id="19" name="Text 17"/>
          <p:cNvSpPr/>
          <p:nvPr/>
        </p:nvSpPr>
        <p:spPr>
          <a:xfrm>
            <a:off x="4663440" y="3703320"/>
            <a:ext cx="822960" cy="228600"/>
          </a:xfrm>
          <a:prstGeom prst="rect">
            <a:avLst/>
          </a:prstGeom>
          <a:noFill/>
          <a:ln/>
        </p:spPr>
        <p:txBody>
          <a:bodyPr wrap="square" rtlCol="0" anchor="ctr"/>
          <a:lstStyle/>
          <a:p>
            <a:pPr indent="0" marL="0">
              <a:buNone/>
            </a:pPr>
            <a:r>
              <a:rPr lang="en-US" sz="1100" b="1" dirty="0">
                <a:solidFill>
                  <a:srgbClr val="06D6A0"/>
                </a:solidFill>
                <a:latin typeface="Calibri" pitchFamily="34" charset="0"/>
                <a:ea typeface="Calibri" pitchFamily="34" charset="-122"/>
                <a:cs typeface="Calibri" pitchFamily="34" charset="-120"/>
              </a:rPr>
              <a:t>Best for:</a:t>
            </a:r>
            <a:endParaRPr lang="en-US" sz="1100" dirty="0"/>
          </a:p>
        </p:txBody>
      </p:sp>
      <p:sp>
        <p:nvSpPr>
          <p:cNvPr id="20" name="Text 18"/>
          <p:cNvSpPr/>
          <p:nvPr/>
        </p:nvSpPr>
        <p:spPr>
          <a:xfrm>
            <a:off x="5486400" y="3703320"/>
            <a:ext cx="3291840" cy="228600"/>
          </a:xfrm>
          <a:prstGeom prst="rect">
            <a:avLst/>
          </a:prstGeom>
          <a:noFill/>
          <a:ln/>
        </p:spPr>
        <p:txBody>
          <a:bodyPr wrap="square" rtlCol="0" anchor="ctr"/>
          <a:lstStyle/>
          <a:p>
            <a:pPr indent="0" marL="0">
              <a:buNone/>
            </a:pPr>
            <a:r>
              <a:rPr lang="en-US" sz="1100" dirty="0">
                <a:solidFill>
                  <a:srgbClr val="D0E4F0"/>
                </a:solidFill>
                <a:latin typeface="Calibri" pitchFamily="34" charset="0"/>
                <a:ea typeface="Calibri" pitchFamily="34" charset="-122"/>
                <a:cs typeface="Calibri" pitchFamily="34" charset="-120"/>
              </a:rPr>
              <a:t>Complex control flow  ·  Irregular value sequences</a:t>
            </a:r>
            <a:endParaRPr lang="en-US" sz="1100" dirty="0"/>
          </a:p>
        </p:txBody>
      </p:sp>
      <p:sp>
        <p:nvSpPr>
          <p:cNvPr id="21" name="Text 19"/>
          <p:cNvSpPr/>
          <p:nvPr/>
        </p:nvSpPr>
        <p:spPr>
          <a:xfrm>
            <a:off x="4663440" y="3977640"/>
            <a:ext cx="1005840" cy="228600"/>
          </a:xfrm>
          <a:prstGeom prst="rect">
            <a:avLst/>
          </a:prstGeom>
          <a:noFill/>
          <a:ln/>
        </p:spPr>
        <p:txBody>
          <a:bodyPr wrap="square" rtlCol="0" anchor="ctr"/>
          <a:lstStyle/>
          <a:p>
            <a:pPr indent="0" marL="0">
              <a:buNone/>
            </a:pPr>
            <a:r>
              <a:rPr lang="en-US" sz="1100" b="1" dirty="0">
                <a:solidFill>
                  <a:srgbClr val="FF6B35"/>
                </a:solidFill>
                <a:latin typeface="Calibri" pitchFamily="34" charset="0"/>
                <a:ea typeface="Calibri" pitchFamily="34" charset="-122"/>
                <a:cs typeface="Calibri" pitchFamily="34" charset="-120"/>
              </a:rPr>
              <a:t>Limitation:</a:t>
            </a:r>
            <a:endParaRPr lang="en-US" sz="1100" dirty="0"/>
          </a:p>
        </p:txBody>
      </p:sp>
      <p:sp>
        <p:nvSpPr>
          <p:cNvPr id="22" name="Text 20"/>
          <p:cNvSpPr/>
          <p:nvPr/>
        </p:nvSpPr>
        <p:spPr>
          <a:xfrm>
            <a:off x="5669280" y="3977640"/>
            <a:ext cx="3108960" cy="228600"/>
          </a:xfrm>
          <a:prstGeom prst="rect">
            <a:avLst/>
          </a:prstGeom>
          <a:noFill/>
          <a:ln/>
        </p:spPr>
        <p:txBody>
          <a:bodyPr wrap="square" rtlCol="0" anchor="ctr"/>
          <a:lstStyle/>
          <a:p>
            <a:pPr indent="0" marL="0">
              <a:buNone/>
            </a:pPr>
            <a:r>
              <a:rPr lang="en-US" sz="1100" dirty="0">
                <a:solidFill>
                  <a:srgbClr val="D0E4F0"/>
                </a:solidFill>
                <a:latin typeface="Calibri" pitchFamily="34" charset="0"/>
                <a:ea typeface="Calibri" pitchFamily="34" charset="-122"/>
                <a:cs typeface="Calibri" pitchFamily="34" charset="-120"/>
              </a:rPr>
              <a:t>Needs many correct observations to build confidence</a:t>
            </a:r>
            <a:endParaRPr lang="en-US" sz="1100" dirty="0"/>
          </a:p>
        </p:txBody>
      </p:sp>
      <p:sp>
        <p:nvSpPr>
          <p:cNvPr id="23" name="Shape 21"/>
          <p:cNvSpPr/>
          <p:nvPr/>
        </p:nvSpPr>
        <p:spPr>
          <a:xfrm>
            <a:off x="4206240" y="2468880"/>
            <a:ext cx="365760" cy="109728"/>
          </a:xfrm>
          <a:prstGeom prst="rect">
            <a:avLst/>
          </a:prstGeom>
          <a:solidFill>
            <a:srgbClr val="FFD166"/>
          </a:solidFill>
          <a:ln w="12700">
            <a:solidFill>
              <a:srgbClr val="FFD166"/>
            </a:solidFill>
            <a:prstDash val="solid"/>
          </a:ln>
        </p:spPr>
      </p:sp>
      <p:sp>
        <p:nvSpPr>
          <p:cNvPr id="24" name="Text 22"/>
          <p:cNvSpPr/>
          <p:nvPr/>
        </p:nvSpPr>
        <p:spPr>
          <a:xfrm>
            <a:off x="4160520" y="2194560"/>
            <a:ext cx="457200" cy="256032"/>
          </a:xfrm>
          <a:prstGeom prst="rect">
            <a:avLst/>
          </a:prstGeom>
          <a:noFill/>
          <a:ln/>
        </p:spPr>
        <p:txBody>
          <a:bodyPr wrap="square" rtlCol="0" anchor="ctr"/>
          <a:lstStyle/>
          <a:p>
            <a:pPr algn="ctr" indent="0" marL="0">
              <a:buNone/>
            </a:pPr>
            <a:r>
              <a:rPr lang="en-US" sz="900" b="1" dirty="0">
                <a:solidFill>
                  <a:srgbClr val="FFD166"/>
                </a:solidFill>
                <a:latin typeface="Calibri" pitchFamily="34" charset="0"/>
                <a:ea typeface="Calibri" pitchFamily="34" charset="-122"/>
                <a:cs typeface="Calibri" pitchFamily="34" charset="-120"/>
              </a:rPr>
              <a:t>VPQ</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D2137"/>
          </a:solidFill>
          <a:ln w="12700">
            <a:solidFill>
              <a:srgbClr val="0D2137"/>
            </a:solidFill>
            <a:prstDash val="solid"/>
          </a:ln>
        </p:spPr>
      </p:sp>
      <p:sp>
        <p:nvSpPr>
          <p:cNvPr id="3" name="Text 1"/>
          <p:cNvSpPr/>
          <p:nvPr/>
        </p:nvSpPr>
        <p:spPr>
          <a:xfrm>
            <a:off x="365760" y="73152"/>
            <a:ext cx="8229600" cy="36576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How the Predictor Works — Predict &amp; Retire</a:t>
            </a:r>
            <a:endParaRPr lang="en-US" sz="2200" dirty="0"/>
          </a:p>
        </p:txBody>
      </p:sp>
      <p:sp>
        <p:nvSpPr>
          <p:cNvPr id="4" name="Shape 2"/>
          <p:cNvSpPr/>
          <p:nvPr/>
        </p:nvSpPr>
        <p:spPr>
          <a:xfrm>
            <a:off x="365760" y="502920"/>
            <a:ext cx="2286000" cy="36576"/>
          </a:xfrm>
          <a:prstGeom prst="rect">
            <a:avLst/>
          </a:prstGeom>
          <a:solidFill>
            <a:srgbClr val="00B4D8"/>
          </a:solidFill>
          <a:ln w="12700">
            <a:solidFill>
              <a:srgbClr val="00B4D8"/>
            </a:solidFill>
            <a:prstDash val="solid"/>
          </a:ln>
        </p:spPr>
      </p:sp>
      <p:sp>
        <p:nvSpPr>
          <p:cNvPr id="5" name="Shape 3"/>
          <p:cNvSpPr/>
          <p:nvPr/>
        </p:nvSpPr>
        <p:spPr>
          <a:xfrm>
            <a:off x="228600" y="621792"/>
            <a:ext cx="1920240" cy="868680"/>
          </a:xfrm>
          <a:prstGeom prst="rect">
            <a:avLst/>
          </a:prstGeom>
          <a:solidFill>
            <a:srgbClr val="0D4F8B"/>
          </a:solidFill>
          <a:ln w="12700">
            <a:solidFill>
              <a:srgbClr val="00B4D8"/>
            </a:solidFill>
            <a:prstDash val="solid"/>
          </a:ln>
        </p:spPr>
      </p:sp>
      <p:sp>
        <p:nvSpPr>
          <p:cNvPr id="6" name="Text 4"/>
          <p:cNvSpPr/>
          <p:nvPr/>
        </p:nvSpPr>
        <p:spPr>
          <a:xfrm>
            <a:off x="228600" y="658368"/>
            <a:ext cx="1920240" cy="77724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FETCH /</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RENAME</a:t>
            </a:r>
            <a:endParaRPr lang="en-US" sz="1200" dirty="0"/>
          </a:p>
        </p:txBody>
      </p:sp>
      <p:sp>
        <p:nvSpPr>
          <p:cNvPr id="7" name="Shape 5"/>
          <p:cNvSpPr/>
          <p:nvPr/>
        </p:nvSpPr>
        <p:spPr>
          <a:xfrm>
            <a:off x="2148840" y="996696"/>
            <a:ext cx="457200" cy="73152"/>
          </a:xfrm>
          <a:prstGeom prst="rect">
            <a:avLst/>
          </a:prstGeom>
          <a:solidFill>
            <a:srgbClr val="00B4D8"/>
          </a:solidFill>
          <a:ln w="12700">
            <a:solidFill>
              <a:srgbClr val="00B4D8"/>
            </a:solidFill>
            <a:prstDash val="solid"/>
          </a:ln>
        </p:spPr>
      </p:sp>
      <p:sp>
        <p:nvSpPr>
          <p:cNvPr id="8" name="Shape 6"/>
          <p:cNvSpPr/>
          <p:nvPr/>
        </p:nvSpPr>
        <p:spPr>
          <a:xfrm>
            <a:off x="2377440" y="621792"/>
            <a:ext cx="1920240" cy="868680"/>
          </a:xfrm>
          <a:prstGeom prst="rect">
            <a:avLst/>
          </a:prstGeom>
          <a:solidFill>
            <a:srgbClr val="1A3A1A"/>
          </a:solidFill>
          <a:ln w="12700">
            <a:solidFill>
              <a:srgbClr val="00B4D8"/>
            </a:solidFill>
            <a:prstDash val="solid"/>
          </a:ln>
        </p:spPr>
      </p:sp>
      <p:sp>
        <p:nvSpPr>
          <p:cNvPr id="9" name="Text 7"/>
          <p:cNvSpPr/>
          <p:nvPr/>
        </p:nvSpPr>
        <p:spPr>
          <a:xfrm>
            <a:off x="2377440" y="658368"/>
            <a:ext cx="1920240" cy="77724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EXECUTE</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(In-Flight)</a:t>
            </a:r>
            <a:endParaRPr lang="en-US" sz="1200" dirty="0"/>
          </a:p>
        </p:txBody>
      </p:sp>
      <p:sp>
        <p:nvSpPr>
          <p:cNvPr id="10" name="Shape 8"/>
          <p:cNvSpPr/>
          <p:nvPr/>
        </p:nvSpPr>
        <p:spPr>
          <a:xfrm>
            <a:off x="4297680" y="996696"/>
            <a:ext cx="457200" cy="73152"/>
          </a:xfrm>
          <a:prstGeom prst="rect">
            <a:avLst/>
          </a:prstGeom>
          <a:solidFill>
            <a:srgbClr val="00B4D8"/>
          </a:solidFill>
          <a:ln w="12700">
            <a:solidFill>
              <a:srgbClr val="00B4D8"/>
            </a:solidFill>
            <a:prstDash val="solid"/>
          </a:ln>
        </p:spPr>
      </p:sp>
      <p:sp>
        <p:nvSpPr>
          <p:cNvPr id="11" name="Shape 9"/>
          <p:cNvSpPr/>
          <p:nvPr/>
        </p:nvSpPr>
        <p:spPr>
          <a:xfrm>
            <a:off x="4526280" y="621792"/>
            <a:ext cx="1920240" cy="868680"/>
          </a:xfrm>
          <a:prstGeom prst="rect">
            <a:avLst/>
          </a:prstGeom>
          <a:solidFill>
            <a:srgbClr val="2A1A0A"/>
          </a:solidFill>
          <a:ln w="12700">
            <a:solidFill>
              <a:srgbClr val="00B4D8"/>
            </a:solidFill>
            <a:prstDash val="solid"/>
          </a:ln>
        </p:spPr>
      </p:sp>
      <p:sp>
        <p:nvSpPr>
          <p:cNvPr id="12" name="Text 10"/>
          <p:cNvSpPr/>
          <p:nvPr/>
        </p:nvSpPr>
        <p:spPr>
          <a:xfrm>
            <a:off x="4526280" y="658368"/>
            <a:ext cx="1920240" cy="77724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RETIRE</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(Commit)</a:t>
            </a:r>
            <a:endParaRPr lang="en-US" sz="1200" dirty="0"/>
          </a:p>
        </p:txBody>
      </p:sp>
      <p:sp>
        <p:nvSpPr>
          <p:cNvPr id="13" name="Shape 11"/>
          <p:cNvSpPr/>
          <p:nvPr/>
        </p:nvSpPr>
        <p:spPr>
          <a:xfrm>
            <a:off x="6446520" y="996696"/>
            <a:ext cx="457200" cy="73152"/>
          </a:xfrm>
          <a:prstGeom prst="rect">
            <a:avLst/>
          </a:prstGeom>
          <a:solidFill>
            <a:srgbClr val="00B4D8"/>
          </a:solidFill>
          <a:ln w="12700">
            <a:solidFill>
              <a:srgbClr val="00B4D8"/>
            </a:solidFill>
            <a:prstDash val="solid"/>
          </a:ln>
        </p:spPr>
      </p:sp>
      <p:sp>
        <p:nvSpPr>
          <p:cNvPr id="14" name="Shape 12"/>
          <p:cNvSpPr/>
          <p:nvPr/>
        </p:nvSpPr>
        <p:spPr>
          <a:xfrm>
            <a:off x="6675120" y="621792"/>
            <a:ext cx="1920240" cy="868680"/>
          </a:xfrm>
          <a:prstGeom prst="rect">
            <a:avLst/>
          </a:prstGeom>
          <a:solidFill>
            <a:srgbClr val="2A0A0A"/>
          </a:solidFill>
          <a:ln w="12700">
            <a:solidFill>
              <a:srgbClr val="00B4D8"/>
            </a:solidFill>
            <a:prstDash val="solid"/>
          </a:ln>
        </p:spPr>
      </p:sp>
      <p:sp>
        <p:nvSpPr>
          <p:cNvPr id="15" name="Text 13"/>
          <p:cNvSpPr/>
          <p:nvPr/>
        </p:nvSpPr>
        <p:spPr>
          <a:xfrm>
            <a:off x="6675120" y="658368"/>
            <a:ext cx="1920240" cy="77724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ROLLBACK</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(Squash)</a:t>
            </a:r>
            <a:endParaRPr lang="en-US" sz="1200" dirty="0"/>
          </a:p>
        </p:txBody>
      </p:sp>
      <p:sp>
        <p:nvSpPr>
          <p:cNvPr id="16" name="Shape 14"/>
          <p:cNvSpPr/>
          <p:nvPr/>
        </p:nvSpPr>
        <p:spPr>
          <a:xfrm>
            <a:off x="228600" y="1600200"/>
            <a:ext cx="2286000" cy="3337560"/>
          </a:xfrm>
          <a:prstGeom prst="rect">
            <a:avLst/>
          </a:prstGeom>
          <a:solidFill>
            <a:srgbClr val="0D2137"/>
          </a:solidFill>
          <a:ln w="19050">
            <a:solidFill>
              <a:srgbClr val="00B4D8"/>
            </a:solidFill>
            <a:prstDash val="solid"/>
          </a:ln>
        </p:spPr>
      </p:sp>
      <p:sp>
        <p:nvSpPr>
          <p:cNvPr id="17" name="Shape 15"/>
          <p:cNvSpPr/>
          <p:nvPr/>
        </p:nvSpPr>
        <p:spPr>
          <a:xfrm>
            <a:off x="228600" y="1600200"/>
            <a:ext cx="2286000" cy="347472"/>
          </a:xfrm>
          <a:prstGeom prst="rect">
            <a:avLst/>
          </a:prstGeom>
          <a:solidFill>
            <a:srgbClr val="00B4D8"/>
          </a:solidFill>
          <a:ln w="12700">
            <a:solidFill>
              <a:srgbClr val="00B4D8"/>
            </a:solidFill>
            <a:prstDash val="solid"/>
          </a:ln>
        </p:spPr>
      </p:sp>
      <p:sp>
        <p:nvSpPr>
          <p:cNvPr id="18" name="Text 16"/>
          <p:cNvSpPr/>
          <p:nvPr/>
        </p:nvSpPr>
        <p:spPr>
          <a:xfrm>
            <a:off x="301752" y="1618488"/>
            <a:ext cx="2148840" cy="301752"/>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PREDICTION</a:t>
            </a:r>
            <a:endParaRPr lang="en-US" sz="1200" dirty="0"/>
          </a:p>
        </p:txBody>
      </p:sp>
      <p:sp>
        <p:nvSpPr>
          <p:cNvPr id="19" name="Text 17"/>
          <p:cNvSpPr/>
          <p:nvPr/>
        </p:nvSpPr>
        <p:spPr>
          <a:xfrm>
            <a:off x="320040" y="1993392"/>
            <a:ext cx="2103120" cy="2880360"/>
          </a:xfrm>
          <a:prstGeom prst="rect">
            <a:avLst/>
          </a:prstGeom>
          <a:noFill/>
          <a:ln/>
        </p:spPr>
        <p:txBody>
          <a:bodyPr wrap="square" rtlCol="0" anchor="ctr"/>
          <a:lstStyle/>
          <a:p>
            <a:pPr marL="342900" indent="-342900">
              <a:spcAft>
                <a:spcPts val="500"/>
              </a:spcAft>
              <a:buSzPct val="100000"/>
              <a:buChar char="•"/>
            </a:pPr>
            <a:r>
              <a:rPr lang="en-US" sz="1050" dirty="0">
                <a:solidFill>
                  <a:srgbClr val="E8F4FD"/>
                </a:solidFill>
                <a:latin typeface="Calibri" pitchFamily="34" charset="0"/>
                <a:ea typeface="Calibri" pitchFamily="34" charset="-122"/>
                <a:cs typeface="Calibri" pitchFamily="34" charset="-120"/>
              </a:rPr>
              <a:t>Both SVP and all VTAGE tables are looked up simultaneously for every eligible instruction.</a:t>
            </a:r>
            <a:endParaRPr lang="en-US" sz="1050" dirty="0"/>
          </a:p>
          <a:p>
            <a:pPr marL="342900" indent="-342900">
              <a:spcAft>
                <a:spcPts val="500"/>
              </a:spcAft>
              <a:buSzPct val="100000"/>
              <a:buChar char="•"/>
            </a:pPr>
            <a:r>
              <a:rPr lang="en-US" sz="1050" dirty="0">
                <a:solidFill>
                  <a:srgbClr val="E8F4FD"/>
                </a:solidFill>
                <a:latin typeface="Calibri" pitchFamily="34" charset="0"/>
                <a:ea typeface="Calibri" pitchFamily="34" charset="-122"/>
                <a:cs typeface="Calibri" pitchFamily="34" charset="-120"/>
              </a:rPr>
              <a:t>The longest-history VTAGE table that matches becomes the provider. SVP is the fallback base predictor.</a:t>
            </a:r>
            <a:endParaRPr lang="en-US" sz="1050" dirty="0"/>
          </a:p>
          <a:p>
            <a:pPr marL="342900" indent="-342900">
              <a:spcAft>
                <a:spcPts val="500"/>
              </a:spcAft>
              <a:buSzPct val="100000"/>
              <a:buChar char="•"/>
            </a:pPr>
            <a:r>
              <a:rPr lang="en-US" sz="1050" dirty="0">
                <a:solidFill>
                  <a:srgbClr val="E8F4FD"/>
                </a:solidFill>
                <a:latin typeface="Calibri" pitchFamily="34" charset="0"/>
                <a:ea typeface="Calibri" pitchFamily="34" charset="-122"/>
                <a:cs typeface="Calibri" pitchFamily="34" charset="-120"/>
              </a:rPr>
              <a:t>Hybrid policy decides which predictor fires (see next slide).</a:t>
            </a:r>
            <a:endParaRPr lang="en-US" sz="1050" dirty="0"/>
          </a:p>
          <a:p>
            <a:pPr marL="342900" indent="-342900">
              <a:spcAft>
                <a:spcPts val="500"/>
              </a:spcAft>
              <a:buSzPct val="100000"/>
              <a:buChar char="•"/>
            </a:pPr>
            <a:r>
              <a:rPr lang="en-US" sz="1050" dirty="0">
                <a:solidFill>
                  <a:srgbClr val="E8F4FD"/>
                </a:solidFill>
                <a:latin typeface="Calibri" pitchFamily="34" charset="0"/>
                <a:ea typeface="Calibri" pitchFamily="34" charset="-122"/>
                <a:cs typeface="Calibri" pitchFamily="34" charset="-120"/>
              </a:rPr>
              <a:t>The prediction, both predictor states, and the branch history are snapshotted into the Value Prediction Queue (VPQ).</a:t>
            </a:r>
            <a:endParaRPr lang="en-US" sz="1050" dirty="0"/>
          </a:p>
        </p:txBody>
      </p:sp>
      <p:sp>
        <p:nvSpPr>
          <p:cNvPr id="20" name="Shape 18"/>
          <p:cNvSpPr/>
          <p:nvPr/>
        </p:nvSpPr>
        <p:spPr>
          <a:xfrm>
            <a:off x="4526280" y="1600200"/>
            <a:ext cx="2286000" cy="3337560"/>
          </a:xfrm>
          <a:prstGeom prst="rect">
            <a:avLst/>
          </a:prstGeom>
          <a:solidFill>
            <a:srgbClr val="0D2137"/>
          </a:solidFill>
          <a:ln w="19050">
            <a:solidFill>
              <a:srgbClr val="FF6B35"/>
            </a:solidFill>
            <a:prstDash val="solid"/>
          </a:ln>
        </p:spPr>
      </p:sp>
      <p:sp>
        <p:nvSpPr>
          <p:cNvPr id="21" name="Shape 19"/>
          <p:cNvSpPr/>
          <p:nvPr/>
        </p:nvSpPr>
        <p:spPr>
          <a:xfrm>
            <a:off x="4526280" y="1600200"/>
            <a:ext cx="2286000" cy="347472"/>
          </a:xfrm>
          <a:prstGeom prst="rect">
            <a:avLst/>
          </a:prstGeom>
          <a:solidFill>
            <a:srgbClr val="FF6B35"/>
          </a:solidFill>
          <a:ln w="12700">
            <a:solidFill>
              <a:srgbClr val="FF6B35"/>
            </a:solidFill>
            <a:prstDash val="solid"/>
          </a:ln>
        </p:spPr>
      </p:sp>
      <p:sp>
        <p:nvSpPr>
          <p:cNvPr id="22" name="Text 20"/>
          <p:cNvSpPr/>
          <p:nvPr/>
        </p:nvSpPr>
        <p:spPr>
          <a:xfrm>
            <a:off x="4599432" y="1618488"/>
            <a:ext cx="2148840" cy="301752"/>
          </a:xfrm>
          <a:prstGeom prst="rect">
            <a:avLst/>
          </a:prstGeom>
          <a:noFill/>
          <a:ln/>
        </p:spPr>
        <p:txBody>
          <a:bodyPr wrap="square" rtlCol="0" anchor="ctr"/>
          <a:lstStyle/>
          <a:p>
            <a:pPr indent="0" marL="0">
              <a:buNone/>
            </a:pPr>
            <a:r>
              <a:rPr lang="en-US" sz="1200" b="1" dirty="0">
                <a:solidFill>
                  <a:srgbClr val="0A1628"/>
                </a:solidFill>
                <a:latin typeface="Calibri" pitchFamily="34" charset="0"/>
                <a:ea typeface="Calibri" pitchFamily="34" charset="-122"/>
                <a:cs typeface="Calibri" pitchFamily="34" charset="-120"/>
              </a:rPr>
              <a:t>TRAINING</a:t>
            </a:r>
            <a:endParaRPr lang="en-US" sz="1200" dirty="0"/>
          </a:p>
        </p:txBody>
      </p:sp>
      <p:sp>
        <p:nvSpPr>
          <p:cNvPr id="23" name="Text 21"/>
          <p:cNvSpPr/>
          <p:nvPr/>
        </p:nvSpPr>
        <p:spPr>
          <a:xfrm>
            <a:off x="4617720" y="1993392"/>
            <a:ext cx="2103120" cy="2880360"/>
          </a:xfrm>
          <a:prstGeom prst="rect">
            <a:avLst/>
          </a:prstGeom>
          <a:noFill/>
          <a:ln/>
        </p:spPr>
        <p:txBody>
          <a:bodyPr wrap="square" rtlCol="0" anchor="ctr"/>
          <a:lstStyle/>
          <a:p>
            <a:pPr marL="342900" indent="-342900">
              <a:spcAft>
                <a:spcPts val="500"/>
              </a:spcAft>
              <a:buSzPct val="100000"/>
              <a:buChar char="•"/>
            </a:pPr>
            <a:r>
              <a:rPr lang="en-US" sz="1050" dirty="0">
                <a:solidFill>
                  <a:srgbClr val="E8F4FD"/>
                </a:solidFill>
                <a:latin typeface="Calibri" pitchFamily="34" charset="0"/>
                <a:ea typeface="Calibri" pitchFamily="34" charset="-122"/>
                <a:cs typeface="Calibri" pitchFamily="34" charset="-120"/>
              </a:rPr>
              <a:t>At retirement, the actual value is compared against what was predicted.</a:t>
            </a:r>
            <a:endParaRPr lang="en-US" sz="1050" dirty="0"/>
          </a:p>
          <a:p>
            <a:pPr marL="342900" indent="-342900">
              <a:spcAft>
                <a:spcPts val="500"/>
              </a:spcAft>
              <a:buSzPct val="100000"/>
              <a:buChar char="•"/>
            </a:pPr>
            <a:r>
              <a:rPr lang="en-US" sz="1050" dirty="0">
                <a:solidFill>
                  <a:srgbClr val="E8F4FD"/>
                </a:solidFill>
                <a:latin typeface="Calibri" pitchFamily="34" charset="0"/>
                <a:ea typeface="Calibri" pitchFamily="34" charset="-122"/>
                <a:cs typeface="Calibri" pitchFamily="34" charset="-120"/>
              </a:rPr>
              <a:t>SVP updates its stride and confidence based on whether the stride was repeated.</a:t>
            </a:r>
            <a:endParaRPr lang="en-US" sz="1050" dirty="0"/>
          </a:p>
          <a:p>
            <a:pPr marL="342900" indent="-342900">
              <a:spcAft>
                <a:spcPts val="500"/>
              </a:spcAft>
              <a:buSzPct val="100000"/>
              <a:buChar char="•"/>
            </a:pPr>
            <a:r>
              <a:rPr lang="en-US" sz="1050" dirty="0">
                <a:solidFill>
                  <a:srgbClr val="E8F4FD"/>
                </a:solidFill>
                <a:latin typeface="Calibri" pitchFamily="34" charset="0"/>
                <a:ea typeface="Calibri" pitchFamily="34" charset="-122"/>
                <a:cs typeface="Calibri" pitchFamily="34" charset="-120"/>
              </a:rPr>
              <a:t>VTAGE updates confidence stochastically — loads/FP train faster than generic ALU instructions to reflect their higher predictability.</a:t>
            </a:r>
            <a:endParaRPr lang="en-US" sz="1050" dirty="0"/>
          </a:p>
          <a:p>
            <a:pPr marL="342900" indent="-342900">
              <a:spcAft>
                <a:spcPts val="500"/>
              </a:spcAft>
              <a:buSzPct val="100000"/>
              <a:buChar char="•"/>
            </a:pPr>
            <a:r>
              <a:rPr lang="en-US" sz="1050" dirty="0">
                <a:solidFill>
                  <a:srgbClr val="E8F4FD"/>
                </a:solidFill>
                <a:latin typeface="Calibri" pitchFamily="34" charset="0"/>
                <a:ea typeface="Calibri" pitchFamily="34" charset="-122"/>
                <a:cs typeface="Calibri" pitchFamily="34" charset="-120"/>
              </a:rPr>
              <a:t>On misprediction, confidence is penalized. Memory ops get a soft dock; ALU ops are fully reset.</a:t>
            </a:r>
            <a:endParaRPr lang="en-US" sz="1050" dirty="0"/>
          </a:p>
        </p:txBody>
      </p:sp>
      <p:sp>
        <p:nvSpPr>
          <p:cNvPr id="24" name="Shape 22"/>
          <p:cNvSpPr/>
          <p:nvPr/>
        </p:nvSpPr>
        <p:spPr>
          <a:xfrm>
            <a:off x="6675120" y="1600200"/>
            <a:ext cx="2286000" cy="3337560"/>
          </a:xfrm>
          <a:prstGeom prst="rect">
            <a:avLst/>
          </a:prstGeom>
          <a:solidFill>
            <a:srgbClr val="0D2137"/>
          </a:solidFill>
          <a:ln w="19050">
            <a:solidFill>
              <a:srgbClr val="EF476F"/>
            </a:solidFill>
            <a:prstDash val="solid"/>
          </a:ln>
        </p:spPr>
      </p:sp>
      <p:sp>
        <p:nvSpPr>
          <p:cNvPr id="25" name="Shape 23"/>
          <p:cNvSpPr/>
          <p:nvPr/>
        </p:nvSpPr>
        <p:spPr>
          <a:xfrm>
            <a:off x="6675120" y="1600200"/>
            <a:ext cx="2286000" cy="347472"/>
          </a:xfrm>
          <a:prstGeom prst="rect">
            <a:avLst/>
          </a:prstGeom>
          <a:solidFill>
            <a:srgbClr val="EF476F"/>
          </a:solidFill>
          <a:ln w="12700">
            <a:solidFill>
              <a:srgbClr val="EF476F"/>
            </a:solidFill>
            <a:prstDash val="solid"/>
          </a:ln>
        </p:spPr>
      </p:sp>
      <p:sp>
        <p:nvSpPr>
          <p:cNvPr id="26" name="Text 24"/>
          <p:cNvSpPr/>
          <p:nvPr/>
        </p:nvSpPr>
        <p:spPr>
          <a:xfrm>
            <a:off x="6748272" y="1618488"/>
            <a:ext cx="2148840" cy="301752"/>
          </a:xfrm>
          <a:prstGeom prst="rect">
            <a:avLst/>
          </a:prstGeom>
          <a:noFill/>
          <a:ln/>
        </p:spPr>
        <p:txBody>
          <a:bodyPr wrap="square" rtlCol="0" anchor="ctr"/>
          <a:lstStyle/>
          <a:p>
            <a:pPr indent="0" marL="0">
              <a:buNone/>
            </a:pPr>
            <a:r>
              <a:rPr lang="en-US" sz="1200" b="1" dirty="0">
                <a:solidFill>
                  <a:srgbClr val="0A1628"/>
                </a:solidFill>
                <a:latin typeface="Calibri" pitchFamily="34" charset="0"/>
                <a:ea typeface="Calibri" pitchFamily="34" charset="-122"/>
                <a:cs typeface="Calibri" pitchFamily="34" charset="-120"/>
              </a:rPr>
              <a:t>ROLLBACK</a:t>
            </a:r>
            <a:endParaRPr lang="en-US" sz="1200" dirty="0"/>
          </a:p>
        </p:txBody>
      </p:sp>
      <p:sp>
        <p:nvSpPr>
          <p:cNvPr id="27" name="Text 25"/>
          <p:cNvSpPr/>
          <p:nvPr/>
        </p:nvSpPr>
        <p:spPr>
          <a:xfrm>
            <a:off x="6766560" y="1993392"/>
            <a:ext cx="2103120" cy="2880360"/>
          </a:xfrm>
          <a:prstGeom prst="rect">
            <a:avLst/>
          </a:prstGeom>
          <a:noFill/>
          <a:ln/>
        </p:spPr>
        <p:txBody>
          <a:bodyPr wrap="square" rtlCol="0" anchor="ctr"/>
          <a:lstStyle/>
          <a:p>
            <a:pPr marL="342900" indent="-342900">
              <a:spcAft>
                <a:spcPts val="500"/>
              </a:spcAft>
              <a:buSzPct val="100000"/>
              <a:buChar char="•"/>
            </a:pPr>
            <a:r>
              <a:rPr lang="en-US" sz="1050" dirty="0">
                <a:solidFill>
                  <a:srgbClr val="E8F4FD"/>
                </a:solidFill>
                <a:latin typeface="Calibri" pitchFamily="34" charset="0"/>
                <a:ea typeface="Calibri" pitchFamily="34" charset="-122"/>
                <a:cs typeface="Calibri" pitchFamily="34" charset="-120"/>
              </a:rPr>
              <a:t>If a value was predicted confidently but incorrectly, a pipeline squash is triggered.</a:t>
            </a:r>
            <a:endParaRPr lang="en-US" sz="1050" dirty="0"/>
          </a:p>
          <a:p>
            <a:pPr marL="342900" indent="-342900">
              <a:spcAft>
                <a:spcPts val="500"/>
              </a:spcAft>
              <a:buSzPct val="100000"/>
              <a:buChar char="•"/>
            </a:pPr>
            <a:r>
              <a:rPr lang="en-US" sz="1050" dirty="0">
                <a:solidFill>
                  <a:srgbClr val="E8F4FD"/>
                </a:solidFill>
                <a:latin typeface="Calibri" pitchFamily="34" charset="0"/>
                <a:ea typeface="Calibri" pitchFamily="34" charset="-122"/>
                <a:cs typeface="Calibri" pitchFamily="34" charset="-120"/>
              </a:rPr>
              <a:t>All in-flight instructions younger than the misprediction are flushed.</a:t>
            </a:r>
            <a:endParaRPr lang="en-US" sz="1050" dirty="0"/>
          </a:p>
          <a:p>
            <a:pPr marL="342900" indent="-342900">
              <a:spcAft>
                <a:spcPts val="500"/>
              </a:spcAft>
              <a:buSzPct val="100000"/>
              <a:buChar char="•"/>
            </a:pPr>
            <a:r>
              <a:rPr lang="en-US" sz="1050" dirty="0">
                <a:solidFill>
                  <a:srgbClr val="E8F4FD"/>
                </a:solidFill>
                <a:latin typeface="Calibri" pitchFamily="34" charset="0"/>
                <a:ea typeface="Calibri" pitchFamily="34" charset="-122"/>
                <a:cs typeface="Calibri" pitchFamily="34" charset="-120"/>
              </a:rPr>
              <a:t>The VPQ is rewound: head pointer returns to the tail.</a:t>
            </a:r>
            <a:endParaRPr lang="en-US" sz="1050" dirty="0"/>
          </a:p>
          <a:p>
            <a:pPr marL="342900" indent="-342900">
              <a:spcAft>
                <a:spcPts val="500"/>
              </a:spcAft>
              <a:buSzPct val="100000"/>
              <a:buChar char="•"/>
            </a:pPr>
            <a:r>
              <a:rPr lang="en-US" sz="1050" dirty="0">
                <a:solidFill>
                  <a:srgbClr val="E8F4FD"/>
                </a:solidFill>
                <a:latin typeface="Calibri" pitchFamily="34" charset="0"/>
                <a:ea typeface="Calibri" pitchFamily="34" charset="-122"/>
                <a:cs typeface="Calibri" pitchFamily="34" charset="-120"/>
              </a:rPr>
              <a:t>In-flight instance counts in SVP are corrected.</a:t>
            </a:r>
            <a:endParaRPr lang="en-US" sz="1050" dirty="0"/>
          </a:p>
          <a:p>
            <a:pPr marL="342900" indent="-342900">
              <a:spcAft>
                <a:spcPts val="500"/>
              </a:spcAft>
              <a:buSzPct val="100000"/>
              <a:buChar char="•"/>
            </a:pPr>
            <a:r>
              <a:rPr lang="en-US" sz="1050" dirty="0">
                <a:solidFill>
                  <a:srgbClr val="E8F4FD"/>
                </a:solidFill>
                <a:latin typeface="Calibri" pitchFamily="34" charset="0"/>
                <a:ea typeface="Calibri" pitchFamily="34" charset="-122"/>
                <a:cs typeface="Calibri" pitchFamily="34" charset="-120"/>
              </a:rPr>
              <a:t>The predictor learns from the mistake via the confidence penalty.</a:t>
            </a:r>
            <a:endParaRPr lang="en-US" sz="1050" dirty="0"/>
          </a:p>
        </p:txBody>
      </p:sp>
      <p:sp>
        <p:nvSpPr>
          <p:cNvPr id="28" name="Shape 26"/>
          <p:cNvSpPr/>
          <p:nvPr/>
        </p:nvSpPr>
        <p:spPr>
          <a:xfrm>
            <a:off x="2377440" y="1600200"/>
            <a:ext cx="1920240" cy="3337560"/>
          </a:xfrm>
          <a:prstGeom prst="rect">
            <a:avLst/>
          </a:prstGeom>
          <a:solidFill>
            <a:srgbClr val="0D2137"/>
          </a:solidFill>
          <a:ln w="19050">
            <a:solidFill>
              <a:srgbClr val="06D6A0"/>
            </a:solidFill>
            <a:prstDash val="solid"/>
          </a:ln>
        </p:spPr>
      </p:sp>
      <p:sp>
        <p:nvSpPr>
          <p:cNvPr id="29" name="Shape 27"/>
          <p:cNvSpPr/>
          <p:nvPr/>
        </p:nvSpPr>
        <p:spPr>
          <a:xfrm>
            <a:off x="2377440" y="1600200"/>
            <a:ext cx="1920240" cy="347472"/>
          </a:xfrm>
          <a:prstGeom prst="rect">
            <a:avLst/>
          </a:prstGeom>
          <a:solidFill>
            <a:srgbClr val="06D6A0"/>
          </a:solidFill>
          <a:ln w="12700">
            <a:solidFill>
              <a:srgbClr val="06D6A0"/>
            </a:solidFill>
            <a:prstDash val="solid"/>
          </a:ln>
        </p:spPr>
      </p:sp>
      <p:sp>
        <p:nvSpPr>
          <p:cNvPr id="30" name="Text 28"/>
          <p:cNvSpPr/>
          <p:nvPr/>
        </p:nvSpPr>
        <p:spPr>
          <a:xfrm>
            <a:off x="2450592" y="1618488"/>
            <a:ext cx="1783080" cy="301752"/>
          </a:xfrm>
          <a:prstGeom prst="rect">
            <a:avLst/>
          </a:prstGeom>
          <a:noFill/>
          <a:ln/>
        </p:spPr>
        <p:txBody>
          <a:bodyPr wrap="square" rtlCol="0" anchor="ctr"/>
          <a:lstStyle/>
          <a:p>
            <a:pPr indent="0" marL="0">
              <a:buNone/>
            </a:pPr>
            <a:r>
              <a:rPr lang="en-US" sz="1200" b="1" dirty="0">
                <a:solidFill>
                  <a:srgbClr val="0A1628"/>
                </a:solidFill>
                <a:latin typeface="Calibri" pitchFamily="34" charset="0"/>
                <a:ea typeface="Calibri" pitchFamily="34" charset="-122"/>
                <a:cs typeface="Calibri" pitchFamily="34" charset="-120"/>
              </a:rPr>
              <a:t>ALLOCATION</a:t>
            </a:r>
            <a:endParaRPr lang="en-US" sz="1200" dirty="0"/>
          </a:p>
        </p:txBody>
      </p:sp>
      <p:sp>
        <p:nvSpPr>
          <p:cNvPr id="31" name="Text 29"/>
          <p:cNvSpPr/>
          <p:nvPr/>
        </p:nvSpPr>
        <p:spPr>
          <a:xfrm>
            <a:off x="2468880" y="1993392"/>
            <a:ext cx="1783080" cy="2880360"/>
          </a:xfrm>
          <a:prstGeom prst="rect">
            <a:avLst/>
          </a:prstGeom>
          <a:noFill/>
          <a:ln/>
        </p:spPr>
        <p:txBody>
          <a:bodyPr wrap="square" rtlCol="0" anchor="ctr"/>
          <a:lstStyle/>
          <a:p>
            <a:pPr marL="342900" indent="-342900">
              <a:spcAft>
                <a:spcPts val="500"/>
              </a:spcAft>
              <a:buSzPct val="100000"/>
              <a:buChar char="•"/>
            </a:pPr>
            <a:r>
              <a:rPr lang="en-US" sz="1050" dirty="0">
                <a:solidFill>
                  <a:srgbClr val="E8F4FD"/>
                </a:solidFill>
                <a:latin typeface="Calibri" pitchFamily="34" charset="0"/>
                <a:ea typeface="Calibri" pitchFamily="34" charset="-122"/>
                <a:cs typeface="Calibri" pitchFamily="34" charset="-120"/>
              </a:rPr>
              <a:t>When both the provider and alternate both miss, a new VTAGE entry is allocated.</a:t>
            </a:r>
            <a:endParaRPr lang="en-US" sz="1050" dirty="0"/>
          </a:p>
          <a:p>
            <a:pPr marL="342900" indent="-342900">
              <a:spcAft>
                <a:spcPts val="500"/>
              </a:spcAft>
              <a:buSzPct val="100000"/>
              <a:buChar char="•"/>
            </a:pPr>
            <a:r>
              <a:rPr lang="en-US" sz="1050" dirty="0">
                <a:solidFill>
                  <a:srgbClr val="E8F4FD"/>
                </a:solidFill>
                <a:latin typeface="Calibri" pitchFamily="34" charset="0"/>
                <a:ea typeface="Calibri" pitchFamily="34" charset="-122"/>
                <a:cs typeface="Calibri" pitchFamily="34" charset="-120"/>
              </a:rPr>
              <a:t>Loads and FP ops always allocate. Generic ALU is throttled at 1-in-16 to protect table capacity.</a:t>
            </a:r>
            <a:endParaRPr lang="en-US" sz="1050" dirty="0"/>
          </a:p>
          <a:p>
            <a:pPr marL="342900" indent="-342900">
              <a:spcAft>
                <a:spcPts val="500"/>
              </a:spcAft>
              <a:buSzPct val="100000"/>
              <a:buChar char="•"/>
            </a:pPr>
            <a:r>
              <a:rPr lang="en-US" sz="1050" dirty="0">
                <a:solidFill>
                  <a:srgbClr val="E8F4FD"/>
                </a:solidFill>
                <a:latin typeface="Calibri" pitchFamily="34" charset="0"/>
                <a:ea typeface="Calibri" pitchFamily="34" charset="-122"/>
                <a:cs typeface="Calibri" pitchFamily="34" charset="-120"/>
              </a:rPr>
              <a:t>New entries start at half confidence so they must prove themselves before firing.</a:t>
            </a:r>
            <a:endParaRPr lang="en-US" sz="1050" dirty="0"/>
          </a:p>
          <a:p>
            <a:pPr marL="342900" indent="-342900">
              <a:spcAft>
                <a:spcPts val="500"/>
              </a:spcAft>
              <a:buSzPct val="100000"/>
              <a:buChar char="•"/>
            </a:pPr>
            <a:r>
              <a:rPr lang="en-US" sz="1050" dirty="0">
                <a:solidFill>
                  <a:srgbClr val="E8F4FD"/>
                </a:solidFill>
                <a:latin typeface="Calibri" pitchFamily="34" charset="0"/>
                <a:ea typeface="Calibri" pitchFamily="34" charset="-122"/>
                <a:cs typeface="Calibri" pitchFamily="34" charset="-120"/>
              </a:rPr>
              <a:t>A TICK counter tracks table pressure and periodically decays usefulness bits to evict stale entries.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D2137"/>
          </a:solidFill>
          <a:ln w="12700">
            <a:solidFill>
              <a:srgbClr val="0D2137"/>
            </a:solidFill>
            <a:prstDash val="solid"/>
          </a:ln>
        </p:spPr>
      </p:sp>
      <p:sp>
        <p:nvSpPr>
          <p:cNvPr id="3" name="Text 1"/>
          <p:cNvSpPr/>
          <p:nvPr/>
        </p:nvSpPr>
        <p:spPr>
          <a:xfrm>
            <a:off x="365760" y="73152"/>
            <a:ext cx="8229600" cy="36576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Hybrid Prediction Policies</a:t>
            </a:r>
            <a:endParaRPr lang="en-US" sz="2200" dirty="0"/>
          </a:p>
        </p:txBody>
      </p:sp>
      <p:sp>
        <p:nvSpPr>
          <p:cNvPr id="4" name="Shape 2"/>
          <p:cNvSpPr/>
          <p:nvPr/>
        </p:nvSpPr>
        <p:spPr>
          <a:xfrm>
            <a:off x="365760" y="502920"/>
            <a:ext cx="1828800" cy="36576"/>
          </a:xfrm>
          <a:prstGeom prst="rect">
            <a:avLst/>
          </a:prstGeom>
          <a:solidFill>
            <a:srgbClr val="FFD166"/>
          </a:solidFill>
          <a:ln w="12700">
            <a:solidFill>
              <a:srgbClr val="FFD166"/>
            </a:solidFill>
            <a:prstDash val="solid"/>
          </a:ln>
        </p:spPr>
      </p:sp>
      <p:sp>
        <p:nvSpPr>
          <p:cNvPr id="5" name="Text 3"/>
          <p:cNvSpPr/>
          <p:nvPr/>
        </p:nvSpPr>
        <p:spPr>
          <a:xfrm>
            <a:off x="365760" y="594360"/>
            <a:ext cx="8412480" cy="347472"/>
          </a:xfrm>
          <a:prstGeom prst="rect">
            <a:avLst/>
          </a:prstGeom>
          <a:noFill/>
          <a:ln/>
        </p:spPr>
        <p:txBody>
          <a:bodyPr wrap="square" rtlCol="0" anchor="ctr"/>
          <a:lstStyle/>
          <a:p>
            <a:pPr indent="0" marL="0">
              <a:buNone/>
            </a:pPr>
            <a:r>
              <a:rPr lang="en-US" sz="1300" i="1" dirty="0">
                <a:solidFill>
                  <a:srgbClr val="8EACC4"/>
                </a:solidFill>
                <a:latin typeface="Calibri" pitchFamily="34" charset="0"/>
                <a:ea typeface="Calibri" pitchFamily="34" charset="-122"/>
                <a:cs typeface="Calibri" pitchFamily="34" charset="-120"/>
              </a:rPr>
              <a:t>The key architectural question: when SVP and VTAGE both have a prediction, which one fires?</a:t>
            </a:r>
            <a:endParaRPr lang="en-US" sz="1300" dirty="0"/>
          </a:p>
        </p:txBody>
      </p:sp>
      <p:sp>
        <p:nvSpPr>
          <p:cNvPr id="6" name="Shape 4"/>
          <p:cNvSpPr/>
          <p:nvPr/>
        </p:nvSpPr>
        <p:spPr>
          <a:xfrm>
            <a:off x="274320" y="1051560"/>
            <a:ext cx="4160520" cy="3931920"/>
          </a:xfrm>
          <a:prstGeom prst="rect">
            <a:avLst/>
          </a:prstGeom>
          <a:solidFill>
            <a:srgbClr val="0D2137"/>
          </a:solidFill>
          <a:ln w="25400">
            <a:solidFill>
              <a:srgbClr val="00B4D8"/>
            </a:solidFill>
            <a:prstDash val="solid"/>
          </a:ln>
        </p:spPr>
      </p:sp>
      <p:sp>
        <p:nvSpPr>
          <p:cNvPr id="7" name="Shape 5"/>
          <p:cNvSpPr/>
          <p:nvPr/>
        </p:nvSpPr>
        <p:spPr>
          <a:xfrm>
            <a:off x="274320" y="1051560"/>
            <a:ext cx="4160520" cy="384048"/>
          </a:xfrm>
          <a:prstGeom prst="rect">
            <a:avLst/>
          </a:prstGeom>
          <a:solidFill>
            <a:srgbClr val="00B4D8"/>
          </a:solidFill>
          <a:ln w="12700">
            <a:solidFill>
              <a:srgbClr val="00B4D8"/>
            </a:solidFill>
            <a:prstDash val="solid"/>
          </a:ln>
        </p:spPr>
      </p:sp>
      <p:sp>
        <p:nvSpPr>
          <p:cNvPr id="8" name="Text 6"/>
          <p:cNvSpPr/>
          <p:nvPr/>
        </p:nvSpPr>
        <p:spPr>
          <a:xfrm>
            <a:off x="365760" y="1097280"/>
            <a:ext cx="3977640" cy="320040"/>
          </a:xfrm>
          <a:prstGeom prst="rect">
            <a:avLst/>
          </a:prstGeom>
          <a:noFill/>
          <a:ln/>
        </p:spPr>
        <p:txBody>
          <a:bodyPr wrap="square" rtlCol="0" anchor="ctr"/>
          <a:lstStyle/>
          <a:p>
            <a:pPr indent="0" marL="0">
              <a:buNone/>
            </a:pPr>
            <a:r>
              <a:rPr lang="en-US" sz="1300" b="1" dirty="0">
                <a:solidFill>
                  <a:srgbClr val="0A1628"/>
                </a:solidFill>
                <a:latin typeface="Calibri" pitchFamily="34" charset="0"/>
                <a:ea typeface="Calibri" pitchFamily="34" charset="-122"/>
                <a:cs typeface="Calibri" pitchFamily="34" charset="-120"/>
              </a:rPr>
              <a:t>SVP Supremacy (Original)</a:t>
            </a:r>
            <a:endParaRPr lang="en-US" sz="1300" dirty="0"/>
          </a:p>
        </p:txBody>
      </p:sp>
      <p:sp>
        <p:nvSpPr>
          <p:cNvPr id="9" name="Text 7"/>
          <p:cNvSpPr/>
          <p:nvPr/>
        </p:nvSpPr>
        <p:spPr>
          <a:xfrm>
            <a:off x="411480" y="1554480"/>
            <a:ext cx="3886200" cy="228600"/>
          </a:xfrm>
          <a:prstGeom prst="rect">
            <a:avLst/>
          </a:prstGeom>
          <a:noFill/>
          <a:ln/>
        </p:spPr>
        <p:txBody>
          <a:bodyPr wrap="square" rtlCol="0" anchor="ctr"/>
          <a:lstStyle/>
          <a:p>
            <a:pPr indent="0" marL="0">
              <a:buNone/>
            </a:pPr>
            <a:r>
              <a:rPr lang="en-US" sz="1100" b="1" dirty="0">
                <a:solidFill>
                  <a:srgbClr val="00B4D8"/>
                </a:solidFill>
                <a:latin typeface="Calibri" pitchFamily="34" charset="0"/>
                <a:ea typeface="Calibri" pitchFamily="34" charset="-122"/>
                <a:cs typeface="Calibri" pitchFamily="34" charset="-120"/>
              </a:rPr>
              <a:t>How it works</a:t>
            </a:r>
            <a:endParaRPr lang="en-US" sz="1100" dirty="0"/>
          </a:p>
        </p:txBody>
      </p:sp>
      <p:sp>
        <p:nvSpPr>
          <p:cNvPr id="10" name="Text 8"/>
          <p:cNvSpPr/>
          <p:nvPr/>
        </p:nvSpPr>
        <p:spPr>
          <a:xfrm>
            <a:off x="411480" y="1783080"/>
            <a:ext cx="3886200" cy="960120"/>
          </a:xfrm>
          <a:prstGeom prst="rect">
            <a:avLst/>
          </a:prstGeom>
          <a:noFill/>
          <a:ln/>
        </p:spPr>
        <p:txBody>
          <a:bodyPr wrap="square" rtlCol="0" anchor="ctr"/>
          <a:lstStyle/>
          <a:p>
            <a:pPr indent="0" marL="0">
              <a:buNone/>
            </a:pPr>
            <a:r>
              <a:rPr lang="en-US" sz="1100" dirty="0">
                <a:solidFill>
                  <a:srgbClr val="E8F4FD"/>
                </a:solidFill>
                <a:latin typeface="Calibri" pitchFamily="34" charset="0"/>
                <a:ea typeface="Calibri" pitchFamily="34" charset="-122"/>
                <a:cs typeface="Calibri" pitchFamily="34" charset="-120"/>
              </a:rPr>
              <a:t>When SVP reaches maximum confidence, it overrides VTAGE entirely — regardless of VTAGE's confidence level. SVP is treated as the ground truth for stride-predictable instructions.</a:t>
            </a:r>
            <a:endParaRPr lang="en-US" sz="1100" dirty="0"/>
          </a:p>
        </p:txBody>
      </p:sp>
      <p:sp>
        <p:nvSpPr>
          <p:cNvPr id="11" name="Text 9"/>
          <p:cNvSpPr/>
          <p:nvPr/>
        </p:nvSpPr>
        <p:spPr>
          <a:xfrm>
            <a:off x="411480" y="2834640"/>
            <a:ext cx="3886200" cy="228600"/>
          </a:xfrm>
          <a:prstGeom prst="rect">
            <a:avLst/>
          </a:prstGeom>
          <a:noFill/>
          <a:ln/>
        </p:spPr>
        <p:txBody>
          <a:bodyPr wrap="square" rtlCol="0" anchor="ctr"/>
          <a:lstStyle/>
          <a:p>
            <a:pPr indent="0" marL="0">
              <a:buNone/>
            </a:pPr>
            <a:r>
              <a:rPr lang="en-US" sz="1100" b="1" dirty="0">
                <a:solidFill>
                  <a:srgbClr val="06D6A0"/>
                </a:solidFill>
                <a:latin typeface="Calibri" pitchFamily="34" charset="0"/>
                <a:ea typeface="Calibri" pitchFamily="34" charset="-122"/>
                <a:cs typeface="Calibri" pitchFamily="34" charset="-120"/>
              </a:rPr>
              <a:t>Why it makes sense</a:t>
            </a:r>
            <a:endParaRPr lang="en-US" sz="1100" dirty="0"/>
          </a:p>
        </p:txBody>
      </p:sp>
      <p:sp>
        <p:nvSpPr>
          <p:cNvPr id="12" name="Text 10"/>
          <p:cNvSpPr/>
          <p:nvPr/>
        </p:nvSpPr>
        <p:spPr>
          <a:xfrm>
            <a:off x="411480" y="3063240"/>
            <a:ext cx="3886200" cy="914400"/>
          </a:xfrm>
          <a:prstGeom prst="rect">
            <a:avLst/>
          </a:prstGeom>
          <a:noFill/>
          <a:ln/>
        </p:spPr>
        <p:txBody>
          <a:bodyPr wrap="square" rtlCol="0" anchor="ctr"/>
          <a:lstStyle/>
          <a:p>
            <a:pPr indent="0" marL="0">
              <a:buNone/>
            </a:pPr>
            <a:r>
              <a:rPr lang="en-US" sz="1100" dirty="0">
                <a:solidFill>
                  <a:srgbClr val="E8F4FD"/>
                </a:solidFill>
                <a:latin typeface="Calibri" pitchFamily="34" charset="0"/>
                <a:ea typeface="Calibri" pitchFamily="34" charset="-122"/>
                <a:cs typeface="Calibri" pitchFamily="34" charset="-120"/>
              </a:rPr>
              <a:t>SVP's mathematical model is deterministic and highly accurate on simple patterns. Letting it take precedence prevents VTAGE from corrupting clean stride predictions.</a:t>
            </a:r>
            <a:endParaRPr lang="en-US" sz="1100" dirty="0"/>
          </a:p>
        </p:txBody>
      </p:sp>
      <p:sp>
        <p:nvSpPr>
          <p:cNvPr id="13" name="Text 11"/>
          <p:cNvSpPr/>
          <p:nvPr/>
        </p:nvSpPr>
        <p:spPr>
          <a:xfrm>
            <a:off x="411480" y="4050792"/>
            <a:ext cx="3886200" cy="228600"/>
          </a:xfrm>
          <a:prstGeom prst="rect">
            <a:avLst/>
          </a:prstGeom>
          <a:noFill/>
          <a:ln/>
        </p:spPr>
        <p:txBody>
          <a:bodyPr wrap="square" rtlCol="0" anchor="ctr"/>
          <a:lstStyle/>
          <a:p>
            <a:pPr indent="0" marL="0">
              <a:buNone/>
            </a:pPr>
            <a:r>
              <a:rPr lang="en-US" sz="1100" b="1" dirty="0">
                <a:solidFill>
                  <a:srgbClr val="FF6B35"/>
                </a:solidFill>
                <a:latin typeface="Calibri" pitchFamily="34" charset="0"/>
                <a:ea typeface="Calibri" pitchFamily="34" charset="-122"/>
                <a:cs typeface="Calibri" pitchFamily="34" charset="-120"/>
              </a:rPr>
              <a:t>Trade-off</a:t>
            </a:r>
            <a:endParaRPr lang="en-US" sz="1100" dirty="0"/>
          </a:p>
        </p:txBody>
      </p:sp>
      <p:sp>
        <p:nvSpPr>
          <p:cNvPr id="14" name="Text 12"/>
          <p:cNvSpPr/>
          <p:nvPr/>
        </p:nvSpPr>
        <p:spPr>
          <a:xfrm>
            <a:off x="411480" y="4270248"/>
            <a:ext cx="3886200" cy="594360"/>
          </a:xfrm>
          <a:prstGeom prst="rect">
            <a:avLst/>
          </a:prstGeom>
          <a:noFill/>
          <a:ln/>
        </p:spPr>
        <p:txBody>
          <a:bodyPr wrap="square" rtlCol="0" anchor="ctr"/>
          <a:lstStyle/>
          <a:p>
            <a:pPr indent="0" marL="0">
              <a:buNone/>
            </a:pPr>
            <a:r>
              <a:rPr lang="en-US" sz="1050" dirty="0">
                <a:solidFill>
                  <a:srgbClr val="8EACC4"/>
                </a:solidFill>
                <a:latin typeface="Calibri" pitchFamily="34" charset="0"/>
                <a:ea typeface="Calibri" pitchFamily="34" charset="-122"/>
                <a:cs typeface="Calibri" pitchFamily="34" charset="-120"/>
              </a:rPr>
              <a:t>VTAGE entries that have spent 63 correct predictions proving themselves can still be overridden by SVP, wasting that learned state.</a:t>
            </a:r>
            <a:endParaRPr lang="en-US" sz="1050" dirty="0"/>
          </a:p>
        </p:txBody>
      </p:sp>
      <p:sp>
        <p:nvSpPr>
          <p:cNvPr id="15" name="Shape 13"/>
          <p:cNvSpPr/>
          <p:nvPr/>
        </p:nvSpPr>
        <p:spPr>
          <a:xfrm>
            <a:off x="4709160" y="1051560"/>
            <a:ext cx="4160520" cy="3931920"/>
          </a:xfrm>
          <a:prstGeom prst="rect">
            <a:avLst/>
          </a:prstGeom>
          <a:solidFill>
            <a:srgbClr val="0D2137"/>
          </a:solidFill>
          <a:ln w="25400">
            <a:solidFill>
              <a:srgbClr val="FFD166"/>
            </a:solidFill>
            <a:prstDash val="solid"/>
          </a:ln>
        </p:spPr>
      </p:sp>
      <p:sp>
        <p:nvSpPr>
          <p:cNvPr id="16" name="Shape 14"/>
          <p:cNvSpPr/>
          <p:nvPr/>
        </p:nvSpPr>
        <p:spPr>
          <a:xfrm>
            <a:off x="4709160" y="1051560"/>
            <a:ext cx="4160520" cy="384048"/>
          </a:xfrm>
          <a:prstGeom prst="rect">
            <a:avLst/>
          </a:prstGeom>
          <a:solidFill>
            <a:srgbClr val="FFD166"/>
          </a:solidFill>
          <a:ln w="12700">
            <a:solidFill>
              <a:srgbClr val="FFD166"/>
            </a:solidFill>
            <a:prstDash val="solid"/>
          </a:ln>
        </p:spPr>
      </p:sp>
      <p:sp>
        <p:nvSpPr>
          <p:cNvPr id="17" name="Text 15"/>
          <p:cNvSpPr/>
          <p:nvPr/>
        </p:nvSpPr>
        <p:spPr>
          <a:xfrm>
            <a:off x="4800600" y="1097280"/>
            <a:ext cx="3977640" cy="320040"/>
          </a:xfrm>
          <a:prstGeom prst="rect">
            <a:avLst/>
          </a:prstGeom>
          <a:noFill/>
          <a:ln/>
        </p:spPr>
        <p:txBody>
          <a:bodyPr wrap="square" rtlCol="0" anchor="ctr"/>
          <a:lstStyle/>
          <a:p>
            <a:pPr indent="0" marL="0">
              <a:buNone/>
            </a:pPr>
            <a:r>
              <a:rPr lang="en-US" sz="1300" b="1" dirty="0">
                <a:solidFill>
                  <a:srgbClr val="0A1628"/>
                </a:solidFill>
                <a:latin typeface="Calibri" pitchFamily="34" charset="0"/>
                <a:ea typeface="Calibri" pitchFamily="34" charset="-122"/>
                <a:cs typeface="Calibri" pitchFamily="34" charset="-120"/>
              </a:rPr>
              <a:t>Modified SVP Supremacy (Our Innovation)</a:t>
            </a:r>
            <a:endParaRPr lang="en-US" sz="1300" dirty="0"/>
          </a:p>
        </p:txBody>
      </p:sp>
      <p:sp>
        <p:nvSpPr>
          <p:cNvPr id="18" name="Text 16"/>
          <p:cNvSpPr/>
          <p:nvPr/>
        </p:nvSpPr>
        <p:spPr>
          <a:xfrm>
            <a:off x="4846320" y="1554480"/>
            <a:ext cx="3886200" cy="228600"/>
          </a:xfrm>
          <a:prstGeom prst="rect">
            <a:avLst/>
          </a:prstGeom>
          <a:noFill/>
          <a:ln/>
        </p:spPr>
        <p:txBody>
          <a:bodyPr wrap="square" rtlCol="0" anchor="ctr"/>
          <a:lstStyle/>
          <a:p>
            <a:pPr indent="0" marL="0">
              <a:buNone/>
            </a:pPr>
            <a:r>
              <a:rPr lang="en-US" sz="1100" b="1" dirty="0">
                <a:solidFill>
                  <a:srgbClr val="FFD166"/>
                </a:solidFill>
                <a:latin typeface="Calibri" pitchFamily="34" charset="0"/>
                <a:ea typeface="Calibri" pitchFamily="34" charset="-122"/>
                <a:cs typeface="Calibri" pitchFamily="34" charset="-120"/>
              </a:rPr>
              <a:t>How it works</a:t>
            </a:r>
            <a:endParaRPr lang="en-US" sz="1100" dirty="0"/>
          </a:p>
        </p:txBody>
      </p:sp>
      <p:sp>
        <p:nvSpPr>
          <p:cNvPr id="19" name="Text 17"/>
          <p:cNvSpPr/>
          <p:nvPr/>
        </p:nvSpPr>
        <p:spPr>
          <a:xfrm>
            <a:off x="4846320" y="1783080"/>
            <a:ext cx="3886200" cy="960120"/>
          </a:xfrm>
          <a:prstGeom prst="rect">
            <a:avLst/>
          </a:prstGeom>
          <a:noFill/>
          <a:ln/>
        </p:spPr>
        <p:txBody>
          <a:bodyPr wrap="square" rtlCol="0" anchor="ctr"/>
          <a:lstStyle/>
          <a:p>
            <a:pPr indent="0" marL="0">
              <a:buNone/>
            </a:pPr>
            <a:r>
              <a:rPr lang="en-US" sz="1100" dirty="0">
                <a:solidFill>
                  <a:srgbClr val="E8F4FD"/>
                </a:solidFill>
                <a:latin typeface="Calibri" pitchFamily="34" charset="0"/>
                <a:ea typeface="Calibri" pitchFamily="34" charset="-122"/>
                <a:cs typeface="Calibri" pitchFamily="34" charset="-120"/>
              </a:rPr>
              <a:t>SVP overrides VTAGE only when VTAGE has NOT yet reached its maximum confidence. Once VTAGE achieves full confidence (63 correct predictions), it wins — its deeply proven pattern takes priority over SVP.</a:t>
            </a:r>
            <a:endParaRPr lang="en-US" sz="1100" dirty="0"/>
          </a:p>
        </p:txBody>
      </p:sp>
      <p:sp>
        <p:nvSpPr>
          <p:cNvPr id="20" name="Text 18"/>
          <p:cNvSpPr/>
          <p:nvPr/>
        </p:nvSpPr>
        <p:spPr>
          <a:xfrm>
            <a:off x="4846320" y="2834640"/>
            <a:ext cx="3886200" cy="228600"/>
          </a:xfrm>
          <a:prstGeom prst="rect">
            <a:avLst/>
          </a:prstGeom>
          <a:noFill/>
          <a:ln/>
        </p:spPr>
        <p:txBody>
          <a:bodyPr wrap="square" rtlCol="0" anchor="ctr"/>
          <a:lstStyle/>
          <a:p>
            <a:pPr indent="0" marL="0">
              <a:buNone/>
            </a:pPr>
            <a:r>
              <a:rPr lang="en-US" sz="1100" b="1" dirty="0">
                <a:solidFill>
                  <a:srgbClr val="06D6A0"/>
                </a:solidFill>
                <a:latin typeface="Calibri" pitchFamily="34" charset="0"/>
                <a:ea typeface="Calibri" pitchFamily="34" charset="-122"/>
                <a:cs typeface="Calibri" pitchFamily="34" charset="-120"/>
              </a:rPr>
              <a:t>Why it makes sense</a:t>
            </a:r>
            <a:endParaRPr lang="en-US" sz="1100" dirty="0"/>
          </a:p>
        </p:txBody>
      </p:sp>
      <p:sp>
        <p:nvSpPr>
          <p:cNvPr id="21" name="Text 19"/>
          <p:cNvSpPr/>
          <p:nvPr/>
        </p:nvSpPr>
        <p:spPr>
          <a:xfrm>
            <a:off x="4846320" y="3063240"/>
            <a:ext cx="3886200" cy="914400"/>
          </a:xfrm>
          <a:prstGeom prst="rect">
            <a:avLst/>
          </a:prstGeom>
          <a:noFill/>
          <a:ln/>
        </p:spPr>
        <p:txBody>
          <a:bodyPr wrap="square" rtlCol="0" anchor="ctr"/>
          <a:lstStyle/>
          <a:p>
            <a:pPr indent="0" marL="0">
              <a:buNone/>
            </a:pPr>
            <a:r>
              <a:rPr lang="en-US" sz="1100" dirty="0">
                <a:solidFill>
                  <a:srgbClr val="E8F4FD"/>
                </a:solidFill>
                <a:latin typeface="Calibri" pitchFamily="34" charset="0"/>
                <a:ea typeface="Calibri" pitchFamily="34" charset="-122"/>
                <a:cs typeface="Calibri" pitchFamily="34" charset="-120"/>
              </a:rPr>
              <a:t>A VTAGE entry at conf_max=63 has survived 63+ correct predictions under varying history conditions. This is a stronger proof of correctness than SVP's simpler stride match, especially for complex instructions.</a:t>
            </a:r>
            <a:endParaRPr lang="en-US" sz="1100" dirty="0"/>
          </a:p>
        </p:txBody>
      </p:sp>
      <p:sp>
        <p:nvSpPr>
          <p:cNvPr id="22" name="Text 20"/>
          <p:cNvSpPr/>
          <p:nvPr/>
        </p:nvSpPr>
        <p:spPr>
          <a:xfrm>
            <a:off x="4846320" y="4050792"/>
            <a:ext cx="3886200" cy="228600"/>
          </a:xfrm>
          <a:prstGeom prst="rect">
            <a:avLst/>
          </a:prstGeom>
          <a:noFill/>
          <a:ln/>
        </p:spPr>
        <p:txBody>
          <a:bodyPr wrap="square" rtlCol="0" anchor="ctr"/>
          <a:lstStyle/>
          <a:p>
            <a:pPr indent="0" marL="0">
              <a:buNone/>
            </a:pPr>
            <a:r>
              <a:rPr lang="en-US" sz="1100" b="1" dirty="0">
                <a:solidFill>
                  <a:srgbClr val="FF6B35"/>
                </a:solidFill>
                <a:latin typeface="Calibri" pitchFamily="34" charset="0"/>
                <a:ea typeface="Calibri" pitchFamily="34" charset="-122"/>
                <a:cs typeface="Calibri" pitchFamily="34" charset="-120"/>
              </a:rPr>
              <a:t>Trade-off</a:t>
            </a:r>
            <a:endParaRPr lang="en-US" sz="1100" dirty="0"/>
          </a:p>
        </p:txBody>
      </p:sp>
      <p:sp>
        <p:nvSpPr>
          <p:cNvPr id="23" name="Text 21"/>
          <p:cNvSpPr/>
          <p:nvPr/>
        </p:nvSpPr>
        <p:spPr>
          <a:xfrm>
            <a:off x="4846320" y="4270248"/>
            <a:ext cx="3886200" cy="594360"/>
          </a:xfrm>
          <a:prstGeom prst="rect">
            <a:avLst/>
          </a:prstGeom>
          <a:noFill/>
          <a:ln/>
        </p:spPr>
        <p:txBody>
          <a:bodyPr wrap="square" rtlCol="0" anchor="ctr"/>
          <a:lstStyle/>
          <a:p>
            <a:pPr indent="0" marL="0">
              <a:buNone/>
            </a:pPr>
            <a:r>
              <a:rPr lang="en-US" sz="1050" dirty="0">
                <a:solidFill>
                  <a:srgbClr val="8EACC4"/>
                </a:solidFill>
                <a:latin typeface="Calibri" pitchFamily="34" charset="0"/>
                <a:ea typeface="Calibri" pitchFamily="34" charset="-122"/>
                <a:cs typeface="Calibri" pitchFamily="34" charset="-120"/>
              </a:rPr>
              <a:t>Slightly more confident mispredictions from VTAGE on chaotic workloads, mitigated by the high confidence bar and asymmetric penalty.</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D2137"/>
          </a:solidFill>
          <a:ln w="12700">
            <a:solidFill>
              <a:srgbClr val="0D2137"/>
            </a:solidFill>
            <a:prstDash val="solid"/>
          </a:ln>
        </p:spPr>
      </p:sp>
      <p:sp>
        <p:nvSpPr>
          <p:cNvPr id="3" name="Text 1"/>
          <p:cNvSpPr/>
          <p:nvPr/>
        </p:nvSpPr>
        <p:spPr>
          <a:xfrm>
            <a:off x="365760" y="73152"/>
            <a:ext cx="8229600" cy="36576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Inspiration from EVES — What We Borrowed &amp; What We Changed</a:t>
            </a:r>
            <a:endParaRPr lang="en-US" sz="2200" dirty="0"/>
          </a:p>
        </p:txBody>
      </p:sp>
      <p:sp>
        <p:nvSpPr>
          <p:cNvPr id="4" name="Shape 2"/>
          <p:cNvSpPr/>
          <p:nvPr/>
        </p:nvSpPr>
        <p:spPr>
          <a:xfrm>
            <a:off x="365760" y="502920"/>
            <a:ext cx="3200400" cy="36576"/>
          </a:xfrm>
          <a:prstGeom prst="rect">
            <a:avLst/>
          </a:prstGeom>
          <a:solidFill>
            <a:srgbClr val="00B4D8"/>
          </a:solidFill>
          <a:ln w="12700">
            <a:solidFill>
              <a:srgbClr val="00B4D8"/>
            </a:solidFill>
            <a:prstDash val="solid"/>
          </a:ln>
        </p:spPr>
      </p:sp>
      <p:sp>
        <p:nvSpPr>
          <p:cNvPr id="5" name="Shape 3"/>
          <p:cNvSpPr/>
          <p:nvPr/>
        </p:nvSpPr>
        <p:spPr>
          <a:xfrm>
            <a:off x="228600" y="621792"/>
            <a:ext cx="2743200" cy="4343400"/>
          </a:xfrm>
          <a:prstGeom prst="rect">
            <a:avLst/>
          </a:prstGeom>
          <a:solidFill>
            <a:srgbClr val="0D4F8B"/>
          </a:solidFill>
          <a:ln w="19050">
            <a:solidFill>
              <a:srgbClr val="00B4D8"/>
            </a:solidFill>
            <a:prstDash val="solid"/>
          </a:ln>
        </p:spPr>
      </p:sp>
      <p:sp>
        <p:nvSpPr>
          <p:cNvPr id="6" name="Shape 4"/>
          <p:cNvSpPr/>
          <p:nvPr/>
        </p:nvSpPr>
        <p:spPr>
          <a:xfrm>
            <a:off x="228600" y="621792"/>
            <a:ext cx="2743200" cy="347472"/>
          </a:xfrm>
          <a:prstGeom prst="rect">
            <a:avLst/>
          </a:prstGeom>
          <a:solidFill>
            <a:srgbClr val="00B4D8"/>
          </a:solidFill>
          <a:ln w="12700">
            <a:solidFill>
              <a:srgbClr val="00B4D8"/>
            </a:solidFill>
            <a:prstDash val="solid"/>
          </a:ln>
        </p:spPr>
      </p:sp>
      <p:sp>
        <p:nvSpPr>
          <p:cNvPr id="7" name="Text 5"/>
          <p:cNvSpPr/>
          <p:nvPr/>
        </p:nvSpPr>
        <p:spPr>
          <a:xfrm>
            <a:off x="292608" y="640080"/>
            <a:ext cx="2615184" cy="301752"/>
          </a:xfrm>
          <a:prstGeom prst="rect">
            <a:avLst/>
          </a:prstGeom>
          <a:noFill/>
          <a:ln/>
        </p:spPr>
        <p:txBody>
          <a:bodyPr wrap="square"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Borrowed from Seznec's EVES</a:t>
            </a:r>
            <a:endParaRPr lang="en-US" sz="1150" dirty="0"/>
          </a:p>
        </p:txBody>
      </p:sp>
      <p:sp>
        <p:nvSpPr>
          <p:cNvPr id="8" name="Text 6"/>
          <p:cNvSpPr/>
          <p:nvPr/>
        </p:nvSpPr>
        <p:spPr>
          <a:xfrm>
            <a:off x="338328" y="1042416"/>
            <a:ext cx="2523744" cy="228600"/>
          </a:xfrm>
          <a:prstGeom prst="rect">
            <a:avLst/>
          </a:prstGeom>
          <a:noFill/>
          <a:ln/>
        </p:spPr>
        <p:txBody>
          <a:bodyPr wrap="square" rtlCol="0" anchor="ctr"/>
          <a:lstStyle/>
          <a:p>
            <a:pPr indent="0" marL="0">
              <a:buNone/>
            </a:pPr>
            <a:r>
              <a:rPr lang="en-US" sz="1100" b="1" dirty="0">
                <a:solidFill>
                  <a:srgbClr val="00B4D8"/>
                </a:solidFill>
                <a:latin typeface="Calibri" pitchFamily="34" charset="0"/>
                <a:ea typeface="Calibri" pitchFamily="34" charset="-122"/>
                <a:cs typeface="Calibri" pitchFamily="34" charset="-120"/>
              </a:rPr>
              <a:t>Stochastic Confidence Training</a:t>
            </a:r>
            <a:endParaRPr lang="en-US" sz="1100" dirty="0"/>
          </a:p>
        </p:txBody>
      </p:sp>
      <p:sp>
        <p:nvSpPr>
          <p:cNvPr id="9" name="Text 7"/>
          <p:cNvSpPr/>
          <p:nvPr/>
        </p:nvSpPr>
        <p:spPr>
          <a:xfrm>
            <a:off x="338328" y="1280160"/>
            <a:ext cx="2523744" cy="822960"/>
          </a:xfrm>
          <a:prstGeom prst="rect">
            <a:avLst/>
          </a:prstGeom>
          <a:noFill/>
          <a:ln/>
        </p:spPr>
        <p:txBody>
          <a:bodyPr wrap="square" rtlCol="0" anchor="ctr"/>
          <a:lstStyle/>
          <a:p>
            <a:pPr indent="0" marL="0">
              <a:buNone/>
            </a:pPr>
            <a:r>
              <a:rPr lang="en-US" sz="1000" dirty="0">
                <a:solidFill>
                  <a:srgbClr val="E8F4FD"/>
                </a:solidFill>
                <a:latin typeface="Calibri" pitchFamily="34" charset="0"/>
                <a:ea typeface="Calibri" pitchFamily="34" charset="-122"/>
                <a:cs typeface="Calibri" pitchFamily="34" charset="-120"/>
              </a:rPr>
              <a:t>Rather than always incrementing confidence on a correct prediction, we apply a random gate — loads/FP at 1-in-2, ALU at 1-in-8. This forces entries to prove long-term stability, not just a lucky streak.</a:t>
            </a:r>
            <a:endParaRPr lang="en-US" sz="1000" dirty="0"/>
          </a:p>
        </p:txBody>
      </p:sp>
      <p:sp>
        <p:nvSpPr>
          <p:cNvPr id="10" name="Text 8"/>
          <p:cNvSpPr/>
          <p:nvPr/>
        </p:nvSpPr>
        <p:spPr>
          <a:xfrm>
            <a:off x="338328" y="2304288"/>
            <a:ext cx="2523744" cy="228600"/>
          </a:xfrm>
          <a:prstGeom prst="rect">
            <a:avLst/>
          </a:prstGeom>
          <a:noFill/>
          <a:ln/>
        </p:spPr>
        <p:txBody>
          <a:bodyPr wrap="square" rtlCol="0" anchor="ctr"/>
          <a:lstStyle/>
          <a:p>
            <a:pPr indent="0" marL="0">
              <a:buNone/>
            </a:pPr>
            <a:r>
              <a:rPr lang="en-US" sz="1100" b="1" dirty="0">
                <a:solidFill>
                  <a:srgbClr val="00B4D8"/>
                </a:solidFill>
                <a:latin typeface="Calibri" pitchFamily="34" charset="0"/>
                <a:ea typeface="Calibri" pitchFamily="34" charset="-122"/>
                <a:cs typeface="Calibri" pitchFamily="34" charset="-120"/>
              </a:rPr>
              <a:t>Soft Max-Confidence Penalty</a:t>
            </a:r>
            <a:endParaRPr lang="en-US" sz="1100" dirty="0"/>
          </a:p>
        </p:txBody>
      </p:sp>
      <p:sp>
        <p:nvSpPr>
          <p:cNvPr id="11" name="Text 9"/>
          <p:cNvSpPr/>
          <p:nvPr/>
        </p:nvSpPr>
        <p:spPr>
          <a:xfrm>
            <a:off x="338328" y="2542032"/>
            <a:ext cx="2523744" cy="822960"/>
          </a:xfrm>
          <a:prstGeom prst="rect">
            <a:avLst/>
          </a:prstGeom>
          <a:noFill/>
          <a:ln/>
        </p:spPr>
        <p:txBody>
          <a:bodyPr wrap="square" rtlCol="0" anchor="ctr"/>
          <a:lstStyle/>
          <a:p>
            <a:pPr indent="0" marL="0">
              <a:buNone/>
            </a:pPr>
            <a:r>
              <a:rPr lang="en-US" sz="1000" dirty="0">
                <a:solidFill>
                  <a:srgbClr val="E8F4FD"/>
                </a:solidFill>
                <a:latin typeface="Calibri" pitchFamily="34" charset="0"/>
                <a:ea typeface="Calibri" pitchFamily="34" charset="-122"/>
                <a:cs typeface="Calibri" pitchFamily="34" charset="-120"/>
              </a:rPr>
              <a:t>When a fully-confident entry mispredicts, instead of wiping it to zero, confidence is docked by a fraction. The entry keeps partial credit and can recover without starting over.</a:t>
            </a:r>
            <a:endParaRPr lang="en-US" sz="1000" dirty="0"/>
          </a:p>
        </p:txBody>
      </p:sp>
      <p:sp>
        <p:nvSpPr>
          <p:cNvPr id="12" name="Text 10"/>
          <p:cNvSpPr/>
          <p:nvPr/>
        </p:nvSpPr>
        <p:spPr>
          <a:xfrm>
            <a:off x="338328" y="3566160"/>
            <a:ext cx="2523744" cy="228600"/>
          </a:xfrm>
          <a:prstGeom prst="rect">
            <a:avLst/>
          </a:prstGeom>
          <a:noFill/>
          <a:ln/>
        </p:spPr>
        <p:txBody>
          <a:bodyPr wrap="square" rtlCol="0" anchor="ctr"/>
          <a:lstStyle/>
          <a:p>
            <a:pPr indent="0" marL="0">
              <a:buNone/>
            </a:pPr>
            <a:r>
              <a:rPr lang="en-US" sz="1100" b="1" dirty="0">
                <a:solidFill>
                  <a:srgbClr val="00B4D8"/>
                </a:solidFill>
                <a:latin typeface="Calibri" pitchFamily="34" charset="0"/>
                <a:ea typeface="Calibri" pitchFamily="34" charset="-122"/>
                <a:cs typeface="Calibri" pitchFamily="34" charset="-120"/>
              </a:rPr>
              <a:t>TICK-Based Usefulness Decay</a:t>
            </a:r>
            <a:endParaRPr lang="en-US" sz="1100" dirty="0"/>
          </a:p>
        </p:txBody>
      </p:sp>
      <p:sp>
        <p:nvSpPr>
          <p:cNvPr id="13" name="Text 11"/>
          <p:cNvSpPr/>
          <p:nvPr/>
        </p:nvSpPr>
        <p:spPr>
          <a:xfrm>
            <a:off x="338328" y="3803904"/>
            <a:ext cx="2523744" cy="822960"/>
          </a:xfrm>
          <a:prstGeom prst="rect">
            <a:avLst/>
          </a:prstGeom>
          <a:noFill/>
          <a:ln/>
        </p:spPr>
        <p:txBody>
          <a:bodyPr wrap="square" rtlCol="0" anchor="ctr"/>
          <a:lstStyle/>
          <a:p>
            <a:pPr indent="0" marL="0">
              <a:buNone/>
            </a:pPr>
            <a:r>
              <a:rPr lang="en-US" sz="1000" dirty="0">
                <a:solidFill>
                  <a:srgbClr val="E8F4FD"/>
                </a:solidFill>
                <a:latin typeface="Calibri" pitchFamily="34" charset="0"/>
                <a:ea typeface="Calibri" pitchFamily="34" charset="-122"/>
                <a:cs typeface="Calibri" pitchFamily="34" charset="-120"/>
              </a:rPr>
              <a:t>A global counter accumulates allocation pressure. When it overflows, all entries have their usefulness bits decremented, evicting stale entries and freeing space for new patterns.</a:t>
            </a:r>
            <a:endParaRPr lang="en-US" sz="1000" dirty="0"/>
          </a:p>
        </p:txBody>
      </p:sp>
      <p:sp>
        <p:nvSpPr>
          <p:cNvPr id="14" name="Shape 12"/>
          <p:cNvSpPr/>
          <p:nvPr/>
        </p:nvSpPr>
        <p:spPr>
          <a:xfrm>
            <a:off x="3154680" y="621792"/>
            <a:ext cx="2743200" cy="4343400"/>
          </a:xfrm>
          <a:prstGeom prst="rect">
            <a:avLst/>
          </a:prstGeom>
          <a:solidFill>
            <a:srgbClr val="0D2E1A"/>
          </a:solidFill>
          <a:ln w="19050">
            <a:solidFill>
              <a:srgbClr val="06D6A0"/>
            </a:solidFill>
            <a:prstDash val="solid"/>
          </a:ln>
        </p:spPr>
      </p:sp>
      <p:sp>
        <p:nvSpPr>
          <p:cNvPr id="15" name="Shape 13"/>
          <p:cNvSpPr/>
          <p:nvPr/>
        </p:nvSpPr>
        <p:spPr>
          <a:xfrm>
            <a:off x="3154680" y="621792"/>
            <a:ext cx="2743200" cy="347472"/>
          </a:xfrm>
          <a:prstGeom prst="rect">
            <a:avLst/>
          </a:prstGeom>
          <a:solidFill>
            <a:srgbClr val="06D6A0"/>
          </a:solidFill>
          <a:ln w="12700">
            <a:solidFill>
              <a:srgbClr val="06D6A0"/>
            </a:solidFill>
            <a:prstDash val="solid"/>
          </a:ln>
        </p:spPr>
      </p:sp>
      <p:sp>
        <p:nvSpPr>
          <p:cNvPr id="16" name="Text 14"/>
          <p:cNvSpPr/>
          <p:nvPr/>
        </p:nvSpPr>
        <p:spPr>
          <a:xfrm>
            <a:off x="3218688" y="640080"/>
            <a:ext cx="2615184" cy="301752"/>
          </a:xfrm>
          <a:prstGeom prst="rect">
            <a:avLst/>
          </a:prstGeom>
          <a:noFill/>
          <a:ln/>
        </p:spPr>
        <p:txBody>
          <a:bodyPr wrap="square" rtlCol="0" anchor="ctr"/>
          <a:lstStyle/>
          <a:p>
            <a:pPr indent="0" marL="0">
              <a:buNone/>
            </a:pPr>
            <a:r>
              <a:rPr lang="en-US" sz="1150" b="1" dirty="0">
                <a:solidFill>
                  <a:srgbClr val="0A1628"/>
                </a:solidFill>
                <a:latin typeface="Calibri" pitchFamily="34" charset="0"/>
                <a:ea typeface="Calibri" pitchFamily="34" charset="-122"/>
                <a:cs typeface="Calibri" pitchFamily="34" charset="-120"/>
              </a:rPr>
              <a:t>Our Divergences &amp; Innovations</a:t>
            </a:r>
            <a:endParaRPr lang="en-US" sz="1150" dirty="0"/>
          </a:p>
        </p:txBody>
      </p:sp>
      <p:sp>
        <p:nvSpPr>
          <p:cNvPr id="17" name="Text 15"/>
          <p:cNvSpPr/>
          <p:nvPr/>
        </p:nvSpPr>
        <p:spPr>
          <a:xfrm>
            <a:off x="3264408" y="1042416"/>
            <a:ext cx="2523744" cy="228600"/>
          </a:xfrm>
          <a:prstGeom prst="rect">
            <a:avLst/>
          </a:prstGeom>
          <a:noFill/>
          <a:ln/>
        </p:spPr>
        <p:txBody>
          <a:bodyPr wrap="square" rtlCol="0" anchor="ctr"/>
          <a:lstStyle/>
          <a:p>
            <a:pPr indent="0" marL="0">
              <a:buNone/>
            </a:pPr>
            <a:r>
              <a:rPr lang="en-US" sz="1100" b="1" dirty="0">
                <a:solidFill>
                  <a:srgbClr val="06D6A0"/>
                </a:solidFill>
                <a:latin typeface="Calibri" pitchFamily="34" charset="0"/>
                <a:ea typeface="Calibri" pitchFamily="34" charset="-122"/>
                <a:cs typeface="Calibri" pitchFamily="34" charset="-120"/>
              </a:rPr>
              <a:t>Provider / Alternate Architecture</a:t>
            </a:r>
            <a:endParaRPr lang="en-US" sz="1100" dirty="0"/>
          </a:p>
        </p:txBody>
      </p:sp>
      <p:sp>
        <p:nvSpPr>
          <p:cNvPr id="18" name="Text 16"/>
          <p:cNvSpPr/>
          <p:nvPr/>
        </p:nvSpPr>
        <p:spPr>
          <a:xfrm>
            <a:off x="3264408" y="1280160"/>
            <a:ext cx="2523744" cy="822960"/>
          </a:xfrm>
          <a:prstGeom prst="rect">
            <a:avLst/>
          </a:prstGeom>
          <a:noFill/>
          <a:ln/>
        </p:spPr>
        <p:txBody>
          <a:bodyPr wrap="square" rtlCol="0" anchor="ctr"/>
          <a:lstStyle/>
          <a:p>
            <a:pPr indent="0" marL="0">
              <a:buNone/>
            </a:pPr>
            <a:r>
              <a:rPr lang="en-US" sz="1000" dirty="0">
                <a:solidFill>
                  <a:srgbClr val="E8F4FD"/>
                </a:solidFill>
                <a:latin typeface="Calibri" pitchFamily="34" charset="0"/>
                <a:ea typeface="Calibri" pitchFamily="34" charset="-122"/>
                <a:cs typeface="Calibri" pitchFamily="34" charset="-120"/>
              </a:rPr>
              <a:t>We maintain both a primary provider (longest history hit) and an alternate (second-longest hit). The alternate acts as a sanity check: we only allocate a new entry when both the provider AND alternate miss.</a:t>
            </a:r>
            <a:endParaRPr lang="en-US" sz="1000" dirty="0"/>
          </a:p>
        </p:txBody>
      </p:sp>
      <p:sp>
        <p:nvSpPr>
          <p:cNvPr id="19" name="Text 17"/>
          <p:cNvSpPr/>
          <p:nvPr/>
        </p:nvSpPr>
        <p:spPr>
          <a:xfrm>
            <a:off x="3264408" y="2304288"/>
            <a:ext cx="2523744" cy="228600"/>
          </a:xfrm>
          <a:prstGeom prst="rect">
            <a:avLst/>
          </a:prstGeom>
          <a:noFill/>
          <a:ln/>
        </p:spPr>
        <p:txBody>
          <a:bodyPr wrap="square" rtlCol="0" anchor="ctr"/>
          <a:lstStyle/>
          <a:p>
            <a:pPr indent="0" marL="0">
              <a:buNone/>
            </a:pPr>
            <a:r>
              <a:rPr lang="en-US" sz="1100" b="1" dirty="0">
                <a:solidFill>
                  <a:srgbClr val="06D6A0"/>
                </a:solidFill>
                <a:latin typeface="Calibri" pitchFamily="34" charset="0"/>
                <a:ea typeface="Calibri" pitchFamily="34" charset="-122"/>
                <a:cs typeface="Calibri" pitchFamily="34" charset="-120"/>
              </a:rPr>
              <a:t>Anti-Aliasing SVP Shield</a:t>
            </a:r>
            <a:endParaRPr lang="en-US" sz="1100" dirty="0"/>
          </a:p>
        </p:txBody>
      </p:sp>
      <p:sp>
        <p:nvSpPr>
          <p:cNvPr id="20" name="Text 18"/>
          <p:cNvSpPr/>
          <p:nvPr/>
        </p:nvSpPr>
        <p:spPr>
          <a:xfrm>
            <a:off x="3264408" y="2542032"/>
            <a:ext cx="2523744" cy="822960"/>
          </a:xfrm>
          <a:prstGeom prst="rect">
            <a:avLst/>
          </a:prstGeom>
          <a:noFill/>
          <a:ln/>
        </p:spPr>
        <p:txBody>
          <a:bodyPr wrap="square" rtlCol="0" anchor="ctr"/>
          <a:lstStyle/>
          <a:p>
            <a:pPr indent="0" marL="0">
              <a:buNone/>
            </a:pPr>
            <a:r>
              <a:rPr lang="en-US" sz="1000" dirty="0">
                <a:solidFill>
                  <a:srgbClr val="E8F4FD"/>
                </a:solidFill>
                <a:latin typeface="Calibri" pitchFamily="34" charset="0"/>
                <a:ea typeface="Calibri" pitchFamily="34" charset="-122"/>
                <a:cs typeface="Calibri" pitchFamily="34" charset="-120"/>
              </a:rPr>
              <a:t>When VTAGE already confidently owns an instruction at maximum confidence, SVP is blocked from replacing that PC's entry. This prevents SVP from evicting useful stride data that VTAGE no longer needs help with.</a:t>
            </a:r>
            <a:endParaRPr lang="en-US" sz="1000" dirty="0"/>
          </a:p>
        </p:txBody>
      </p:sp>
      <p:sp>
        <p:nvSpPr>
          <p:cNvPr id="21" name="Text 19"/>
          <p:cNvSpPr/>
          <p:nvPr/>
        </p:nvSpPr>
        <p:spPr>
          <a:xfrm>
            <a:off x="3264408" y="3566160"/>
            <a:ext cx="2523744" cy="228600"/>
          </a:xfrm>
          <a:prstGeom prst="rect">
            <a:avLst/>
          </a:prstGeom>
          <a:noFill/>
          <a:ln/>
        </p:spPr>
        <p:txBody>
          <a:bodyPr wrap="square" rtlCol="0" anchor="ctr"/>
          <a:lstStyle/>
          <a:p>
            <a:pPr indent="0" marL="0">
              <a:buNone/>
            </a:pPr>
            <a:r>
              <a:rPr lang="en-US" sz="1100" b="1" dirty="0">
                <a:solidFill>
                  <a:srgbClr val="06D6A0"/>
                </a:solidFill>
                <a:latin typeface="Calibri" pitchFamily="34" charset="0"/>
                <a:ea typeface="Calibri" pitchFamily="34" charset="-122"/>
                <a:cs typeface="Calibri" pitchFamily="34" charset="-120"/>
              </a:rPr>
              <a:t>Asymmetric Penalty by Instruction Type</a:t>
            </a:r>
            <a:endParaRPr lang="en-US" sz="1100" dirty="0"/>
          </a:p>
        </p:txBody>
      </p:sp>
      <p:sp>
        <p:nvSpPr>
          <p:cNvPr id="22" name="Text 20"/>
          <p:cNvSpPr/>
          <p:nvPr/>
        </p:nvSpPr>
        <p:spPr>
          <a:xfrm>
            <a:off x="3264408" y="3803904"/>
            <a:ext cx="2523744" cy="822960"/>
          </a:xfrm>
          <a:prstGeom prst="rect">
            <a:avLst/>
          </a:prstGeom>
          <a:noFill/>
          <a:ln/>
        </p:spPr>
        <p:txBody>
          <a:bodyPr wrap="square" rtlCol="0" anchor="ctr"/>
          <a:lstStyle/>
          <a:p>
            <a:pPr indent="0" marL="0">
              <a:buNone/>
            </a:pPr>
            <a:r>
              <a:rPr lang="en-US" sz="1000" dirty="0">
                <a:solidFill>
                  <a:srgbClr val="E8F4FD"/>
                </a:solidFill>
                <a:latin typeface="Calibri" pitchFamily="34" charset="0"/>
                <a:ea typeface="Calibri" pitchFamily="34" charset="-122"/>
                <a:cs typeface="Calibri" pitchFamily="34" charset="-120"/>
              </a:rPr>
              <a:t>Memory and FP instructions receive a graduated confidence dock on misprediction, while generic ALU instructions are fully reset. Memory patterns are harder to displace because they tend to re-emerge.</a:t>
            </a:r>
            <a:endParaRPr lang="en-US" sz="1000" dirty="0"/>
          </a:p>
        </p:txBody>
      </p:sp>
      <p:sp>
        <p:nvSpPr>
          <p:cNvPr id="23" name="Shape 21"/>
          <p:cNvSpPr/>
          <p:nvPr/>
        </p:nvSpPr>
        <p:spPr>
          <a:xfrm>
            <a:off x="6080760" y="621792"/>
            <a:ext cx="2743200" cy="4343400"/>
          </a:xfrm>
          <a:prstGeom prst="rect">
            <a:avLst/>
          </a:prstGeom>
          <a:solidFill>
            <a:srgbClr val="2A1A0A"/>
          </a:solidFill>
          <a:ln w="19050">
            <a:solidFill>
              <a:srgbClr val="FFD166"/>
            </a:solidFill>
            <a:prstDash val="solid"/>
          </a:ln>
        </p:spPr>
      </p:sp>
      <p:sp>
        <p:nvSpPr>
          <p:cNvPr id="24" name="Shape 22"/>
          <p:cNvSpPr/>
          <p:nvPr/>
        </p:nvSpPr>
        <p:spPr>
          <a:xfrm>
            <a:off x="6080760" y="621792"/>
            <a:ext cx="2743200" cy="347472"/>
          </a:xfrm>
          <a:prstGeom prst="rect">
            <a:avLst/>
          </a:prstGeom>
          <a:solidFill>
            <a:srgbClr val="FFD166"/>
          </a:solidFill>
          <a:ln w="12700">
            <a:solidFill>
              <a:srgbClr val="FFD166"/>
            </a:solidFill>
            <a:prstDash val="solid"/>
          </a:ln>
        </p:spPr>
      </p:sp>
      <p:sp>
        <p:nvSpPr>
          <p:cNvPr id="25" name="Text 23"/>
          <p:cNvSpPr/>
          <p:nvPr/>
        </p:nvSpPr>
        <p:spPr>
          <a:xfrm>
            <a:off x="6144768" y="640080"/>
            <a:ext cx="2615184" cy="301752"/>
          </a:xfrm>
          <a:prstGeom prst="rect">
            <a:avLst/>
          </a:prstGeom>
          <a:noFill/>
          <a:ln/>
        </p:spPr>
        <p:txBody>
          <a:bodyPr wrap="square" rtlCol="0" anchor="ctr"/>
          <a:lstStyle/>
          <a:p>
            <a:pPr indent="0" marL="0">
              <a:buNone/>
            </a:pPr>
            <a:r>
              <a:rPr lang="en-US" sz="1150" b="1" dirty="0">
                <a:solidFill>
                  <a:srgbClr val="0A1628"/>
                </a:solidFill>
                <a:latin typeface="Calibri" pitchFamily="34" charset="0"/>
                <a:ea typeface="Calibri" pitchFamily="34" charset="-122"/>
                <a:cs typeface="Calibri" pitchFamily="34" charset="-120"/>
              </a:rPr>
              <a:t>Configuration Innovations</a:t>
            </a:r>
            <a:endParaRPr lang="en-US" sz="1150" dirty="0"/>
          </a:p>
        </p:txBody>
      </p:sp>
      <p:sp>
        <p:nvSpPr>
          <p:cNvPr id="26" name="Text 24"/>
          <p:cNvSpPr/>
          <p:nvPr/>
        </p:nvSpPr>
        <p:spPr>
          <a:xfrm>
            <a:off x="6190488" y="1042416"/>
            <a:ext cx="2523744" cy="228600"/>
          </a:xfrm>
          <a:prstGeom prst="rect">
            <a:avLst/>
          </a:prstGeom>
          <a:noFill/>
          <a:ln/>
        </p:spPr>
        <p:txBody>
          <a:bodyPr wrap="square" rtlCol="0" anchor="ctr"/>
          <a:lstStyle/>
          <a:p>
            <a:pPr indent="0" marL="0">
              <a:buNone/>
            </a:pPr>
            <a:r>
              <a:rPr lang="en-US" sz="1100" b="1" dirty="0">
                <a:solidFill>
                  <a:srgbClr val="FFD166"/>
                </a:solidFill>
                <a:latin typeface="Calibri" pitchFamily="34" charset="0"/>
                <a:ea typeface="Calibri" pitchFamily="34" charset="-122"/>
                <a:cs typeface="Calibri" pitchFamily="34" charset="-120"/>
              </a:rPr>
              <a:t>Decoupled Confidence Ceilings</a:t>
            </a:r>
            <a:endParaRPr lang="en-US" sz="1100" dirty="0"/>
          </a:p>
        </p:txBody>
      </p:sp>
      <p:sp>
        <p:nvSpPr>
          <p:cNvPr id="27" name="Text 25"/>
          <p:cNvSpPr/>
          <p:nvPr/>
        </p:nvSpPr>
        <p:spPr>
          <a:xfrm>
            <a:off x="6190488" y="1280160"/>
            <a:ext cx="2523744" cy="822960"/>
          </a:xfrm>
          <a:prstGeom prst="rect">
            <a:avLst/>
          </a:prstGeom>
          <a:noFill/>
          <a:ln/>
        </p:spPr>
        <p:txBody>
          <a:bodyPr wrap="square" rtlCol="0" anchor="ctr"/>
          <a:lstStyle/>
          <a:p>
            <a:pPr indent="0" marL="0">
              <a:buNone/>
            </a:pPr>
            <a:r>
              <a:rPr lang="en-US" sz="1000" dirty="0">
                <a:solidFill>
                  <a:srgbClr val="E8F4FD"/>
                </a:solidFill>
                <a:latin typeface="Calibri" pitchFamily="34" charset="0"/>
                <a:ea typeface="Calibri" pitchFamily="34" charset="-122"/>
                <a:cs typeface="Calibri" pitchFamily="34" charset="-120"/>
              </a:rPr>
              <a:t>SVP and VTAGE operate with different confidence maxima (47 vs 63). SVP fires sooner for structured workloads; VTAGE requires deeper proof before overriding, dramatically reducing false confident predictions.</a:t>
            </a:r>
            <a:endParaRPr lang="en-US" sz="1000" dirty="0"/>
          </a:p>
        </p:txBody>
      </p:sp>
      <p:sp>
        <p:nvSpPr>
          <p:cNvPr id="28" name="Text 26"/>
          <p:cNvSpPr/>
          <p:nvPr/>
        </p:nvSpPr>
        <p:spPr>
          <a:xfrm>
            <a:off x="6190488" y="2304288"/>
            <a:ext cx="2523744" cy="228600"/>
          </a:xfrm>
          <a:prstGeom prst="rect">
            <a:avLst/>
          </a:prstGeom>
          <a:noFill/>
          <a:ln/>
        </p:spPr>
        <p:txBody>
          <a:bodyPr wrap="square" rtlCol="0" anchor="ctr"/>
          <a:lstStyle/>
          <a:p>
            <a:pPr indent="0" marL="0">
              <a:buNone/>
            </a:pPr>
            <a:r>
              <a:rPr lang="en-US" sz="1100" b="1" dirty="0">
                <a:solidFill>
                  <a:srgbClr val="FFD166"/>
                </a:solidFill>
                <a:latin typeface="Calibri" pitchFamily="34" charset="0"/>
                <a:ea typeface="Calibri" pitchFamily="34" charset="-122"/>
                <a:cs typeface="Calibri" pitchFamily="34" charset="-120"/>
              </a:rPr>
              <a:t>Geometric History Lengths</a:t>
            </a:r>
            <a:endParaRPr lang="en-US" sz="1100" dirty="0"/>
          </a:p>
        </p:txBody>
      </p:sp>
      <p:sp>
        <p:nvSpPr>
          <p:cNvPr id="29" name="Text 27"/>
          <p:cNvSpPr/>
          <p:nvPr/>
        </p:nvSpPr>
        <p:spPr>
          <a:xfrm>
            <a:off x="6190488" y="2542032"/>
            <a:ext cx="2523744" cy="822960"/>
          </a:xfrm>
          <a:prstGeom prst="rect">
            <a:avLst/>
          </a:prstGeom>
          <a:noFill/>
          <a:ln/>
        </p:spPr>
        <p:txBody>
          <a:bodyPr wrap="square" rtlCol="0" anchor="ctr"/>
          <a:lstStyle/>
          <a:p>
            <a:pPr indent="0" marL="0">
              <a:buNone/>
            </a:pPr>
            <a:r>
              <a:rPr lang="en-US" sz="1000" dirty="0">
                <a:solidFill>
                  <a:srgbClr val="E8F4FD"/>
                </a:solidFill>
                <a:latin typeface="Calibri" pitchFamily="34" charset="0"/>
                <a:ea typeface="Calibri" pitchFamily="34" charset="-122"/>
                <a:cs typeface="Calibri" pitchFamily="34" charset="-120"/>
              </a:rPr>
              <a:t>The five VTAGE tables span history lengths from 3 to 48 branches using geometric interpolation, giving the predictor coverage over short inner loops, medium function calls, and longer execution paths simultaneously.</a:t>
            </a:r>
            <a:endParaRPr lang="en-US" sz="1000" dirty="0"/>
          </a:p>
        </p:txBody>
      </p:sp>
      <p:sp>
        <p:nvSpPr>
          <p:cNvPr id="30" name="Text 28"/>
          <p:cNvSpPr/>
          <p:nvPr/>
        </p:nvSpPr>
        <p:spPr>
          <a:xfrm>
            <a:off x="6190488" y="3566160"/>
            <a:ext cx="2523744" cy="228600"/>
          </a:xfrm>
          <a:prstGeom prst="rect">
            <a:avLst/>
          </a:prstGeom>
          <a:noFill/>
          <a:ln/>
        </p:spPr>
        <p:txBody>
          <a:bodyPr wrap="square" rtlCol="0" anchor="ctr"/>
          <a:lstStyle/>
          <a:p>
            <a:pPr indent="0" marL="0">
              <a:buNone/>
            </a:pPr>
            <a:r>
              <a:rPr lang="en-US" sz="1100" b="1" dirty="0">
                <a:solidFill>
                  <a:srgbClr val="FFD166"/>
                </a:solidFill>
                <a:latin typeface="Calibri" pitchFamily="34" charset="0"/>
                <a:ea typeface="Calibri" pitchFamily="34" charset="-122"/>
                <a:cs typeface="Calibri" pitchFamily="34" charset="-120"/>
              </a:rPr>
              <a:t>Instruction-Type-Aware Allocation</a:t>
            </a:r>
            <a:endParaRPr lang="en-US" sz="1100" dirty="0"/>
          </a:p>
        </p:txBody>
      </p:sp>
      <p:sp>
        <p:nvSpPr>
          <p:cNvPr id="31" name="Text 29"/>
          <p:cNvSpPr/>
          <p:nvPr/>
        </p:nvSpPr>
        <p:spPr>
          <a:xfrm>
            <a:off x="6190488" y="3803904"/>
            <a:ext cx="2523744" cy="822960"/>
          </a:xfrm>
          <a:prstGeom prst="rect">
            <a:avLst/>
          </a:prstGeom>
          <a:noFill/>
          <a:ln/>
        </p:spPr>
        <p:txBody>
          <a:bodyPr wrap="square" rtlCol="0" anchor="ctr"/>
          <a:lstStyle/>
          <a:p>
            <a:pPr indent="0" marL="0">
              <a:buNone/>
            </a:pPr>
            <a:r>
              <a:rPr lang="en-US" sz="1000" dirty="0">
                <a:solidFill>
                  <a:srgbClr val="E8F4FD"/>
                </a:solidFill>
                <a:latin typeface="Calibri" pitchFamily="34" charset="0"/>
                <a:ea typeface="Calibri" pitchFamily="34" charset="-122"/>
                <a:cs typeface="Calibri" pitchFamily="34" charset="-120"/>
              </a:rPr>
              <a:t>Loads and FP operations always allocate new VTAGE entries when they miss. Generic ALU is throttled at 1-in-16. This protects table capacity from being flooded by unpredictable integer computations.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D2137"/>
          </a:solidFill>
          <a:ln w="12700">
            <a:solidFill>
              <a:srgbClr val="0D2137"/>
            </a:solidFill>
            <a:prstDash val="solid"/>
          </a:ln>
        </p:spPr>
      </p:sp>
      <p:sp>
        <p:nvSpPr>
          <p:cNvPr id="3" name="Text 1"/>
          <p:cNvSpPr/>
          <p:nvPr/>
        </p:nvSpPr>
        <p:spPr>
          <a:xfrm>
            <a:off x="365760" y="73152"/>
            <a:ext cx="8229600" cy="36576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Championship Configuration</a:t>
            </a:r>
            <a:endParaRPr lang="en-US" sz="2200" dirty="0"/>
          </a:p>
        </p:txBody>
      </p:sp>
      <p:sp>
        <p:nvSpPr>
          <p:cNvPr id="4" name="Shape 2"/>
          <p:cNvSpPr/>
          <p:nvPr/>
        </p:nvSpPr>
        <p:spPr>
          <a:xfrm>
            <a:off x="365760" y="502920"/>
            <a:ext cx="1828800" cy="36576"/>
          </a:xfrm>
          <a:prstGeom prst="rect">
            <a:avLst/>
          </a:prstGeom>
          <a:solidFill>
            <a:srgbClr val="FFD166"/>
          </a:solidFill>
          <a:ln w="12700">
            <a:solidFill>
              <a:srgbClr val="FFD166"/>
            </a:solidFill>
            <a:prstDash val="solid"/>
          </a:ln>
        </p:spPr>
      </p:sp>
      <p:sp>
        <p:nvSpPr>
          <p:cNvPr id="5" name="Shape 3"/>
          <p:cNvSpPr/>
          <p:nvPr/>
        </p:nvSpPr>
        <p:spPr>
          <a:xfrm>
            <a:off x="274320" y="621792"/>
            <a:ext cx="8595360" cy="548640"/>
          </a:xfrm>
          <a:prstGeom prst="rect">
            <a:avLst/>
          </a:prstGeom>
          <a:solidFill>
            <a:srgbClr val="0A0F1A"/>
          </a:solidFill>
          <a:ln w="12700">
            <a:solidFill>
              <a:srgbClr val="00B4D8"/>
            </a:solidFill>
            <a:prstDash val="solid"/>
          </a:ln>
        </p:spPr>
      </p:sp>
      <p:sp>
        <p:nvSpPr>
          <p:cNvPr id="6" name="Text 4"/>
          <p:cNvSpPr/>
          <p:nvPr/>
        </p:nvSpPr>
        <p:spPr>
          <a:xfrm>
            <a:off x="365760" y="649224"/>
            <a:ext cx="8412480" cy="457200"/>
          </a:xfrm>
          <a:prstGeom prst="rect">
            <a:avLst/>
          </a:prstGeom>
          <a:noFill/>
          <a:ln/>
        </p:spPr>
        <p:txBody>
          <a:bodyPr wrap="square" rtlCol="0" anchor="ctr"/>
          <a:lstStyle/>
          <a:p>
            <a:pPr algn="ctr" indent="0" marL="0">
              <a:buNone/>
            </a:pPr>
            <a:r>
              <a:rPr lang="en-US" sz="1600" b="1" dirty="0">
                <a:solidFill>
                  <a:srgbClr val="00F5D4"/>
                </a:solidFill>
                <a:latin typeface="Consolas" pitchFamily="34" charset="0"/>
                <a:ea typeface="Consolas" pitchFamily="34" charset="-122"/>
                <a:cs typeface="Consolas" pitchFamily="34" charset="-120"/>
              </a:rPr>
              <a:t>--vp-vtage=256,10,10,47,5,3,48,63,8,11,1</a:t>
            </a:r>
            <a:endParaRPr lang="en-US" sz="1600" dirty="0"/>
          </a:p>
        </p:txBody>
      </p:sp>
      <p:sp>
        <p:nvSpPr>
          <p:cNvPr id="7" name="Shape 5"/>
          <p:cNvSpPr/>
          <p:nvPr/>
        </p:nvSpPr>
        <p:spPr>
          <a:xfrm>
            <a:off x="274320" y="1261872"/>
            <a:ext cx="4160520" cy="502920"/>
          </a:xfrm>
          <a:prstGeom prst="rect">
            <a:avLst/>
          </a:prstGeom>
          <a:solidFill>
            <a:srgbClr val="0D2137"/>
          </a:solidFill>
          <a:ln w="6350">
            <a:solidFill>
              <a:srgbClr val="1A2A3A"/>
            </a:solidFill>
            <a:prstDash val="solid"/>
          </a:ln>
        </p:spPr>
      </p:sp>
      <p:sp>
        <p:nvSpPr>
          <p:cNvPr id="8" name="Text 6"/>
          <p:cNvSpPr/>
          <p:nvPr/>
        </p:nvSpPr>
        <p:spPr>
          <a:xfrm>
            <a:off x="365760" y="1335024"/>
            <a:ext cx="1371600" cy="347472"/>
          </a:xfrm>
          <a:prstGeom prst="rect">
            <a:avLst/>
          </a:prstGeom>
          <a:noFill/>
          <a:ln/>
        </p:spPr>
        <p:txBody>
          <a:bodyPr wrap="square" rtlCol="0" anchor="ctr"/>
          <a:lstStyle/>
          <a:p>
            <a:pPr indent="0" marL="0">
              <a:buNone/>
            </a:pPr>
            <a:r>
              <a:rPr lang="en-US" sz="1050" b="1" dirty="0">
                <a:solidFill>
                  <a:srgbClr val="00B4D8"/>
                </a:solidFill>
                <a:latin typeface="Calibri" pitchFamily="34" charset="0"/>
                <a:ea typeface="Calibri" pitchFamily="34" charset="-122"/>
                <a:cs typeface="Calibri" pitchFamily="34" charset="-120"/>
              </a:rPr>
              <a:t>VPQ Size</a:t>
            </a:r>
            <a:endParaRPr lang="en-US" sz="1050" dirty="0"/>
          </a:p>
        </p:txBody>
      </p:sp>
      <p:sp>
        <p:nvSpPr>
          <p:cNvPr id="9" name="Text 7"/>
          <p:cNvSpPr/>
          <p:nvPr/>
        </p:nvSpPr>
        <p:spPr>
          <a:xfrm>
            <a:off x="1737360" y="1335024"/>
            <a:ext cx="640080" cy="347472"/>
          </a:xfrm>
          <a:prstGeom prst="rect">
            <a:avLst/>
          </a:prstGeom>
          <a:noFill/>
          <a:ln/>
        </p:spPr>
        <p:txBody>
          <a:bodyPr wrap="square" rtlCol="0" anchor="ctr"/>
          <a:lstStyle/>
          <a:p>
            <a:pPr indent="0" marL="0">
              <a:buNone/>
            </a:pPr>
            <a:r>
              <a:rPr lang="en-US" sz="1300" b="1" dirty="0">
                <a:solidFill>
                  <a:srgbClr val="FFD166"/>
                </a:solidFill>
                <a:latin typeface="Consolas" pitchFamily="34" charset="0"/>
                <a:ea typeface="Consolas" pitchFamily="34" charset="-122"/>
                <a:cs typeface="Consolas" pitchFamily="34" charset="-120"/>
              </a:rPr>
              <a:t>256</a:t>
            </a:r>
            <a:endParaRPr lang="en-US" sz="1300" dirty="0"/>
          </a:p>
        </p:txBody>
      </p:sp>
      <p:sp>
        <p:nvSpPr>
          <p:cNvPr id="10" name="Text 8"/>
          <p:cNvSpPr/>
          <p:nvPr/>
        </p:nvSpPr>
        <p:spPr>
          <a:xfrm>
            <a:off x="2377440" y="1353312"/>
            <a:ext cx="2011680" cy="320040"/>
          </a:xfrm>
          <a:prstGeom prst="rect">
            <a:avLst/>
          </a:prstGeom>
          <a:noFill/>
          <a:ln/>
        </p:spPr>
        <p:txBody>
          <a:bodyPr wrap="square" rtlCol="0" anchor="ctr"/>
          <a:lstStyle/>
          <a:p>
            <a:pPr indent="0" marL="0">
              <a:buNone/>
            </a:pPr>
            <a:r>
              <a:rPr lang="en-US" sz="950" dirty="0">
                <a:solidFill>
                  <a:srgbClr val="8EACC4"/>
                </a:solidFill>
                <a:latin typeface="Calibri" pitchFamily="34" charset="0"/>
                <a:ea typeface="Calibri" pitchFamily="34" charset="-122"/>
                <a:cs typeface="Calibri" pitchFamily="34" charset="-120"/>
              </a:rPr>
              <a:t>256 in-flight prediction slots</a:t>
            </a:r>
            <a:endParaRPr lang="en-US" sz="950" dirty="0"/>
          </a:p>
        </p:txBody>
      </p:sp>
      <p:sp>
        <p:nvSpPr>
          <p:cNvPr id="11" name="Shape 9"/>
          <p:cNvSpPr/>
          <p:nvPr/>
        </p:nvSpPr>
        <p:spPr>
          <a:xfrm>
            <a:off x="274320" y="1837944"/>
            <a:ext cx="4160520" cy="502920"/>
          </a:xfrm>
          <a:prstGeom prst="rect">
            <a:avLst/>
          </a:prstGeom>
          <a:solidFill>
            <a:srgbClr val="0A1628"/>
          </a:solidFill>
          <a:ln w="6350">
            <a:solidFill>
              <a:srgbClr val="1A2A3A"/>
            </a:solidFill>
            <a:prstDash val="solid"/>
          </a:ln>
        </p:spPr>
      </p:sp>
      <p:sp>
        <p:nvSpPr>
          <p:cNvPr id="12" name="Text 10"/>
          <p:cNvSpPr/>
          <p:nvPr/>
        </p:nvSpPr>
        <p:spPr>
          <a:xfrm>
            <a:off x="365760" y="1911096"/>
            <a:ext cx="1371600" cy="347472"/>
          </a:xfrm>
          <a:prstGeom prst="rect">
            <a:avLst/>
          </a:prstGeom>
          <a:noFill/>
          <a:ln/>
        </p:spPr>
        <p:txBody>
          <a:bodyPr wrap="square" rtlCol="0" anchor="ctr"/>
          <a:lstStyle/>
          <a:p>
            <a:pPr indent="0" marL="0">
              <a:buNone/>
            </a:pPr>
            <a:r>
              <a:rPr lang="en-US" sz="1050" b="1" dirty="0">
                <a:solidFill>
                  <a:srgbClr val="00B4D8"/>
                </a:solidFill>
                <a:latin typeface="Calibri" pitchFamily="34" charset="0"/>
                <a:ea typeface="Calibri" pitchFamily="34" charset="-122"/>
                <a:cs typeface="Calibri" pitchFamily="34" charset="-120"/>
              </a:rPr>
              <a:t>SVP Index Bits</a:t>
            </a:r>
            <a:endParaRPr lang="en-US" sz="1050" dirty="0"/>
          </a:p>
        </p:txBody>
      </p:sp>
      <p:sp>
        <p:nvSpPr>
          <p:cNvPr id="13" name="Text 11"/>
          <p:cNvSpPr/>
          <p:nvPr/>
        </p:nvSpPr>
        <p:spPr>
          <a:xfrm>
            <a:off x="1737360" y="1911096"/>
            <a:ext cx="640080" cy="347472"/>
          </a:xfrm>
          <a:prstGeom prst="rect">
            <a:avLst/>
          </a:prstGeom>
          <a:noFill/>
          <a:ln/>
        </p:spPr>
        <p:txBody>
          <a:bodyPr wrap="square" rtlCol="0" anchor="ctr"/>
          <a:lstStyle/>
          <a:p>
            <a:pPr indent="0" marL="0">
              <a:buNone/>
            </a:pPr>
            <a:r>
              <a:rPr lang="en-US" sz="1300" b="1" dirty="0">
                <a:solidFill>
                  <a:srgbClr val="FFD166"/>
                </a:solidFill>
                <a:latin typeface="Consolas" pitchFamily="34" charset="0"/>
                <a:ea typeface="Consolas" pitchFamily="34" charset="-122"/>
                <a:cs typeface="Consolas" pitchFamily="34" charset="-120"/>
              </a:rPr>
              <a:t>10</a:t>
            </a:r>
            <a:endParaRPr lang="en-US" sz="1300" dirty="0"/>
          </a:p>
        </p:txBody>
      </p:sp>
      <p:sp>
        <p:nvSpPr>
          <p:cNvPr id="14" name="Text 12"/>
          <p:cNvSpPr/>
          <p:nvPr/>
        </p:nvSpPr>
        <p:spPr>
          <a:xfrm>
            <a:off x="2377440" y="1929384"/>
            <a:ext cx="2011680" cy="320040"/>
          </a:xfrm>
          <a:prstGeom prst="rect">
            <a:avLst/>
          </a:prstGeom>
          <a:noFill/>
          <a:ln/>
        </p:spPr>
        <p:txBody>
          <a:bodyPr wrap="square" rtlCol="0" anchor="ctr"/>
          <a:lstStyle/>
          <a:p>
            <a:pPr indent="0" marL="0">
              <a:buNone/>
            </a:pPr>
            <a:r>
              <a:rPr lang="en-US" sz="950" dirty="0">
                <a:solidFill>
                  <a:srgbClr val="8EACC4"/>
                </a:solidFill>
                <a:latin typeface="Calibri" pitchFamily="34" charset="0"/>
                <a:ea typeface="Calibri" pitchFamily="34" charset="-122"/>
                <a:cs typeface="Calibri" pitchFamily="34" charset="-120"/>
              </a:rPr>
              <a:t>1,024 SVP table entries</a:t>
            </a:r>
            <a:endParaRPr lang="en-US" sz="950" dirty="0"/>
          </a:p>
        </p:txBody>
      </p:sp>
      <p:sp>
        <p:nvSpPr>
          <p:cNvPr id="15" name="Shape 13"/>
          <p:cNvSpPr/>
          <p:nvPr/>
        </p:nvSpPr>
        <p:spPr>
          <a:xfrm>
            <a:off x="274320" y="2414016"/>
            <a:ext cx="4160520" cy="502920"/>
          </a:xfrm>
          <a:prstGeom prst="rect">
            <a:avLst/>
          </a:prstGeom>
          <a:solidFill>
            <a:srgbClr val="0D2137"/>
          </a:solidFill>
          <a:ln w="6350">
            <a:solidFill>
              <a:srgbClr val="1A2A3A"/>
            </a:solidFill>
            <a:prstDash val="solid"/>
          </a:ln>
        </p:spPr>
      </p:sp>
      <p:sp>
        <p:nvSpPr>
          <p:cNvPr id="16" name="Text 14"/>
          <p:cNvSpPr/>
          <p:nvPr/>
        </p:nvSpPr>
        <p:spPr>
          <a:xfrm>
            <a:off x="365760" y="2487168"/>
            <a:ext cx="1371600" cy="347472"/>
          </a:xfrm>
          <a:prstGeom prst="rect">
            <a:avLst/>
          </a:prstGeom>
          <a:noFill/>
          <a:ln/>
        </p:spPr>
        <p:txBody>
          <a:bodyPr wrap="square" rtlCol="0" anchor="ctr"/>
          <a:lstStyle/>
          <a:p>
            <a:pPr indent="0" marL="0">
              <a:buNone/>
            </a:pPr>
            <a:r>
              <a:rPr lang="en-US" sz="1050" b="1" dirty="0">
                <a:solidFill>
                  <a:srgbClr val="00B4D8"/>
                </a:solidFill>
                <a:latin typeface="Calibri" pitchFamily="34" charset="0"/>
                <a:ea typeface="Calibri" pitchFamily="34" charset="-122"/>
                <a:cs typeface="Calibri" pitchFamily="34" charset="-120"/>
              </a:rPr>
              <a:t>SVP Tag Bits</a:t>
            </a:r>
            <a:endParaRPr lang="en-US" sz="1050" dirty="0"/>
          </a:p>
        </p:txBody>
      </p:sp>
      <p:sp>
        <p:nvSpPr>
          <p:cNvPr id="17" name="Text 15"/>
          <p:cNvSpPr/>
          <p:nvPr/>
        </p:nvSpPr>
        <p:spPr>
          <a:xfrm>
            <a:off x="1737360" y="2487168"/>
            <a:ext cx="640080" cy="347472"/>
          </a:xfrm>
          <a:prstGeom prst="rect">
            <a:avLst/>
          </a:prstGeom>
          <a:noFill/>
          <a:ln/>
        </p:spPr>
        <p:txBody>
          <a:bodyPr wrap="square" rtlCol="0" anchor="ctr"/>
          <a:lstStyle/>
          <a:p>
            <a:pPr indent="0" marL="0">
              <a:buNone/>
            </a:pPr>
            <a:r>
              <a:rPr lang="en-US" sz="1300" b="1" dirty="0">
                <a:solidFill>
                  <a:srgbClr val="FFD166"/>
                </a:solidFill>
                <a:latin typeface="Consolas" pitchFamily="34" charset="0"/>
                <a:ea typeface="Consolas" pitchFamily="34" charset="-122"/>
                <a:cs typeface="Consolas" pitchFamily="34" charset="-120"/>
              </a:rPr>
              <a:t>10</a:t>
            </a:r>
            <a:endParaRPr lang="en-US" sz="1300" dirty="0"/>
          </a:p>
        </p:txBody>
      </p:sp>
      <p:sp>
        <p:nvSpPr>
          <p:cNvPr id="18" name="Text 16"/>
          <p:cNvSpPr/>
          <p:nvPr/>
        </p:nvSpPr>
        <p:spPr>
          <a:xfrm>
            <a:off x="2377440" y="2505456"/>
            <a:ext cx="2011680" cy="320040"/>
          </a:xfrm>
          <a:prstGeom prst="rect">
            <a:avLst/>
          </a:prstGeom>
          <a:noFill/>
          <a:ln/>
        </p:spPr>
        <p:txBody>
          <a:bodyPr wrap="square" rtlCol="0" anchor="ctr"/>
          <a:lstStyle/>
          <a:p>
            <a:pPr indent="0" marL="0">
              <a:buNone/>
            </a:pPr>
            <a:r>
              <a:rPr lang="en-US" sz="950" dirty="0">
                <a:solidFill>
                  <a:srgbClr val="8EACC4"/>
                </a:solidFill>
                <a:latin typeface="Calibri" pitchFamily="34" charset="0"/>
                <a:ea typeface="Calibri" pitchFamily="34" charset="-122"/>
                <a:cs typeface="Calibri" pitchFamily="34" charset="-120"/>
              </a:rPr>
              <a:t>Tag precision for SVP lookup</a:t>
            </a:r>
            <a:endParaRPr lang="en-US" sz="950" dirty="0"/>
          </a:p>
        </p:txBody>
      </p:sp>
      <p:sp>
        <p:nvSpPr>
          <p:cNvPr id="19" name="Shape 17"/>
          <p:cNvSpPr/>
          <p:nvPr/>
        </p:nvSpPr>
        <p:spPr>
          <a:xfrm>
            <a:off x="274320" y="2990088"/>
            <a:ext cx="4160520" cy="502920"/>
          </a:xfrm>
          <a:prstGeom prst="rect">
            <a:avLst/>
          </a:prstGeom>
          <a:solidFill>
            <a:srgbClr val="0A1628"/>
          </a:solidFill>
          <a:ln w="6350">
            <a:solidFill>
              <a:srgbClr val="1A2A3A"/>
            </a:solidFill>
            <a:prstDash val="solid"/>
          </a:ln>
        </p:spPr>
      </p:sp>
      <p:sp>
        <p:nvSpPr>
          <p:cNvPr id="20" name="Text 18"/>
          <p:cNvSpPr/>
          <p:nvPr/>
        </p:nvSpPr>
        <p:spPr>
          <a:xfrm>
            <a:off x="365760" y="3063240"/>
            <a:ext cx="1371600" cy="347472"/>
          </a:xfrm>
          <a:prstGeom prst="rect">
            <a:avLst/>
          </a:prstGeom>
          <a:noFill/>
          <a:ln/>
        </p:spPr>
        <p:txBody>
          <a:bodyPr wrap="square" rtlCol="0" anchor="ctr"/>
          <a:lstStyle/>
          <a:p>
            <a:pPr indent="0" marL="0">
              <a:buNone/>
            </a:pPr>
            <a:r>
              <a:rPr lang="en-US" sz="1050" b="1" dirty="0">
                <a:solidFill>
                  <a:srgbClr val="00B4D8"/>
                </a:solidFill>
                <a:latin typeface="Calibri" pitchFamily="34" charset="0"/>
                <a:ea typeface="Calibri" pitchFamily="34" charset="-122"/>
                <a:cs typeface="Calibri" pitchFamily="34" charset="-120"/>
              </a:rPr>
              <a:t>SVP Conf Max</a:t>
            </a:r>
            <a:endParaRPr lang="en-US" sz="1050" dirty="0"/>
          </a:p>
        </p:txBody>
      </p:sp>
      <p:sp>
        <p:nvSpPr>
          <p:cNvPr id="21" name="Text 19"/>
          <p:cNvSpPr/>
          <p:nvPr/>
        </p:nvSpPr>
        <p:spPr>
          <a:xfrm>
            <a:off x="1737360" y="3063240"/>
            <a:ext cx="640080" cy="347472"/>
          </a:xfrm>
          <a:prstGeom prst="rect">
            <a:avLst/>
          </a:prstGeom>
          <a:noFill/>
          <a:ln/>
        </p:spPr>
        <p:txBody>
          <a:bodyPr wrap="square" rtlCol="0" anchor="ctr"/>
          <a:lstStyle/>
          <a:p>
            <a:pPr indent="0" marL="0">
              <a:buNone/>
            </a:pPr>
            <a:r>
              <a:rPr lang="en-US" sz="1300" b="1" dirty="0">
                <a:solidFill>
                  <a:srgbClr val="FFD166"/>
                </a:solidFill>
                <a:latin typeface="Consolas" pitchFamily="34" charset="0"/>
                <a:ea typeface="Consolas" pitchFamily="34" charset="-122"/>
                <a:cs typeface="Consolas" pitchFamily="34" charset="-120"/>
              </a:rPr>
              <a:t>47</a:t>
            </a:r>
            <a:endParaRPr lang="en-US" sz="1300" dirty="0"/>
          </a:p>
        </p:txBody>
      </p:sp>
      <p:sp>
        <p:nvSpPr>
          <p:cNvPr id="22" name="Text 20"/>
          <p:cNvSpPr/>
          <p:nvPr/>
        </p:nvSpPr>
        <p:spPr>
          <a:xfrm>
            <a:off x="2377440" y="3081528"/>
            <a:ext cx="2011680" cy="320040"/>
          </a:xfrm>
          <a:prstGeom prst="rect">
            <a:avLst/>
          </a:prstGeom>
          <a:noFill/>
          <a:ln/>
        </p:spPr>
        <p:txBody>
          <a:bodyPr wrap="square" rtlCol="0" anchor="ctr"/>
          <a:lstStyle/>
          <a:p>
            <a:pPr indent="0" marL="0">
              <a:buNone/>
            </a:pPr>
            <a:r>
              <a:rPr lang="en-US" sz="950" dirty="0">
                <a:solidFill>
                  <a:srgbClr val="8EACC4"/>
                </a:solidFill>
                <a:latin typeface="Calibri" pitchFamily="34" charset="0"/>
                <a:ea typeface="Calibri" pitchFamily="34" charset="-122"/>
                <a:cs typeface="Calibri" pitchFamily="34" charset="-120"/>
              </a:rPr>
              <a:t>SVP fires sooner — helps structured workloads like perlbench &amp; h264ref</a:t>
            </a:r>
            <a:endParaRPr lang="en-US" sz="950" dirty="0"/>
          </a:p>
        </p:txBody>
      </p:sp>
      <p:sp>
        <p:nvSpPr>
          <p:cNvPr id="23" name="Shape 21"/>
          <p:cNvSpPr/>
          <p:nvPr/>
        </p:nvSpPr>
        <p:spPr>
          <a:xfrm>
            <a:off x="274320" y="3566160"/>
            <a:ext cx="4160520" cy="502920"/>
          </a:xfrm>
          <a:prstGeom prst="rect">
            <a:avLst/>
          </a:prstGeom>
          <a:solidFill>
            <a:srgbClr val="0D2137"/>
          </a:solidFill>
          <a:ln w="6350">
            <a:solidFill>
              <a:srgbClr val="1A2A3A"/>
            </a:solidFill>
            <a:prstDash val="solid"/>
          </a:ln>
        </p:spPr>
      </p:sp>
      <p:sp>
        <p:nvSpPr>
          <p:cNvPr id="24" name="Text 22"/>
          <p:cNvSpPr/>
          <p:nvPr/>
        </p:nvSpPr>
        <p:spPr>
          <a:xfrm>
            <a:off x="365760" y="3639312"/>
            <a:ext cx="1371600" cy="347472"/>
          </a:xfrm>
          <a:prstGeom prst="rect">
            <a:avLst/>
          </a:prstGeom>
          <a:noFill/>
          <a:ln/>
        </p:spPr>
        <p:txBody>
          <a:bodyPr wrap="square" rtlCol="0" anchor="ctr"/>
          <a:lstStyle/>
          <a:p>
            <a:pPr indent="0" marL="0">
              <a:buNone/>
            </a:pPr>
            <a:r>
              <a:rPr lang="en-US" sz="1050" b="1" dirty="0">
                <a:solidFill>
                  <a:srgbClr val="00B4D8"/>
                </a:solidFill>
                <a:latin typeface="Calibri" pitchFamily="34" charset="0"/>
                <a:ea typeface="Calibri" pitchFamily="34" charset="-122"/>
                <a:cs typeface="Calibri" pitchFamily="34" charset="-120"/>
              </a:rPr>
              <a:t>VTAGE Tables (N)</a:t>
            </a:r>
            <a:endParaRPr lang="en-US" sz="1050" dirty="0"/>
          </a:p>
        </p:txBody>
      </p:sp>
      <p:sp>
        <p:nvSpPr>
          <p:cNvPr id="25" name="Text 23"/>
          <p:cNvSpPr/>
          <p:nvPr/>
        </p:nvSpPr>
        <p:spPr>
          <a:xfrm>
            <a:off x="1737360" y="3639312"/>
            <a:ext cx="640080" cy="347472"/>
          </a:xfrm>
          <a:prstGeom prst="rect">
            <a:avLst/>
          </a:prstGeom>
          <a:noFill/>
          <a:ln/>
        </p:spPr>
        <p:txBody>
          <a:bodyPr wrap="square" rtlCol="0" anchor="ctr"/>
          <a:lstStyle/>
          <a:p>
            <a:pPr indent="0" marL="0">
              <a:buNone/>
            </a:pPr>
            <a:r>
              <a:rPr lang="en-US" sz="1300" b="1" dirty="0">
                <a:solidFill>
                  <a:srgbClr val="FFD166"/>
                </a:solidFill>
                <a:latin typeface="Consolas" pitchFamily="34" charset="0"/>
                <a:ea typeface="Consolas" pitchFamily="34" charset="-122"/>
                <a:cs typeface="Consolas" pitchFamily="34" charset="-120"/>
              </a:rPr>
              <a:t>5</a:t>
            </a:r>
            <a:endParaRPr lang="en-US" sz="1300" dirty="0"/>
          </a:p>
        </p:txBody>
      </p:sp>
      <p:sp>
        <p:nvSpPr>
          <p:cNvPr id="26" name="Text 24"/>
          <p:cNvSpPr/>
          <p:nvPr/>
        </p:nvSpPr>
        <p:spPr>
          <a:xfrm>
            <a:off x="2377440" y="3657600"/>
            <a:ext cx="2011680" cy="320040"/>
          </a:xfrm>
          <a:prstGeom prst="rect">
            <a:avLst/>
          </a:prstGeom>
          <a:noFill/>
          <a:ln/>
        </p:spPr>
        <p:txBody>
          <a:bodyPr wrap="square" rtlCol="0" anchor="ctr"/>
          <a:lstStyle/>
          <a:p>
            <a:pPr indent="0" marL="0">
              <a:buNone/>
            </a:pPr>
            <a:r>
              <a:rPr lang="en-US" sz="950" dirty="0">
                <a:solidFill>
                  <a:srgbClr val="8EACC4"/>
                </a:solidFill>
                <a:latin typeface="Calibri" pitchFamily="34" charset="0"/>
                <a:ea typeface="Calibri" pitchFamily="34" charset="-122"/>
                <a:cs typeface="Calibri" pitchFamily="34" charset="-120"/>
              </a:rPr>
              <a:t>Five tables with geometrically spaced history lengths</a:t>
            </a:r>
            <a:endParaRPr lang="en-US" sz="950" dirty="0"/>
          </a:p>
        </p:txBody>
      </p:sp>
      <p:sp>
        <p:nvSpPr>
          <p:cNvPr id="27" name="Shape 25"/>
          <p:cNvSpPr/>
          <p:nvPr/>
        </p:nvSpPr>
        <p:spPr>
          <a:xfrm>
            <a:off x="274320" y="4142232"/>
            <a:ext cx="4160520" cy="502920"/>
          </a:xfrm>
          <a:prstGeom prst="rect">
            <a:avLst/>
          </a:prstGeom>
          <a:solidFill>
            <a:srgbClr val="0A1628"/>
          </a:solidFill>
          <a:ln w="6350">
            <a:solidFill>
              <a:srgbClr val="1A2A3A"/>
            </a:solidFill>
            <a:prstDash val="solid"/>
          </a:ln>
        </p:spPr>
      </p:sp>
      <p:sp>
        <p:nvSpPr>
          <p:cNvPr id="28" name="Text 26"/>
          <p:cNvSpPr/>
          <p:nvPr/>
        </p:nvSpPr>
        <p:spPr>
          <a:xfrm>
            <a:off x="365760" y="4215384"/>
            <a:ext cx="1371600" cy="347472"/>
          </a:xfrm>
          <a:prstGeom prst="rect">
            <a:avLst/>
          </a:prstGeom>
          <a:noFill/>
          <a:ln/>
        </p:spPr>
        <p:txBody>
          <a:bodyPr wrap="square" rtlCol="0" anchor="ctr"/>
          <a:lstStyle/>
          <a:p>
            <a:pPr indent="0" marL="0">
              <a:buNone/>
            </a:pPr>
            <a:r>
              <a:rPr lang="en-US" sz="1050" b="1" dirty="0">
                <a:solidFill>
                  <a:srgbClr val="00B4D8"/>
                </a:solidFill>
                <a:latin typeface="Calibri" pitchFamily="34" charset="0"/>
                <a:ea typeface="Calibri" pitchFamily="34" charset="-122"/>
                <a:cs typeface="Calibri" pitchFamily="34" charset="-120"/>
              </a:rPr>
              <a:t>Min History</a:t>
            </a:r>
            <a:endParaRPr lang="en-US" sz="1050" dirty="0"/>
          </a:p>
        </p:txBody>
      </p:sp>
      <p:sp>
        <p:nvSpPr>
          <p:cNvPr id="29" name="Text 27"/>
          <p:cNvSpPr/>
          <p:nvPr/>
        </p:nvSpPr>
        <p:spPr>
          <a:xfrm>
            <a:off x="1737360" y="4215384"/>
            <a:ext cx="640080" cy="347472"/>
          </a:xfrm>
          <a:prstGeom prst="rect">
            <a:avLst/>
          </a:prstGeom>
          <a:noFill/>
          <a:ln/>
        </p:spPr>
        <p:txBody>
          <a:bodyPr wrap="square" rtlCol="0" anchor="ctr"/>
          <a:lstStyle/>
          <a:p>
            <a:pPr indent="0" marL="0">
              <a:buNone/>
            </a:pPr>
            <a:r>
              <a:rPr lang="en-US" sz="1300" b="1" dirty="0">
                <a:solidFill>
                  <a:srgbClr val="FFD166"/>
                </a:solidFill>
                <a:latin typeface="Consolas" pitchFamily="34" charset="0"/>
                <a:ea typeface="Consolas" pitchFamily="34" charset="-122"/>
                <a:cs typeface="Consolas" pitchFamily="34" charset="-120"/>
              </a:rPr>
              <a:t>3</a:t>
            </a:r>
            <a:endParaRPr lang="en-US" sz="1300" dirty="0"/>
          </a:p>
        </p:txBody>
      </p:sp>
      <p:sp>
        <p:nvSpPr>
          <p:cNvPr id="30" name="Text 28"/>
          <p:cNvSpPr/>
          <p:nvPr/>
        </p:nvSpPr>
        <p:spPr>
          <a:xfrm>
            <a:off x="2377440" y="4233672"/>
            <a:ext cx="2011680" cy="320040"/>
          </a:xfrm>
          <a:prstGeom prst="rect">
            <a:avLst/>
          </a:prstGeom>
          <a:noFill/>
          <a:ln/>
        </p:spPr>
        <p:txBody>
          <a:bodyPr wrap="square" rtlCol="0" anchor="ctr"/>
          <a:lstStyle/>
          <a:p>
            <a:pPr indent="0" marL="0">
              <a:buNone/>
            </a:pPr>
            <a:r>
              <a:rPr lang="en-US" sz="950" dirty="0">
                <a:solidFill>
                  <a:srgbClr val="8EACC4"/>
                </a:solidFill>
                <a:latin typeface="Calibri" pitchFamily="34" charset="0"/>
                <a:ea typeface="Calibri" pitchFamily="34" charset="-122"/>
                <a:cs typeface="Calibri" pitchFamily="34" charset="-120"/>
              </a:rPr>
              <a:t>Shortest history: captures innermost loops</a:t>
            </a:r>
            <a:endParaRPr lang="en-US" sz="950" dirty="0"/>
          </a:p>
        </p:txBody>
      </p:sp>
      <p:sp>
        <p:nvSpPr>
          <p:cNvPr id="31" name="Shape 29"/>
          <p:cNvSpPr/>
          <p:nvPr/>
        </p:nvSpPr>
        <p:spPr>
          <a:xfrm>
            <a:off x="4663440" y="1261872"/>
            <a:ext cx="4160520" cy="502920"/>
          </a:xfrm>
          <a:prstGeom prst="rect">
            <a:avLst/>
          </a:prstGeom>
          <a:solidFill>
            <a:srgbClr val="0D2137"/>
          </a:solidFill>
          <a:ln w="6350">
            <a:solidFill>
              <a:srgbClr val="1A2A3A"/>
            </a:solidFill>
            <a:prstDash val="solid"/>
          </a:ln>
        </p:spPr>
      </p:sp>
      <p:sp>
        <p:nvSpPr>
          <p:cNvPr id="32" name="Text 30"/>
          <p:cNvSpPr/>
          <p:nvPr/>
        </p:nvSpPr>
        <p:spPr>
          <a:xfrm>
            <a:off x="4754880" y="1335024"/>
            <a:ext cx="1371600" cy="347472"/>
          </a:xfrm>
          <a:prstGeom prst="rect">
            <a:avLst/>
          </a:prstGeom>
          <a:noFill/>
          <a:ln/>
        </p:spPr>
        <p:txBody>
          <a:bodyPr wrap="square" rtlCol="0" anchor="ctr"/>
          <a:lstStyle/>
          <a:p>
            <a:pPr indent="0" marL="0">
              <a:buNone/>
            </a:pPr>
            <a:r>
              <a:rPr lang="en-US" sz="1050" b="1" dirty="0">
                <a:solidFill>
                  <a:srgbClr val="00B4D8"/>
                </a:solidFill>
                <a:latin typeface="Calibri" pitchFamily="34" charset="0"/>
                <a:ea typeface="Calibri" pitchFamily="34" charset="-122"/>
                <a:cs typeface="Calibri" pitchFamily="34" charset="-120"/>
              </a:rPr>
              <a:t>Max History</a:t>
            </a:r>
            <a:endParaRPr lang="en-US" sz="1050" dirty="0"/>
          </a:p>
        </p:txBody>
      </p:sp>
      <p:sp>
        <p:nvSpPr>
          <p:cNvPr id="33" name="Text 31"/>
          <p:cNvSpPr/>
          <p:nvPr/>
        </p:nvSpPr>
        <p:spPr>
          <a:xfrm>
            <a:off x="6126480" y="1335024"/>
            <a:ext cx="640080" cy="347472"/>
          </a:xfrm>
          <a:prstGeom prst="rect">
            <a:avLst/>
          </a:prstGeom>
          <a:noFill/>
          <a:ln/>
        </p:spPr>
        <p:txBody>
          <a:bodyPr wrap="square" rtlCol="0" anchor="ctr"/>
          <a:lstStyle/>
          <a:p>
            <a:pPr indent="0" marL="0">
              <a:buNone/>
            </a:pPr>
            <a:r>
              <a:rPr lang="en-US" sz="1300" b="1" dirty="0">
                <a:solidFill>
                  <a:srgbClr val="FFD166"/>
                </a:solidFill>
                <a:latin typeface="Consolas" pitchFamily="34" charset="0"/>
                <a:ea typeface="Consolas" pitchFamily="34" charset="-122"/>
                <a:cs typeface="Consolas" pitchFamily="34" charset="-120"/>
              </a:rPr>
              <a:t>48</a:t>
            </a:r>
            <a:endParaRPr lang="en-US" sz="1300" dirty="0"/>
          </a:p>
        </p:txBody>
      </p:sp>
      <p:sp>
        <p:nvSpPr>
          <p:cNvPr id="34" name="Text 32"/>
          <p:cNvSpPr/>
          <p:nvPr/>
        </p:nvSpPr>
        <p:spPr>
          <a:xfrm>
            <a:off x="6766560" y="1353312"/>
            <a:ext cx="2011680" cy="320040"/>
          </a:xfrm>
          <a:prstGeom prst="rect">
            <a:avLst/>
          </a:prstGeom>
          <a:noFill/>
          <a:ln/>
        </p:spPr>
        <p:txBody>
          <a:bodyPr wrap="square" rtlCol="0" anchor="ctr"/>
          <a:lstStyle/>
          <a:p>
            <a:pPr indent="0" marL="0">
              <a:buNone/>
            </a:pPr>
            <a:r>
              <a:rPr lang="en-US" sz="950" dirty="0">
                <a:solidFill>
                  <a:srgbClr val="8EACC4"/>
                </a:solidFill>
                <a:latin typeface="Calibri" pitchFamily="34" charset="0"/>
                <a:ea typeface="Calibri" pitchFamily="34" charset="-122"/>
                <a:cs typeface="Calibri" pitchFamily="34" charset="-120"/>
              </a:rPr>
              <a:t>Longest history: captures function-level context</a:t>
            </a:r>
            <a:endParaRPr lang="en-US" sz="950" dirty="0"/>
          </a:p>
        </p:txBody>
      </p:sp>
      <p:sp>
        <p:nvSpPr>
          <p:cNvPr id="35" name="Shape 33"/>
          <p:cNvSpPr/>
          <p:nvPr/>
        </p:nvSpPr>
        <p:spPr>
          <a:xfrm>
            <a:off x="4663440" y="1837944"/>
            <a:ext cx="4160520" cy="502920"/>
          </a:xfrm>
          <a:prstGeom prst="rect">
            <a:avLst/>
          </a:prstGeom>
          <a:solidFill>
            <a:srgbClr val="0A1628"/>
          </a:solidFill>
          <a:ln w="6350">
            <a:solidFill>
              <a:srgbClr val="1A2A3A"/>
            </a:solidFill>
            <a:prstDash val="solid"/>
          </a:ln>
        </p:spPr>
      </p:sp>
      <p:sp>
        <p:nvSpPr>
          <p:cNvPr id="36" name="Text 34"/>
          <p:cNvSpPr/>
          <p:nvPr/>
        </p:nvSpPr>
        <p:spPr>
          <a:xfrm>
            <a:off x="4754880" y="1911096"/>
            <a:ext cx="1371600" cy="347472"/>
          </a:xfrm>
          <a:prstGeom prst="rect">
            <a:avLst/>
          </a:prstGeom>
          <a:noFill/>
          <a:ln/>
        </p:spPr>
        <p:txBody>
          <a:bodyPr wrap="square" rtlCol="0" anchor="ctr"/>
          <a:lstStyle/>
          <a:p>
            <a:pPr indent="0" marL="0">
              <a:buNone/>
            </a:pPr>
            <a:r>
              <a:rPr lang="en-US" sz="1050" b="1" dirty="0">
                <a:solidFill>
                  <a:srgbClr val="00B4D8"/>
                </a:solidFill>
                <a:latin typeface="Calibri" pitchFamily="34" charset="0"/>
                <a:ea typeface="Calibri" pitchFamily="34" charset="-122"/>
                <a:cs typeface="Calibri" pitchFamily="34" charset="-120"/>
              </a:rPr>
              <a:t>VTAGE Conf Max</a:t>
            </a:r>
            <a:endParaRPr lang="en-US" sz="1050" dirty="0"/>
          </a:p>
        </p:txBody>
      </p:sp>
      <p:sp>
        <p:nvSpPr>
          <p:cNvPr id="37" name="Text 35"/>
          <p:cNvSpPr/>
          <p:nvPr/>
        </p:nvSpPr>
        <p:spPr>
          <a:xfrm>
            <a:off x="6126480" y="1911096"/>
            <a:ext cx="640080" cy="347472"/>
          </a:xfrm>
          <a:prstGeom prst="rect">
            <a:avLst/>
          </a:prstGeom>
          <a:noFill/>
          <a:ln/>
        </p:spPr>
        <p:txBody>
          <a:bodyPr wrap="square" rtlCol="0" anchor="ctr"/>
          <a:lstStyle/>
          <a:p>
            <a:pPr indent="0" marL="0">
              <a:buNone/>
            </a:pPr>
            <a:r>
              <a:rPr lang="en-US" sz="1300" b="1" dirty="0">
                <a:solidFill>
                  <a:srgbClr val="FFD166"/>
                </a:solidFill>
                <a:latin typeface="Consolas" pitchFamily="34" charset="0"/>
                <a:ea typeface="Consolas" pitchFamily="34" charset="-122"/>
                <a:cs typeface="Consolas" pitchFamily="34" charset="-120"/>
              </a:rPr>
              <a:t>63</a:t>
            </a:r>
            <a:endParaRPr lang="en-US" sz="1300" dirty="0"/>
          </a:p>
        </p:txBody>
      </p:sp>
      <p:sp>
        <p:nvSpPr>
          <p:cNvPr id="38" name="Text 36"/>
          <p:cNvSpPr/>
          <p:nvPr/>
        </p:nvSpPr>
        <p:spPr>
          <a:xfrm>
            <a:off x="6766560" y="1929384"/>
            <a:ext cx="2011680" cy="320040"/>
          </a:xfrm>
          <a:prstGeom prst="rect">
            <a:avLst/>
          </a:prstGeom>
          <a:noFill/>
          <a:ln/>
        </p:spPr>
        <p:txBody>
          <a:bodyPr wrap="square" rtlCol="0" anchor="ctr"/>
          <a:lstStyle/>
          <a:p>
            <a:pPr indent="0" marL="0">
              <a:buNone/>
            </a:pPr>
            <a:r>
              <a:rPr lang="en-US" sz="950" dirty="0">
                <a:solidFill>
                  <a:srgbClr val="8EACC4"/>
                </a:solidFill>
                <a:latin typeface="Calibri" pitchFamily="34" charset="0"/>
                <a:ea typeface="Calibri" pitchFamily="34" charset="-122"/>
                <a:cs typeface="Calibri" pitchFamily="34" charset="-120"/>
              </a:rPr>
              <a:t>High confidence bar — entries must prove themselves 63+ times</a:t>
            </a:r>
            <a:endParaRPr lang="en-US" sz="950" dirty="0"/>
          </a:p>
        </p:txBody>
      </p:sp>
      <p:sp>
        <p:nvSpPr>
          <p:cNvPr id="39" name="Shape 37"/>
          <p:cNvSpPr/>
          <p:nvPr/>
        </p:nvSpPr>
        <p:spPr>
          <a:xfrm>
            <a:off x="4663440" y="2414016"/>
            <a:ext cx="4160520" cy="502920"/>
          </a:xfrm>
          <a:prstGeom prst="rect">
            <a:avLst/>
          </a:prstGeom>
          <a:solidFill>
            <a:srgbClr val="0D2137"/>
          </a:solidFill>
          <a:ln w="6350">
            <a:solidFill>
              <a:srgbClr val="1A2A3A"/>
            </a:solidFill>
            <a:prstDash val="solid"/>
          </a:ln>
        </p:spPr>
      </p:sp>
      <p:sp>
        <p:nvSpPr>
          <p:cNvPr id="40" name="Text 38"/>
          <p:cNvSpPr/>
          <p:nvPr/>
        </p:nvSpPr>
        <p:spPr>
          <a:xfrm>
            <a:off x="4754880" y="2487168"/>
            <a:ext cx="1371600" cy="347472"/>
          </a:xfrm>
          <a:prstGeom prst="rect">
            <a:avLst/>
          </a:prstGeom>
          <a:noFill/>
          <a:ln/>
        </p:spPr>
        <p:txBody>
          <a:bodyPr wrap="square" rtlCol="0" anchor="ctr"/>
          <a:lstStyle/>
          <a:p>
            <a:pPr indent="0" marL="0">
              <a:buNone/>
            </a:pPr>
            <a:r>
              <a:rPr lang="en-US" sz="1050" b="1" dirty="0">
                <a:solidFill>
                  <a:srgbClr val="00B4D8"/>
                </a:solidFill>
                <a:latin typeface="Calibri" pitchFamily="34" charset="0"/>
                <a:ea typeface="Calibri" pitchFamily="34" charset="-122"/>
                <a:cs typeface="Calibri" pitchFamily="34" charset="-120"/>
              </a:rPr>
              <a:t>VTAGE Index Bits</a:t>
            </a:r>
            <a:endParaRPr lang="en-US" sz="1050" dirty="0"/>
          </a:p>
        </p:txBody>
      </p:sp>
      <p:sp>
        <p:nvSpPr>
          <p:cNvPr id="41" name="Text 39"/>
          <p:cNvSpPr/>
          <p:nvPr/>
        </p:nvSpPr>
        <p:spPr>
          <a:xfrm>
            <a:off x="6126480" y="2487168"/>
            <a:ext cx="640080" cy="347472"/>
          </a:xfrm>
          <a:prstGeom prst="rect">
            <a:avLst/>
          </a:prstGeom>
          <a:noFill/>
          <a:ln/>
        </p:spPr>
        <p:txBody>
          <a:bodyPr wrap="square" rtlCol="0" anchor="ctr"/>
          <a:lstStyle/>
          <a:p>
            <a:pPr indent="0" marL="0">
              <a:buNone/>
            </a:pPr>
            <a:r>
              <a:rPr lang="en-US" sz="1300" b="1" dirty="0">
                <a:solidFill>
                  <a:srgbClr val="FFD166"/>
                </a:solidFill>
                <a:latin typeface="Consolas" pitchFamily="34" charset="0"/>
                <a:ea typeface="Consolas" pitchFamily="34" charset="-122"/>
                <a:cs typeface="Consolas" pitchFamily="34" charset="-120"/>
              </a:rPr>
              <a:t>8</a:t>
            </a:r>
            <a:endParaRPr lang="en-US" sz="1300" dirty="0"/>
          </a:p>
        </p:txBody>
      </p:sp>
      <p:sp>
        <p:nvSpPr>
          <p:cNvPr id="42" name="Text 40"/>
          <p:cNvSpPr/>
          <p:nvPr/>
        </p:nvSpPr>
        <p:spPr>
          <a:xfrm>
            <a:off x="6766560" y="2505456"/>
            <a:ext cx="2011680" cy="320040"/>
          </a:xfrm>
          <a:prstGeom prst="rect">
            <a:avLst/>
          </a:prstGeom>
          <a:noFill/>
          <a:ln/>
        </p:spPr>
        <p:txBody>
          <a:bodyPr wrap="square" rtlCol="0" anchor="ctr"/>
          <a:lstStyle/>
          <a:p>
            <a:pPr indent="0" marL="0">
              <a:buNone/>
            </a:pPr>
            <a:r>
              <a:rPr lang="en-US" sz="950" dirty="0">
                <a:solidFill>
                  <a:srgbClr val="8EACC4"/>
                </a:solidFill>
                <a:latin typeface="Calibri" pitchFamily="34" charset="0"/>
                <a:ea typeface="Calibri" pitchFamily="34" charset="-122"/>
                <a:cs typeface="Calibri" pitchFamily="34" charset="-120"/>
              </a:rPr>
              <a:t>256 entries per VTAGE table</a:t>
            </a:r>
            <a:endParaRPr lang="en-US" sz="950" dirty="0"/>
          </a:p>
        </p:txBody>
      </p:sp>
      <p:sp>
        <p:nvSpPr>
          <p:cNvPr id="43" name="Shape 41"/>
          <p:cNvSpPr/>
          <p:nvPr/>
        </p:nvSpPr>
        <p:spPr>
          <a:xfrm>
            <a:off x="4663440" y="2990088"/>
            <a:ext cx="4160520" cy="502920"/>
          </a:xfrm>
          <a:prstGeom prst="rect">
            <a:avLst/>
          </a:prstGeom>
          <a:solidFill>
            <a:srgbClr val="0A1628"/>
          </a:solidFill>
          <a:ln w="6350">
            <a:solidFill>
              <a:srgbClr val="1A2A3A"/>
            </a:solidFill>
            <a:prstDash val="solid"/>
          </a:ln>
        </p:spPr>
      </p:sp>
      <p:sp>
        <p:nvSpPr>
          <p:cNvPr id="44" name="Text 42"/>
          <p:cNvSpPr/>
          <p:nvPr/>
        </p:nvSpPr>
        <p:spPr>
          <a:xfrm>
            <a:off x="4754880" y="3063240"/>
            <a:ext cx="1371600" cy="347472"/>
          </a:xfrm>
          <a:prstGeom prst="rect">
            <a:avLst/>
          </a:prstGeom>
          <a:noFill/>
          <a:ln/>
        </p:spPr>
        <p:txBody>
          <a:bodyPr wrap="square" rtlCol="0" anchor="ctr"/>
          <a:lstStyle/>
          <a:p>
            <a:pPr indent="0" marL="0">
              <a:buNone/>
            </a:pPr>
            <a:r>
              <a:rPr lang="en-US" sz="1050" b="1" dirty="0">
                <a:solidFill>
                  <a:srgbClr val="00B4D8"/>
                </a:solidFill>
                <a:latin typeface="Calibri" pitchFamily="34" charset="0"/>
                <a:ea typeface="Calibri" pitchFamily="34" charset="-122"/>
                <a:cs typeface="Calibri" pitchFamily="34" charset="-120"/>
              </a:rPr>
              <a:t>VTAGE Tag Bits</a:t>
            </a:r>
            <a:endParaRPr lang="en-US" sz="1050" dirty="0"/>
          </a:p>
        </p:txBody>
      </p:sp>
      <p:sp>
        <p:nvSpPr>
          <p:cNvPr id="45" name="Text 43"/>
          <p:cNvSpPr/>
          <p:nvPr/>
        </p:nvSpPr>
        <p:spPr>
          <a:xfrm>
            <a:off x="6126480" y="3063240"/>
            <a:ext cx="640080" cy="347472"/>
          </a:xfrm>
          <a:prstGeom prst="rect">
            <a:avLst/>
          </a:prstGeom>
          <a:noFill/>
          <a:ln/>
        </p:spPr>
        <p:txBody>
          <a:bodyPr wrap="square" rtlCol="0" anchor="ctr"/>
          <a:lstStyle/>
          <a:p>
            <a:pPr indent="0" marL="0">
              <a:buNone/>
            </a:pPr>
            <a:r>
              <a:rPr lang="en-US" sz="1300" b="1" dirty="0">
                <a:solidFill>
                  <a:srgbClr val="FFD166"/>
                </a:solidFill>
                <a:latin typeface="Consolas" pitchFamily="34" charset="0"/>
                <a:ea typeface="Consolas" pitchFamily="34" charset="-122"/>
                <a:cs typeface="Consolas" pitchFamily="34" charset="-120"/>
              </a:rPr>
              <a:t>11</a:t>
            </a:r>
            <a:endParaRPr lang="en-US" sz="1300" dirty="0"/>
          </a:p>
        </p:txBody>
      </p:sp>
      <p:sp>
        <p:nvSpPr>
          <p:cNvPr id="46" name="Text 44"/>
          <p:cNvSpPr/>
          <p:nvPr/>
        </p:nvSpPr>
        <p:spPr>
          <a:xfrm>
            <a:off x="6766560" y="3081528"/>
            <a:ext cx="2011680" cy="320040"/>
          </a:xfrm>
          <a:prstGeom prst="rect">
            <a:avLst/>
          </a:prstGeom>
          <a:noFill/>
          <a:ln/>
        </p:spPr>
        <p:txBody>
          <a:bodyPr wrap="square" rtlCol="0" anchor="ctr"/>
          <a:lstStyle/>
          <a:p>
            <a:pPr indent="0" marL="0">
              <a:buNone/>
            </a:pPr>
            <a:r>
              <a:rPr lang="en-US" sz="950" dirty="0">
                <a:solidFill>
                  <a:srgbClr val="8EACC4"/>
                </a:solidFill>
                <a:latin typeface="Calibri" pitchFamily="34" charset="0"/>
                <a:ea typeface="Calibri" pitchFamily="34" charset="-122"/>
                <a:cs typeface="Calibri" pitchFamily="34" charset="-120"/>
              </a:rPr>
              <a:t>Precise tag matching — reduces aliasing</a:t>
            </a:r>
            <a:endParaRPr lang="en-US" sz="950" dirty="0"/>
          </a:p>
        </p:txBody>
      </p:sp>
      <p:sp>
        <p:nvSpPr>
          <p:cNvPr id="47" name="Shape 45"/>
          <p:cNvSpPr/>
          <p:nvPr/>
        </p:nvSpPr>
        <p:spPr>
          <a:xfrm>
            <a:off x="4663440" y="3566160"/>
            <a:ext cx="4160520" cy="502920"/>
          </a:xfrm>
          <a:prstGeom prst="rect">
            <a:avLst/>
          </a:prstGeom>
          <a:solidFill>
            <a:srgbClr val="0D2137"/>
          </a:solidFill>
          <a:ln w="6350">
            <a:solidFill>
              <a:srgbClr val="1A2A3A"/>
            </a:solidFill>
            <a:prstDash val="solid"/>
          </a:ln>
        </p:spPr>
      </p:sp>
      <p:sp>
        <p:nvSpPr>
          <p:cNvPr id="48" name="Text 46"/>
          <p:cNvSpPr/>
          <p:nvPr/>
        </p:nvSpPr>
        <p:spPr>
          <a:xfrm>
            <a:off x="4754880" y="3639312"/>
            <a:ext cx="1371600" cy="347472"/>
          </a:xfrm>
          <a:prstGeom prst="rect">
            <a:avLst/>
          </a:prstGeom>
          <a:noFill/>
          <a:ln/>
        </p:spPr>
        <p:txBody>
          <a:bodyPr wrap="square" rtlCol="0" anchor="ctr"/>
          <a:lstStyle/>
          <a:p>
            <a:pPr indent="0" marL="0">
              <a:buNone/>
            </a:pPr>
            <a:r>
              <a:rPr lang="en-US" sz="1050" b="1" dirty="0">
                <a:solidFill>
                  <a:srgbClr val="00B4D8"/>
                </a:solidFill>
                <a:latin typeface="Calibri" pitchFamily="34" charset="0"/>
                <a:ea typeface="Calibri" pitchFamily="34" charset="-122"/>
                <a:cs typeface="Calibri" pitchFamily="34" charset="-120"/>
              </a:rPr>
              <a:t>e_mode</a:t>
            </a:r>
            <a:endParaRPr lang="en-US" sz="1050" dirty="0"/>
          </a:p>
        </p:txBody>
      </p:sp>
      <p:sp>
        <p:nvSpPr>
          <p:cNvPr id="49" name="Text 47"/>
          <p:cNvSpPr/>
          <p:nvPr/>
        </p:nvSpPr>
        <p:spPr>
          <a:xfrm>
            <a:off x="6126480" y="3639312"/>
            <a:ext cx="640080" cy="347472"/>
          </a:xfrm>
          <a:prstGeom prst="rect">
            <a:avLst/>
          </a:prstGeom>
          <a:noFill/>
          <a:ln/>
        </p:spPr>
        <p:txBody>
          <a:bodyPr wrap="square" rtlCol="0" anchor="ctr"/>
          <a:lstStyle/>
          <a:p>
            <a:pPr indent="0" marL="0">
              <a:buNone/>
            </a:pPr>
            <a:r>
              <a:rPr lang="en-US" sz="1300" b="1" dirty="0">
                <a:solidFill>
                  <a:srgbClr val="FFD166"/>
                </a:solidFill>
                <a:latin typeface="Consolas" pitchFamily="34" charset="0"/>
                <a:ea typeface="Consolas" pitchFamily="34" charset="-122"/>
                <a:cs typeface="Consolas" pitchFamily="34" charset="-120"/>
              </a:rPr>
              <a:t>ON</a:t>
            </a:r>
            <a:endParaRPr lang="en-US" sz="1300" dirty="0"/>
          </a:p>
        </p:txBody>
      </p:sp>
      <p:sp>
        <p:nvSpPr>
          <p:cNvPr id="50" name="Text 48"/>
          <p:cNvSpPr/>
          <p:nvPr/>
        </p:nvSpPr>
        <p:spPr>
          <a:xfrm>
            <a:off x="6766560" y="3657600"/>
            <a:ext cx="2011680" cy="320040"/>
          </a:xfrm>
          <a:prstGeom prst="rect">
            <a:avLst/>
          </a:prstGeom>
          <a:noFill/>
          <a:ln/>
        </p:spPr>
        <p:txBody>
          <a:bodyPr wrap="square" rtlCol="0" anchor="ctr"/>
          <a:lstStyle/>
          <a:p>
            <a:pPr indent="0" marL="0">
              <a:buNone/>
            </a:pPr>
            <a:r>
              <a:rPr lang="en-US" sz="950" dirty="0">
                <a:solidFill>
                  <a:srgbClr val="8EACC4"/>
                </a:solidFill>
                <a:latin typeface="Calibri" pitchFamily="34" charset="0"/>
                <a:ea typeface="Calibri" pitchFamily="34" charset="-122"/>
                <a:cs typeface="Calibri" pitchFamily="34" charset="-120"/>
              </a:rPr>
              <a:t>Instruction-type-aware training rates enabled</a:t>
            </a:r>
            <a:endParaRPr lang="en-US" sz="950" dirty="0"/>
          </a:p>
        </p:txBody>
      </p:sp>
      <p:sp>
        <p:nvSpPr>
          <p:cNvPr id="51" name="Shape 49"/>
          <p:cNvSpPr/>
          <p:nvPr/>
        </p:nvSpPr>
        <p:spPr>
          <a:xfrm>
            <a:off x="274320" y="4690872"/>
            <a:ext cx="8595360" cy="347472"/>
          </a:xfrm>
          <a:prstGeom prst="rect">
            <a:avLst/>
          </a:prstGeom>
          <a:solidFill>
            <a:srgbClr val="0A1A0A"/>
          </a:solidFill>
          <a:ln w="19050">
            <a:solidFill>
              <a:srgbClr val="06D6A0"/>
            </a:solidFill>
            <a:prstDash val="solid"/>
          </a:ln>
        </p:spPr>
      </p:sp>
      <p:sp>
        <p:nvSpPr>
          <p:cNvPr id="52" name="Text 50"/>
          <p:cNvSpPr/>
          <p:nvPr/>
        </p:nvSpPr>
        <p:spPr>
          <a:xfrm>
            <a:off x="365760" y="4727448"/>
            <a:ext cx="8412480" cy="274320"/>
          </a:xfrm>
          <a:prstGeom prst="rect">
            <a:avLst/>
          </a:prstGeom>
          <a:noFill/>
          <a:ln/>
        </p:spPr>
        <p:txBody>
          <a:bodyPr wrap="square" rtlCol="0" anchor="ctr"/>
          <a:lstStyle/>
          <a:p>
            <a:pPr algn="ctr" indent="0" marL="0">
              <a:buNone/>
            </a:pPr>
            <a:r>
              <a:rPr lang="en-US" sz="1200" b="1" dirty="0">
                <a:solidFill>
                  <a:srgbClr val="06D6A0"/>
                </a:solidFill>
                <a:latin typeface="Calibri" pitchFamily="34" charset="0"/>
                <a:ea typeface="Calibri" pitchFamily="34" charset="-122"/>
                <a:cs typeface="Calibri" pitchFamily="34" charset="-120"/>
              </a:rPr>
              <a:t>Storage Budget: SVP = 19.07 KB  |  VTAGE = 12.97 KB  |  TOTAL = 31.97 KB  ✓ Under 32 KB</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D2137"/>
          </a:solidFill>
          <a:ln w="12700">
            <a:solidFill>
              <a:srgbClr val="0D2137"/>
            </a:solidFill>
            <a:prstDash val="solid"/>
          </a:ln>
        </p:spPr>
      </p:sp>
      <p:sp>
        <p:nvSpPr>
          <p:cNvPr id="3" name="Text 1"/>
          <p:cNvSpPr/>
          <p:nvPr/>
        </p:nvSpPr>
        <p:spPr>
          <a:xfrm>
            <a:off x="365760" y="73152"/>
            <a:ext cx="8229600" cy="36576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IPC Results — Championship Run</a:t>
            </a:r>
            <a:endParaRPr lang="en-US" sz="2200" dirty="0"/>
          </a:p>
        </p:txBody>
      </p:sp>
      <p:sp>
        <p:nvSpPr>
          <p:cNvPr id="4" name="Shape 2"/>
          <p:cNvSpPr/>
          <p:nvPr/>
        </p:nvSpPr>
        <p:spPr>
          <a:xfrm>
            <a:off x="365760" y="502920"/>
            <a:ext cx="1645920" cy="36576"/>
          </a:xfrm>
          <a:prstGeom prst="rect">
            <a:avLst/>
          </a:prstGeom>
          <a:solidFill>
            <a:srgbClr val="FFD166"/>
          </a:solidFill>
          <a:ln w="12700">
            <a:solidFill>
              <a:srgbClr val="FFD166"/>
            </a:solidFill>
            <a:prstDash val="solid"/>
          </a:ln>
        </p:spPr>
      </p:sp>
      <p:graphicFrame>
        <p:nvGraphicFramePr>
          <p:cNvPr id="5" name="Chart 0" descr=""/>
          <p:cNvGraphicFramePr/>
          <p:nvPr/>
        </p:nvGraphicFramePr>
        <p:xfrm>
          <a:off x="274320" y="594360"/>
          <a:ext cx="5852160" cy="4343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309360" y="658368"/>
            <a:ext cx="2606040" cy="960120"/>
          </a:xfrm>
          <a:prstGeom prst="rect">
            <a:avLst/>
          </a:prstGeom>
          <a:solidFill>
            <a:srgbClr val="0D2137"/>
          </a:solidFill>
          <a:ln w="19050">
            <a:solidFill>
              <a:srgbClr val="00F5D4"/>
            </a:solidFill>
            <a:prstDash val="solid"/>
          </a:ln>
        </p:spPr>
      </p:sp>
      <p:sp>
        <p:nvSpPr>
          <p:cNvPr id="7" name="Text 4"/>
          <p:cNvSpPr/>
          <p:nvPr/>
        </p:nvSpPr>
        <p:spPr>
          <a:xfrm>
            <a:off x="6309360" y="694944"/>
            <a:ext cx="2606040" cy="457200"/>
          </a:xfrm>
          <a:prstGeom prst="rect">
            <a:avLst/>
          </a:prstGeom>
          <a:noFill/>
          <a:ln/>
        </p:spPr>
        <p:txBody>
          <a:bodyPr wrap="square" rtlCol="0" anchor="ctr"/>
          <a:lstStyle/>
          <a:p>
            <a:pPr algn="ctr" indent="0" marL="0">
              <a:buNone/>
            </a:pPr>
            <a:r>
              <a:rPr lang="en-US" sz="2200" b="1" dirty="0">
                <a:solidFill>
                  <a:srgbClr val="00F5D4"/>
                </a:solidFill>
                <a:latin typeface="Calibri" pitchFamily="34" charset="0"/>
                <a:ea typeface="Calibri" pitchFamily="34" charset="-122"/>
                <a:cs typeface="Calibri" pitchFamily="34" charset="-120"/>
              </a:rPr>
              <a:t>2.051</a:t>
            </a:r>
            <a:endParaRPr lang="en-US" sz="2200" dirty="0"/>
          </a:p>
        </p:txBody>
      </p:sp>
      <p:sp>
        <p:nvSpPr>
          <p:cNvPr id="8" name="Text 5"/>
          <p:cNvSpPr/>
          <p:nvPr/>
        </p:nvSpPr>
        <p:spPr>
          <a:xfrm>
            <a:off x="6309360" y="1133856"/>
            <a:ext cx="2606040" cy="24688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Harmonic Mean</a:t>
            </a:r>
            <a:endParaRPr lang="en-US" sz="1100" dirty="0"/>
          </a:p>
        </p:txBody>
      </p:sp>
      <p:sp>
        <p:nvSpPr>
          <p:cNvPr id="9" name="Text 6"/>
          <p:cNvSpPr/>
          <p:nvPr/>
        </p:nvSpPr>
        <p:spPr>
          <a:xfrm>
            <a:off x="6309360" y="1362456"/>
            <a:ext cx="2606040" cy="210312"/>
          </a:xfrm>
          <a:prstGeom prst="rect">
            <a:avLst/>
          </a:prstGeom>
          <a:noFill/>
          <a:ln/>
        </p:spPr>
        <p:txBody>
          <a:bodyPr wrap="square" rtlCol="0" anchor="ctr"/>
          <a:lstStyle/>
          <a:p>
            <a:pPr algn="ctr" indent="0" marL="0">
              <a:buNone/>
            </a:pPr>
            <a:r>
              <a:rPr lang="en-US" sz="1000" dirty="0">
                <a:solidFill>
                  <a:srgbClr val="8EACC4"/>
                </a:solidFill>
                <a:latin typeface="Calibri" pitchFamily="34" charset="0"/>
                <a:ea typeface="Calibri" pitchFamily="34" charset="-122"/>
                <a:cs typeface="Calibri" pitchFamily="34" charset="-120"/>
              </a:rPr>
              <a:t>vs 2.02 baseline</a:t>
            </a:r>
            <a:endParaRPr lang="en-US" sz="1000" dirty="0"/>
          </a:p>
        </p:txBody>
      </p:sp>
      <p:sp>
        <p:nvSpPr>
          <p:cNvPr id="10" name="Shape 7"/>
          <p:cNvSpPr/>
          <p:nvPr/>
        </p:nvSpPr>
        <p:spPr>
          <a:xfrm>
            <a:off x="6309360" y="1709928"/>
            <a:ext cx="2606040" cy="960120"/>
          </a:xfrm>
          <a:prstGeom prst="rect">
            <a:avLst/>
          </a:prstGeom>
          <a:solidFill>
            <a:srgbClr val="0D2137"/>
          </a:solidFill>
          <a:ln w="19050">
            <a:solidFill>
              <a:srgbClr val="00B4D8"/>
            </a:solidFill>
            <a:prstDash val="solid"/>
          </a:ln>
        </p:spPr>
      </p:sp>
      <p:sp>
        <p:nvSpPr>
          <p:cNvPr id="11" name="Text 8"/>
          <p:cNvSpPr/>
          <p:nvPr/>
        </p:nvSpPr>
        <p:spPr>
          <a:xfrm>
            <a:off x="6309360" y="1746504"/>
            <a:ext cx="2606040" cy="457200"/>
          </a:xfrm>
          <a:prstGeom prst="rect">
            <a:avLst/>
          </a:prstGeom>
          <a:noFill/>
          <a:ln/>
        </p:spPr>
        <p:txBody>
          <a:bodyPr wrap="square" rtlCol="0" anchor="ctr"/>
          <a:lstStyle/>
          <a:p>
            <a:pPr algn="ctr" indent="0" marL="0">
              <a:buNone/>
            </a:pPr>
            <a:r>
              <a:rPr lang="en-US" sz="2200" b="1" dirty="0">
                <a:solidFill>
                  <a:srgbClr val="00B4D8"/>
                </a:solidFill>
                <a:latin typeface="Calibri" pitchFamily="34" charset="0"/>
                <a:ea typeface="Calibri" pitchFamily="34" charset="-122"/>
                <a:cs typeface="Calibri" pitchFamily="34" charset="-120"/>
              </a:rPr>
              <a:t>+13.2%</a:t>
            </a:r>
            <a:endParaRPr lang="en-US" sz="2200" dirty="0"/>
          </a:p>
        </p:txBody>
      </p:sp>
      <p:sp>
        <p:nvSpPr>
          <p:cNvPr id="12" name="Text 9"/>
          <p:cNvSpPr/>
          <p:nvPr/>
        </p:nvSpPr>
        <p:spPr>
          <a:xfrm>
            <a:off x="6309360" y="2185416"/>
            <a:ext cx="2606040" cy="24688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perlbench</a:t>
            </a:r>
            <a:endParaRPr lang="en-US" sz="1100" dirty="0"/>
          </a:p>
        </p:txBody>
      </p:sp>
      <p:sp>
        <p:nvSpPr>
          <p:cNvPr id="13" name="Text 10"/>
          <p:cNvSpPr/>
          <p:nvPr/>
        </p:nvSpPr>
        <p:spPr>
          <a:xfrm>
            <a:off x="6309360" y="2414016"/>
            <a:ext cx="2606040" cy="210312"/>
          </a:xfrm>
          <a:prstGeom prst="rect">
            <a:avLst/>
          </a:prstGeom>
          <a:noFill/>
          <a:ln/>
        </p:spPr>
        <p:txBody>
          <a:bodyPr wrap="square" rtlCol="0" anchor="ctr"/>
          <a:lstStyle/>
          <a:p>
            <a:pPr algn="ctr" indent="0" marL="0">
              <a:buNone/>
            </a:pPr>
            <a:r>
              <a:rPr lang="en-US" sz="1000" dirty="0">
                <a:solidFill>
                  <a:srgbClr val="8EACC4"/>
                </a:solidFill>
                <a:latin typeface="Calibri" pitchFamily="34" charset="0"/>
                <a:ea typeface="Calibri" pitchFamily="34" charset="-122"/>
                <a:cs typeface="Calibri" pitchFamily="34" charset="-120"/>
              </a:rPr>
              <a:t>5.01 → 5.67 IPC</a:t>
            </a:r>
            <a:endParaRPr lang="en-US" sz="1000" dirty="0"/>
          </a:p>
        </p:txBody>
      </p:sp>
      <p:sp>
        <p:nvSpPr>
          <p:cNvPr id="14" name="Shape 11"/>
          <p:cNvSpPr/>
          <p:nvPr/>
        </p:nvSpPr>
        <p:spPr>
          <a:xfrm>
            <a:off x="6309360" y="2761488"/>
            <a:ext cx="2606040" cy="960120"/>
          </a:xfrm>
          <a:prstGeom prst="rect">
            <a:avLst/>
          </a:prstGeom>
          <a:solidFill>
            <a:srgbClr val="0D2137"/>
          </a:solidFill>
          <a:ln w="19050">
            <a:solidFill>
              <a:srgbClr val="FFD166"/>
            </a:solidFill>
            <a:prstDash val="solid"/>
          </a:ln>
        </p:spPr>
      </p:sp>
      <p:sp>
        <p:nvSpPr>
          <p:cNvPr id="15" name="Text 12"/>
          <p:cNvSpPr/>
          <p:nvPr/>
        </p:nvSpPr>
        <p:spPr>
          <a:xfrm>
            <a:off x="6309360" y="2798064"/>
            <a:ext cx="2606040" cy="457200"/>
          </a:xfrm>
          <a:prstGeom prst="rect">
            <a:avLst/>
          </a:prstGeom>
          <a:noFill/>
          <a:ln/>
        </p:spPr>
        <p:txBody>
          <a:bodyPr wrap="square" rtlCol="0" anchor="ctr"/>
          <a:lstStyle/>
          <a:p>
            <a:pPr algn="ctr" indent="0" marL="0">
              <a:buNone/>
            </a:pPr>
            <a:r>
              <a:rPr lang="en-US" sz="2200" b="1" dirty="0">
                <a:solidFill>
                  <a:srgbClr val="FFD166"/>
                </a:solidFill>
                <a:latin typeface="Calibri" pitchFamily="34" charset="0"/>
                <a:ea typeface="Calibri" pitchFamily="34" charset="-122"/>
                <a:cs typeface="Calibri" pitchFamily="34" charset="-120"/>
              </a:rPr>
              <a:t>+3.1%</a:t>
            </a:r>
            <a:endParaRPr lang="en-US" sz="2200" dirty="0"/>
          </a:p>
        </p:txBody>
      </p:sp>
      <p:sp>
        <p:nvSpPr>
          <p:cNvPr id="16" name="Text 13"/>
          <p:cNvSpPr/>
          <p:nvPr/>
        </p:nvSpPr>
        <p:spPr>
          <a:xfrm>
            <a:off x="6309360" y="3236976"/>
            <a:ext cx="2606040" cy="24688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sjeng / povray</a:t>
            </a:r>
            <a:endParaRPr lang="en-US" sz="1100" dirty="0"/>
          </a:p>
        </p:txBody>
      </p:sp>
      <p:sp>
        <p:nvSpPr>
          <p:cNvPr id="17" name="Text 14"/>
          <p:cNvSpPr/>
          <p:nvPr/>
        </p:nvSpPr>
        <p:spPr>
          <a:xfrm>
            <a:off x="6309360" y="3465576"/>
            <a:ext cx="2606040" cy="210312"/>
          </a:xfrm>
          <a:prstGeom prst="rect">
            <a:avLst/>
          </a:prstGeom>
          <a:noFill/>
          <a:ln/>
        </p:spPr>
        <p:txBody>
          <a:bodyPr wrap="square" rtlCol="0" anchor="ctr"/>
          <a:lstStyle/>
          <a:p>
            <a:pPr algn="ctr" indent="0" marL="0">
              <a:buNone/>
            </a:pPr>
            <a:r>
              <a:rPr lang="en-US" sz="1000" dirty="0">
                <a:solidFill>
                  <a:srgbClr val="8EACC4"/>
                </a:solidFill>
                <a:latin typeface="Calibri" pitchFamily="34" charset="0"/>
                <a:ea typeface="Calibri" pitchFamily="34" charset="-122"/>
                <a:cs typeface="Calibri" pitchFamily="34" charset="-120"/>
              </a:rPr>
              <a:t>Chaotic workloads</a:t>
            </a:r>
            <a:endParaRPr lang="en-US" sz="1000" dirty="0"/>
          </a:p>
        </p:txBody>
      </p:sp>
      <p:sp>
        <p:nvSpPr>
          <p:cNvPr id="18" name="Shape 15"/>
          <p:cNvSpPr/>
          <p:nvPr/>
        </p:nvSpPr>
        <p:spPr>
          <a:xfrm>
            <a:off x="6309360" y="3813048"/>
            <a:ext cx="2606040" cy="960120"/>
          </a:xfrm>
          <a:prstGeom prst="rect">
            <a:avLst/>
          </a:prstGeom>
          <a:solidFill>
            <a:srgbClr val="0D2137"/>
          </a:solidFill>
          <a:ln w="19050">
            <a:solidFill>
              <a:srgbClr val="06D6A0"/>
            </a:solidFill>
            <a:prstDash val="solid"/>
          </a:ln>
        </p:spPr>
      </p:sp>
      <p:sp>
        <p:nvSpPr>
          <p:cNvPr id="19" name="Text 16"/>
          <p:cNvSpPr/>
          <p:nvPr/>
        </p:nvSpPr>
        <p:spPr>
          <a:xfrm>
            <a:off x="6309360" y="3849624"/>
            <a:ext cx="2606040" cy="457200"/>
          </a:xfrm>
          <a:prstGeom prst="rect">
            <a:avLst/>
          </a:prstGeom>
          <a:noFill/>
          <a:ln/>
        </p:spPr>
        <p:txBody>
          <a:bodyPr wrap="square" rtlCol="0" anchor="ctr"/>
          <a:lstStyle/>
          <a:p>
            <a:pPr algn="ctr" indent="0" marL="0">
              <a:buNone/>
            </a:pPr>
            <a:r>
              <a:rPr lang="en-US" sz="2200" b="1" dirty="0">
                <a:solidFill>
                  <a:srgbClr val="06D6A0"/>
                </a:solidFill>
                <a:latin typeface="Calibri" pitchFamily="34" charset="0"/>
                <a:ea typeface="Calibri" pitchFamily="34" charset="-122"/>
                <a:cs typeface="Calibri" pitchFamily="34" charset="-120"/>
              </a:rPr>
              <a:t>+8.5%</a:t>
            </a:r>
            <a:endParaRPr lang="en-US" sz="2200" dirty="0"/>
          </a:p>
        </p:txBody>
      </p:sp>
      <p:sp>
        <p:nvSpPr>
          <p:cNvPr id="20" name="Text 17"/>
          <p:cNvSpPr/>
          <p:nvPr/>
        </p:nvSpPr>
        <p:spPr>
          <a:xfrm>
            <a:off x="6309360" y="4288536"/>
            <a:ext cx="2606040" cy="24688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mcf / astar</a:t>
            </a:r>
            <a:endParaRPr lang="en-US" sz="1100" dirty="0"/>
          </a:p>
        </p:txBody>
      </p:sp>
      <p:sp>
        <p:nvSpPr>
          <p:cNvPr id="21" name="Text 18"/>
          <p:cNvSpPr/>
          <p:nvPr/>
        </p:nvSpPr>
        <p:spPr>
          <a:xfrm>
            <a:off x="6309360" y="4517136"/>
            <a:ext cx="2606040" cy="210312"/>
          </a:xfrm>
          <a:prstGeom prst="rect">
            <a:avLst/>
          </a:prstGeom>
          <a:noFill/>
          <a:ln/>
        </p:spPr>
        <p:txBody>
          <a:bodyPr wrap="square" rtlCol="0" anchor="ctr"/>
          <a:lstStyle/>
          <a:p>
            <a:pPr algn="ctr" indent="0" marL="0">
              <a:buNone/>
            </a:pPr>
            <a:r>
              <a:rPr lang="en-US" sz="1000" dirty="0">
                <a:solidFill>
                  <a:srgbClr val="8EACC4"/>
                </a:solidFill>
                <a:latin typeface="Calibri" pitchFamily="34" charset="0"/>
                <a:ea typeface="Calibri" pitchFamily="34" charset="-122"/>
                <a:cs typeface="Calibri" pitchFamily="34" charset="-120"/>
              </a:rPr>
              <a:t>Memory workloads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D2137"/>
          </a:solidFill>
          <a:ln w="12700">
            <a:solidFill>
              <a:srgbClr val="0D2137"/>
            </a:solidFill>
            <a:prstDash val="solid"/>
          </a:ln>
        </p:spPr>
      </p:sp>
      <p:sp>
        <p:nvSpPr>
          <p:cNvPr id="3" name="Text 1"/>
          <p:cNvSpPr/>
          <p:nvPr/>
        </p:nvSpPr>
        <p:spPr>
          <a:xfrm>
            <a:off x="365760" y="73152"/>
            <a:ext cx="8229600" cy="36576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VP Metrics — What the Data Reveals</a:t>
            </a:r>
            <a:endParaRPr lang="en-US" sz="2200" dirty="0"/>
          </a:p>
        </p:txBody>
      </p:sp>
      <p:sp>
        <p:nvSpPr>
          <p:cNvPr id="4" name="Shape 2"/>
          <p:cNvSpPr/>
          <p:nvPr/>
        </p:nvSpPr>
        <p:spPr>
          <a:xfrm>
            <a:off x="365760" y="502920"/>
            <a:ext cx="2011680" cy="36576"/>
          </a:xfrm>
          <a:prstGeom prst="rect">
            <a:avLst/>
          </a:prstGeom>
          <a:solidFill>
            <a:srgbClr val="00B4D8"/>
          </a:solidFill>
          <a:ln w="12700">
            <a:solidFill>
              <a:srgbClr val="00B4D8"/>
            </a:solidFill>
            <a:prstDash val="solid"/>
          </a:ln>
        </p:spPr>
      </p:sp>
      <p:sp>
        <p:nvSpPr>
          <p:cNvPr id="5" name="Shape 3"/>
          <p:cNvSpPr/>
          <p:nvPr/>
        </p:nvSpPr>
        <p:spPr>
          <a:xfrm>
            <a:off x="274320" y="640080"/>
            <a:ext cx="4206240" cy="1828800"/>
          </a:xfrm>
          <a:prstGeom prst="rect">
            <a:avLst/>
          </a:prstGeom>
          <a:solidFill>
            <a:srgbClr val="0D2137"/>
          </a:solidFill>
          <a:ln w="19050">
            <a:solidFill>
              <a:srgbClr val="06D6A0"/>
            </a:solidFill>
            <a:prstDash val="solid"/>
          </a:ln>
        </p:spPr>
      </p:sp>
      <p:sp>
        <p:nvSpPr>
          <p:cNvPr id="6" name="Shape 4"/>
          <p:cNvSpPr/>
          <p:nvPr/>
        </p:nvSpPr>
        <p:spPr>
          <a:xfrm>
            <a:off x="274320" y="640080"/>
            <a:ext cx="73152" cy="1828800"/>
          </a:xfrm>
          <a:prstGeom prst="rect">
            <a:avLst/>
          </a:prstGeom>
          <a:solidFill>
            <a:srgbClr val="06D6A0"/>
          </a:solidFill>
          <a:ln w="12700">
            <a:solidFill>
              <a:srgbClr val="06D6A0"/>
            </a:solidFill>
            <a:prstDash val="solid"/>
          </a:ln>
        </p:spPr>
      </p:sp>
      <p:sp>
        <p:nvSpPr>
          <p:cNvPr id="7" name="Text 5"/>
          <p:cNvSpPr/>
          <p:nvPr/>
        </p:nvSpPr>
        <p:spPr>
          <a:xfrm>
            <a:off x="438912" y="731520"/>
            <a:ext cx="3931920" cy="274320"/>
          </a:xfrm>
          <a:prstGeom prst="rect">
            <a:avLst/>
          </a:prstGeom>
          <a:noFill/>
          <a:ln/>
        </p:spPr>
        <p:txBody>
          <a:bodyPr wrap="square" rtlCol="0" anchor="ctr"/>
          <a:lstStyle/>
          <a:p>
            <a:pPr indent="0" marL="0">
              <a:buNone/>
            </a:pPr>
            <a:r>
              <a:rPr lang="en-US" sz="1200" b="1" dirty="0">
                <a:solidFill>
                  <a:srgbClr val="06D6A0"/>
                </a:solidFill>
                <a:latin typeface="Calibri" pitchFamily="34" charset="0"/>
                <a:ea typeface="Calibri" pitchFamily="34" charset="-122"/>
                <a:cs typeface="Calibri" pitchFamily="34" charset="-120"/>
              </a:rPr>
              <a:t>Confident &amp; Correct</a:t>
            </a:r>
            <a:endParaRPr lang="en-US" sz="1200" dirty="0"/>
          </a:p>
        </p:txBody>
      </p:sp>
      <p:sp>
        <p:nvSpPr>
          <p:cNvPr id="8" name="Text 6"/>
          <p:cNvSpPr/>
          <p:nvPr/>
        </p:nvSpPr>
        <p:spPr>
          <a:xfrm>
            <a:off x="438912" y="1051560"/>
            <a:ext cx="3931920" cy="1325880"/>
          </a:xfrm>
          <a:prstGeom prst="rect">
            <a:avLst/>
          </a:prstGeom>
          <a:noFill/>
          <a:ln/>
        </p:spPr>
        <p:txBody>
          <a:bodyPr wrap="square" rtlCol="0" anchor="ctr"/>
          <a:lstStyle/>
          <a:p>
            <a:pPr indent="0" marL="0">
              <a:buNone/>
            </a:pPr>
            <a:r>
              <a:rPr lang="en-US" sz="1150" dirty="0">
                <a:solidFill>
                  <a:srgbClr val="E8F4FD"/>
                </a:solidFill>
                <a:latin typeface="Calibri" pitchFamily="34" charset="0"/>
                <a:ea typeface="Calibri" pitchFamily="34" charset="-122"/>
                <a:cs typeface="Calibri" pitchFamily="34" charset="-120"/>
              </a:rPr>
              <a:t>perlbench sees over 5.3 million confident correct predictions — direct IPC gains. VTAGE captures the complex control-flow patterns that SVP alone could never learn. This is the core value proposition of the hybrid design.</a:t>
            </a:r>
            <a:endParaRPr lang="en-US" sz="1150" dirty="0"/>
          </a:p>
        </p:txBody>
      </p:sp>
      <p:sp>
        <p:nvSpPr>
          <p:cNvPr id="9" name="Shape 7"/>
          <p:cNvSpPr/>
          <p:nvPr/>
        </p:nvSpPr>
        <p:spPr>
          <a:xfrm>
            <a:off x="4709160" y="640080"/>
            <a:ext cx="4206240" cy="1828800"/>
          </a:xfrm>
          <a:prstGeom prst="rect">
            <a:avLst/>
          </a:prstGeom>
          <a:solidFill>
            <a:srgbClr val="0D2137"/>
          </a:solidFill>
          <a:ln w="19050">
            <a:solidFill>
              <a:srgbClr val="EF476F"/>
            </a:solidFill>
            <a:prstDash val="solid"/>
          </a:ln>
        </p:spPr>
      </p:sp>
      <p:sp>
        <p:nvSpPr>
          <p:cNvPr id="10" name="Shape 8"/>
          <p:cNvSpPr/>
          <p:nvPr/>
        </p:nvSpPr>
        <p:spPr>
          <a:xfrm>
            <a:off x="4709160" y="640080"/>
            <a:ext cx="73152" cy="1828800"/>
          </a:xfrm>
          <a:prstGeom prst="rect">
            <a:avLst/>
          </a:prstGeom>
          <a:solidFill>
            <a:srgbClr val="EF476F"/>
          </a:solidFill>
          <a:ln w="12700">
            <a:solidFill>
              <a:srgbClr val="EF476F"/>
            </a:solidFill>
            <a:prstDash val="solid"/>
          </a:ln>
        </p:spPr>
      </p:sp>
      <p:sp>
        <p:nvSpPr>
          <p:cNvPr id="11" name="Text 9"/>
          <p:cNvSpPr/>
          <p:nvPr/>
        </p:nvSpPr>
        <p:spPr>
          <a:xfrm>
            <a:off x="4873752" y="731520"/>
            <a:ext cx="3931920" cy="274320"/>
          </a:xfrm>
          <a:prstGeom prst="rect">
            <a:avLst/>
          </a:prstGeom>
          <a:noFill/>
          <a:ln/>
        </p:spPr>
        <p:txBody>
          <a:bodyPr wrap="square" rtlCol="0" anchor="ctr"/>
          <a:lstStyle/>
          <a:p>
            <a:pPr indent="0" marL="0">
              <a:buNone/>
            </a:pPr>
            <a:r>
              <a:rPr lang="en-US" sz="1200" b="1" dirty="0">
                <a:solidFill>
                  <a:srgbClr val="EF476F"/>
                </a:solidFill>
                <a:latin typeface="Calibri" pitchFamily="34" charset="0"/>
                <a:ea typeface="Calibri" pitchFamily="34" charset="-122"/>
                <a:cs typeface="Calibri" pitchFamily="34" charset="-120"/>
              </a:rPr>
              <a:t>Confident &amp; Wrong (Mispredictions)</a:t>
            </a:r>
            <a:endParaRPr lang="en-US" sz="1200" dirty="0"/>
          </a:p>
        </p:txBody>
      </p:sp>
      <p:sp>
        <p:nvSpPr>
          <p:cNvPr id="12" name="Text 10"/>
          <p:cNvSpPr/>
          <p:nvPr/>
        </p:nvSpPr>
        <p:spPr>
          <a:xfrm>
            <a:off x="4873752" y="1051560"/>
            <a:ext cx="3931920" cy="1325880"/>
          </a:xfrm>
          <a:prstGeom prst="rect">
            <a:avLst/>
          </a:prstGeom>
          <a:noFill/>
          <a:ln/>
        </p:spPr>
        <p:txBody>
          <a:bodyPr wrap="square" rtlCol="0" anchor="ctr"/>
          <a:lstStyle/>
          <a:p>
            <a:pPr indent="0" marL="0">
              <a:buNone/>
            </a:pPr>
            <a:r>
              <a:rPr lang="en-US" sz="1150" dirty="0">
                <a:solidFill>
                  <a:srgbClr val="E8F4FD"/>
                </a:solidFill>
                <a:latin typeface="Calibri" pitchFamily="34" charset="0"/>
                <a:ea typeface="Calibri" pitchFamily="34" charset="-122"/>
                <a:cs typeface="Calibri" pitchFamily="34" charset="-120"/>
              </a:rPr>
              <a:t>povray has only 1,144 confident wrong predictions — an exceptionally low number. The high VTAGE confidence ceiling of 63 acts as a natural misprediction filter on chaotic floating-point workloads, where patterns are irregular and quickly shift.</a:t>
            </a:r>
            <a:endParaRPr lang="en-US" sz="1150" dirty="0"/>
          </a:p>
        </p:txBody>
      </p:sp>
      <p:sp>
        <p:nvSpPr>
          <p:cNvPr id="13" name="Shape 11"/>
          <p:cNvSpPr/>
          <p:nvPr/>
        </p:nvSpPr>
        <p:spPr>
          <a:xfrm>
            <a:off x="274320" y="2651760"/>
            <a:ext cx="4206240" cy="1828800"/>
          </a:xfrm>
          <a:prstGeom prst="rect">
            <a:avLst/>
          </a:prstGeom>
          <a:solidFill>
            <a:srgbClr val="0D2137"/>
          </a:solidFill>
          <a:ln w="19050">
            <a:solidFill>
              <a:srgbClr val="FFD166"/>
            </a:solidFill>
            <a:prstDash val="solid"/>
          </a:ln>
        </p:spPr>
      </p:sp>
      <p:sp>
        <p:nvSpPr>
          <p:cNvPr id="14" name="Shape 12"/>
          <p:cNvSpPr/>
          <p:nvPr/>
        </p:nvSpPr>
        <p:spPr>
          <a:xfrm>
            <a:off x="274320" y="2651760"/>
            <a:ext cx="73152" cy="1828800"/>
          </a:xfrm>
          <a:prstGeom prst="rect">
            <a:avLst/>
          </a:prstGeom>
          <a:solidFill>
            <a:srgbClr val="FFD166"/>
          </a:solidFill>
          <a:ln w="12700">
            <a:solidFill>
              <a:srgbClr val="FFD166"/>
            </a:solidFill>
            <a:prstDash val="solid"/>
          </a:ln>
        </p:spPr>
      </p:sp>
      <p:sp>
        <p:nvSpPr>
          <p:cNvPr id="15" name="Text 13"/>
          <p:cNvSpPr/>
          <p:nvPr/>
        </p:nvSpPr>
        <p:spPr>
          <a:xfrm>
            <a:off x="438912" y="2743200"/>
            <a:ext cx="3931920" cy="274320"/>
          </a:xfrm>
          <a:prstGeom prst="rect">
            <a:avLst/>
          </a:prstGeom>
          <a:noFill/>
          <a:ln/>
        </p:spPr>
        <p:txBody>
          <a:bodyPr wrap="square" rtlCol="0" anchor="ctr"/>
          <a:lstStyle/>
          <a:p>
            <a:pPr indent="0" marL="0">
              <a:buNone/>
            </a:pPr>
            <a:r>
              <a:rPr lang="en-US" sz="1200" b="1" dirty="0">
                <a:solidFill>
                  <a:srgbClr val="FFD166"/>
                </a:solidFill>
                <a:latin typeface="Calibri" pitchFamily="34" charset="0"/>
                <a:ea typeface="Calibri" pitchFamily="34" charset="-122"/>
                <a:cs typeface="Calibri" pitchFamily="34" charset="-120"/>
              </a:rPr>
              <a:t>Unconfident but Correct (Silent IPC)</a:t>
            </a:r>
            <a:endParaRPr lang="en-US" sz="1200" dirty="0"/>
          </a:p>
        </p:txBody>
      </p:sp>
      <p:sp>
        <p:nvSpPr>
          <p:cNvPr id="16" name="Text 14"/>
          <p:cNvSpPr/>
          <p:nvPr/>
        </p:nvSpPr>
        <p:spPr>
          <a:xfrm>
            <a:off x="438912" y="3063240"/>
            <a:ext cx="3931920" cy="1325880"/>
          </a:xfrm>
          <a:prstGeom prst="rect">
            <a:avLst/>
          </a:prstGeom>
          <a:noFill/>
          <a:ln/>
        </p:spPr>
        <p:txBody>
          <a:bodyPr wrap="square" rtlCol="0" anchor="ctr"/>
          <a:lstStyle/>
          <a:p>
            <a:pPr indent="0" marL="0">
              <a:buNone/>
            </a:pPr>
            <a:r>
              <a:rPr lang="en-US" sz="1150" dirty="0">
                <a:solidFill>
                  <a:srgbClr val="E8F4FD"/>
                </a:solidFill>
                <a:latin typeface="Calibri" pitchFamily="34" charset="0"/>
                <a:ea typeface="Calibri" pitchFamily="34" charset="-122"/>
                <a:cs typeface="Calibri" pitchFamily="34" charset="-120"/>
              </a:rPr>
              <a:t>mcf has 1.9 million correct predictions sitting silent — the predictor knows the right answer but hasn't accumulated enough confidence to fire. This represents the single largest unexplored IPC opportunity and guided much of our config tuning.</a:t>
            </a:r>
            <a:endParaRPr lang="en-US" sz="1150" dirty="0"/>
          </a:p>
        </p:txBody>
      </p:sp>
      <p:sp>
        <p:nvSpPr>
          <p:cNvPr id="17" name="Shape 15"/>
          <p:cNvSpPr/>
          <p:nvPr/>
        </p:nvSpPr>
        <p:spPr>
          <a:xfrm>
            <a:off x="4709160" y="2651760"/>
            <a:ext cx="4206240" cy="1828800"/>
          </a:xfrm>
          <a:prstGeom prst="rect">
            <a:avLst/>
          </a:prstGeom>
          <a:solidFill>
            <a:srgbClr val="0D2137"/>
          </a:solidFill>
          <a:ln w="19050">
            <a:solidFill>
              <a:srgbClr val="FF6B35"/>
            </a:solidFill>
            <a:prstDash val="solid"/>
          </a:ln>
        </p:spPr>
      </p:sp>
      <p:sp>
        <p:nvSpPr>
          <p:cNvPr id="18" name="Shape 16"/>
          <p:cNvSpPr/>
          <p:nvPr/>
        </p:nvSpPr>
        <p:spPr>
          <a:xfrm>
            <a:off x="4709160" y="2651760"/>
            <a:ext cx="73152" cy="1828800"/>
          </a:xfrm>
          <a:prstGeom prst="rect">
            <a:avLst/>
          </a:prstGeom>
          <a:solidFill>
            <a:srgbClr val="FF6B35"/>
          </a:solidFill>
          <a:ln w="12700">
            <a:solidFill>
              <a:srgbClr val="FF6B35"/>
            </a:solidFill>
            <a:prstDash val="solid"/>
          </a:ln>
        </p:spPr>
      </p:sp>
      <p:sp>
        <p:nvSpPr>
          <p:cNvPr id="19" name="Text 17"/>
          <p:cNvSpPr/>
          <p:nvPr/>
        </p:nvSpPr>
        <p:spPr>
          <a:xfrm>
            <a:off x="4873752" y="2743200"/>
            <a:ext cx="3931920" cy="274320"/>
          </a:xfrm>
          <a:prstGeom prst="rect">
            <a:avLst/>
          </a:prstGeom>
          <a:noFill/>
          <a:ln/>
        </p:spPr>
        <p:txBody>
          <a:bodyPr wrap="square" rtlCol="0" anchor="ctr"/>
          <a:lstStyle/>
          <a:p>
            <a:pPr indent="0" marL="0">
              <a:buNone/>
            </a:pPr>
            <a:r>
              <a:rPr lang="en-US" sz="1200" b="1" dirty="0">
                <a:solidFill>
                  <a:srgbClr val="FF6B35"/>
                </a:solidFill>
                <a:latin typeface="Calibri" pitchFamily="34" charset="0"/>
                <a:ea typeface="Calibri" pitchFamily="34" charset="-122"/>
                <a:cs typeface="Calibri" pitchFamily="34" charset="-120"/>
              </a:rPr>
              <a:t>Complete Misses</a:t>
            </a:r>
            <a:endParaRPr lang="en-US" sz="1200" dirty="0"/>
          </a:p>
        </p:txBody>
      </p:sp>
      <p:sp>
        <p:nvSpPr>
          <p:cNvPr id="20" name="Text 18"/>
          <p:cNvSpPr/>
          <p:nvPr/>
        </p:nvSpPr>
        <p:spPr>
          <a:xfrm>
            <a:off x="4873752" y="3063240"/>
            <a:ext cx="3931920" cy="1325880"/>
          </a:xfrm>
          <a:prstGeom prst="rect">
            <a:avLst/>
          </a:prstGeom>
          <a:noFill/>
          <a:ln/>
        </p:spPr>
        <p:txBody>
          <a:bodyPr wrap="square" rtlCol="0" anchor="ctr"/>
          <a:lstStyle/>
          <a:p>
            <a:pPr indent="0" marL="0">
              <a:buNone/>
            </a:pPr>
            <a:r>
              <a:rPr lang="en-US" sz="1150" dirty="0">
                <a:solidFill>
                  <a:srgbClr val="E8F4FD"/>
                </a:solidFill>
                <a:latin typeface="Calibri" pitchFamily="34" charset="0"/>
                <a:ea typeface="Calibri" pitchFamily="34" charset="-122"/>
                <a:cs typeface="Calibri" pitchFamily="34" charset="-120"/>
              </a:rPr>
              <a:t>omnetpp drops from 1.9 million misses under pure SVP to 348K misses in our hybrid. VTAGE's branch-history context fills in predictions for complex pointer-chasing graph traversals that stride prediction completely fails on.</a:t>
            </a:r>
            <a:endParaRPr lang="en-US" sz="1150" dirty="0"/>
          </a:p>
        </p:txBody>
      </p:sp>
      <p:sp>
        <p:nvSpPr>
          <p:cNvPr id="21" name="Shape 19"/>
          <p:cNvSpPr/>
          <p:nvPr/>
        </p:nvSpPr>
        <p:spPr>
          <a:xfrm>
            <a:off x="274320" y="4599432"/>
            <a:ext cx="8595360" cy="384048"/>
          </a:xfrm>
          <a:prstGeom prst="rect">
            <a:avLst/>
          </a:prstGeom>
          <a:solidFill>
            <a:srgbClr val="0A1A0A"/>
          </a:solidFill>
          <a:ln w="12700">
            <a:solidFill>
              <a:srgbClr val="06D6A0"/>
            </a:solidFill>
            <a:prstDash val="solid"/>
          </a:ln>
        </p:spPr>
      </p:sp>
      <p:sp>
        <p:nvSpPr>
          <p:cNvPr id="22" name="Text 20"/>
          <p:cNvSpPr/>
          <p:nvPr/>
        </p:nvSpPr>
        <p:spPr>
          <a:xfrm>
            <a:off x="365760" y="4636008"/>
            <a:ext cx="8412480" cy="310896"/>
          </a:xfrm>
          <a:prstGeom prst="rect">
            <a:avLst/>
          </a:prstGeom>
          <a:noFill/>
          <a:ln/>
        </p:spPr>
        <p:txBody>
          <a:bodyPr wrap="square" rtlCol="0" anchor="ctr"/>
          <a:lstStyle/>
          <a:p>
            <a:pPr algn="ctr" indent="0" marL="0">
              <a:buNone/>
            </a:pPr>
            <a:r>
              <a:rPr lang="en-US" sz="1100" i="1" dirty="0">
                <a:solidFill>
                  <a:srgbClr val="06D6A0"/>
                </a:solidFill>
                <a:latin typeface="Calibri" pitchFamily="34" charset="0"/>
                <a:ea typeface="Calibri" pitchFamily="34" charset="-122"/>
                <a:cs typeface="Calibri" pitchFamily="34" charset="-120"/>
              </a:rPr>
              <a:t>Key takeaway: conf_max=63 nearly eliminates confident mispredictions on chaotic workloads. Decoupling SVP conf_max to 47 recovers structured workload performance without sacrificing that safety.</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D2137"/>
          </a:solidFill>
          <a:ln w="12700">
            <a:solidFill>
              <a:srgbClr val="0D2137"/>
            </a:solidFill>
            <a:prstDash val="solid"/>
          </a:ln>
        </p:spPr>
      </p:sp>
      <p:sp>
        <p:nvSpPr>
          <p:cNvPr id="3" name="Text 1"/>
          <p:cNvSpPr/>
          <p:nvPr/>
        </p:nvSpPr>
        <p:spPr>
          <a:xfrm>
            <a:off x="365760" y="73152"/>
            <a:ext cx="8229600" cy="36576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Exploration — Software, Hardware &amp; Their Interactions</a:t>
            </a:r>
            <a:endParaRPr lang="en-US" sz="2200" dirty="0"/>
          </a:p>
        </p:txBody>
      </p:sp>
      <p:sp>
        <p:nvSpPr>
          <p:cNvPr id="4" name="Shape 2"/>
          <p:cNvSpPr/>
          <p:nvPr/>
        </p:nvSpPr>
        <p:spPr>
          <a:xfrm>
            <a:off x="365760" y="502920"/>
            <a:ext cx="2926080" cy="36576"/>
          </a:xfrm>
          <a:prstGeom prst="rect">
            <a:avLst/>
          </a:prstGeom>
          <a:solidFill>
            <a:srgbClr val="FF6B35"/>
          </a:solidFill>
          <a:ln w="12700">
            <a:solidFill>
              <a:srgbClr val="FF6B35"/>
            </a:solidFill>
            <a:prstDash val="solid"/>
          </a:ln>
        </p:spPr>
      </p:sp>
      <p:sp>
        <p:nvSpPr>
          <p:cNvPr id="5" name="Text 3"/>
          <p:cNvSpPr/>
          <p:nvPr/>
        </p:nvSpPr>
        <p:spPr>
          <a:xfrm>
            <a:off x="365760" y="594360"/>
            <a:ext cx="8412480" cy="347472"/>
          </a:xfrm>
          <a:prstGeom prst="rect">
            <a:avLst/>
          </a:prstGeom>
          <a:noFill/>
          <a:ln/>
        </p:spPr>
        <p:txBody>
          <a:bodyPr wrap="square" rtlCol="0" anchor="ctr"/>
          <a:lstStyle/>
          <a:p>
            <a:pPr indent="0" marL="0">
              <a:buNone/>
            </a:pPr>
            <a:r>
              <a:rPr lang="en-US" sz="1200" i="1" dirty="0">
                <a:solidFill>
                  <a:srgbClr val="8EACC4"/>
                </a:solidFill>
                <a:latin typeface="Calibri" pitchFamily="34" charset="0"/>
                <a:ea typeface="Calibri" pitchFamily="34" charset="-122"/>
                <a:cs typeface="Calibri" pitchFamily="34" charset="-120"/>
              </a:rPr>
              <a:t>The critical insight: every software change creates a new hardware configuration optimum. We tested these as a joint space, not independently.</a:t>
            </a:r>
            <a:endParaRPr lang="en-US" sz="1200" dirty="0"/>
          </a:p>
        </p:txBody>
      </p:sp>
      <p:sp>
        <p:nvSpPr>
          <p:cNvPr id="6" name="Shape 4"/>
          <p:cNvSpPr/>
          <p:nvPr/>
        </p:nvSpPr>
        <p:spPr>
          <a:xfrm>
            <a:off x="274320" y="1005840"/>
            <a:ext cx="2788920" cy="3977640"/>
          </a:xfrm>
          <a:prstGeom prst="rect">
            <a:avLst/>
          </a:prstGeom>
          <a:solidFill>
            <a:srgbClr val="0D4F8B"/>
          </a:solidFill>
          <a:ln w="19050">
            <a:solidFill>
              <a:srgbClr val="00B4D8"/>
            </a:solidFill>
            <a:prstDash val="solid"/>
          </a:ln>
        </p:spPr>
      </p:sp>
      <p:sp>
        <p:nvSpPr>
          <p:cNvPr id="7" name="Shape 5"/>
          <p:cNvSpPr/>
          <p:nvPr/>
        </p:nvSpPr>
        <p:spPr>
          <a:xfrm>
            <a:off x="274320" y="1005840"/>
            <a:ext cx="2788920" cy="347472"/>
          </a:xfrm>
          <a:prstGeom prst="rect">
            <a:avLst/>
          </a:prstGeom>
          <a:solidFill>
            <a:srgbClr val="00B4D8"/>
          </a:solidFill>
          <a:ln w="12700">
            <a:solidFill>
              <a:srgbClr val="00B4D8"/>
            </a:solidFill>
            <a:prstDash val="solid"/>
          </a:ln>
        </p:spPr>
      </p:sp>
      <p:sp>
        <p:nvSpPr>
          <p:cNvPr id="8" name="Text 6"/>
          <p:cNvSpPr/>
          <p:nvPr/>
        </p:nvSpPr>
        <p:spPr>
          <a:xfrm>
            <a:off x="347472" y="1024128"/>
            <a:ext cx="2651760" cy="292608"/>
          </a:xfrm>
          <a:prstGeom prst="rect">
            <a:avLst/>
          </a:prstGeom>
          <a:noFill/>
          <a:ln/>
        </p:spPr>
        <p:txBody>
          <a:bodyPr wrap="square" rtlCol="0" anchor="ctr"/>
          <a:lstStyle/>
          <a:p>
            <a:pPr algn="ctr" indent="0" marL="0">
              <a:buNone/>
            </a:pPr>
            <a:r>
              <a:rPr lang="en-US" sz="1200" b="1" dirty="0">
                <a:solidFill>
                  <a:srgbClr val="0A1628"/>
                </a:solidFill>
                <a:latin typeface="Calibri" pitchFamily="34" charset="0"/>
                <a:ea typeface="Calibri" pitchFamily="34" charset="-122"/>
                <a:cs typeface="Calibri" pitchFamily="34" charset="-120"/>
              </a:rPr>
              <a:t>Hardware Geometry</a:t>
            </a:r>
            <a:endParaRPr lang="en-US" sz="1200" dirty="0"/>
          </a:p>
        </p:txBody>
      </p:sp>
      <p:sp>
        <p:nvSpPr>
          <p:cNvPr id="9" name="Text 7"/>
          <p:cNvSpPr/>
          <p:nvPr/>
        </p:nvSpPr>
        <p:spPr>
          <a:xfrm>
            <a:off x="384048" y="1417320"/>
            <a:ext cx="2560320" cy="3429000"/>
          </a:xfrm>
          <a:prstGeom prst="rect">
            <a:avLst/>
          </a:prstGeom>
          <a:noFill/>
          <a:ln/>
        </p:spPr>
        <p:txBody>
          <a:bodyPr wrap="square" rtlCol="0" anchor="ctr"/>
          <a:lstStyle/>
          <a:p>
            <a:pPr marL="342900" indent="-342900">
              <a:spcAft>
                <a:spcPts val="500"/>
              </a:spcAft>
              <a:buSzPct val="100000"/>
              <a:buChar char="•"/>
            </a:pPr>
            <a:r>
              <a:rPr lang="en-US" sz="1100" dirty="0">
                <a:solidFill>
                  <a:srgbClr val="E8F4FD"/>
                </a:solidFill>
                <a:latin typeface="Calibri" pitchFamily="34" charset="0"/>
                <a:ea typeface="Calibri" pitchFamily="34" charset="-122"/>
                <a:cs typeface="Calibri" pitchFamily="34" charset="-120"/>
              </a:rPr>
              <a:t>Number of VTAGE tables: 4, 5, 6</a:t>
            </a:r>
            <a:endParaRPr lang="en-US" sz="1100" dirty="0"/>
          </a:p>
          <a:p>
            <a:pPr marL="342900" indent="-342900">
              <a:spcAft>
                <a:spcPts val="500"/>
              </a:spcAft>
              <a:buSzPct val="100000"/>
              <a:buChar char="•"/>
            </a:pPr>
            <a:r>
              <a:rPr lang="en-US" sz="1100" dirty="0">
                <a:solidFill>
                  <a:srgbClr val="E8F4FD"/>
                </a:solidFill>
                <a:latin typeface="Calibri" pitchFamily="34" charset="0"/>
                <a:ea typeface="Calibri" pitchFamily="34" charset="-122"/>
                <a:cs typeface="Calibri" pitchFamily="34" charset="-120"/>
              </a:rPr>
              <a:t>History range: 16, 24, 32, 48, 64 branches</a:t>
            </a:r>
            <a:endParaRPr lang="en-US" sz="1100" dirty="0"/>
          </a:p>
          <a:p>
            <a:pPr marL="342900" indent="-342900">
              <a:spcAft>
                <a:spcPts val="500"/>
              </a:spcAft>
              <a:buSzPct val="100000"/>
              <a:buChar char="•"/>
            </a:pPr>
            <a:r>
              <a:rPr lang="en-US" sz="1100" dirty="0">
                <a:solidFill>
                  <a:srgbClr val="E8F4FD"/>
                </a:solidFill>
                <a:latin typeface="Calibri" pitchFamily="34" charset="0"/>
                <a:ea typeface="Calibri" pitchFamily="34" charset="-122"/>
                <a:cs typeface="Calibri" pitchFamily="34" charset="-120"/>
              </a:rPr>
              <a:t>Entries per table: 128, 256, 512</a:t>
            </a:r>
            <a:endParaRPr lang="en-US" sz="1100" dirty="0"/>
          </a:p>
          <a:p>
            <a:pPr marL="342900" indent="-342900">
              <a:spcAft>
                <a:spcPts val="500"/>
              </a:spcAft>
              <a:buSzPct val="100000"/>
              <a:buChar char="•"/>
            </a:pPr>
            <a:r>
              <a:rPr lang="en-US" sz="1100" dirty="0">
                <a:solidFill>
                  <a:srgbClr val="E8F4FD"/>
                </a:solidFill>
                <a:latin typeface="Calibri" pitchFamily="34" charset="0"/>
                <a:ea typeface="Calibri" pitchFamily="34" charset="-122"/>
                <a:cs typeface="Calibri" pitchFamily="34" charset="-120"/>
              </a:rPr>
              <a:t>Tag bit width: 10, 11, 12, 16 bits</a:t>
            </a:r>
            <a:endParaRPr lang="en-US" sz="1100" dirty="0"/>
          </a:p>
          <a:p>
            <a:pPr marL="342900" indent="-342900">
              <a:spcAft>
                <a:spcPts val="500"/>
              </a:spcAft>
              <a:buSzPct val="100000"/>
              <a:buChar char="•"/>
            </a:pPr>
            <a:r>
              <a:rPr lang="en-US" sz="1100" dirty="0">
                <a:solidFill>
                  <a:srgbClr val="E8F4FD"/>
                </a:solidFill>
                <a:latin typeface="Calibri" pitchFamily="34" charset="0"/>
                <a:ea typeface="Calibri" pitchFamily="34" charset="-122"/>
                <a:cs typeface="Calibri" pitchFamily="34" charset="-120"/>
              </a:rPr>
              <a:t>Confidence ceilings: 15, 31, 47, 63</a:t>
            </a:r>
            <a:endParaRPr lang="en-US" sz="1100" dirty="0"/>
          </a:p>
          <a:p>
            <a:pPr marL="342900" indent="-342900">
              <a:spcAft>
                <a:spcPts val="500"/>
              </a:spcAft>
              <a:buSzPct val="100000"/>
              <a:buChar char="•"/>
            </a:pPr>
            <a:r>
              <a:rPr lang="en-US" sz="1100" dirty="0">
                <a:solidFill>
                  <a:srgbClr val="E8F4FD"/>
                </a:solidFill>
                <a:latin typeface="Calibri" pitchFamily="34" charset="0"/>
                <a:ea typeface="Calibri" pitchFamily="34" charset="-122"/>
                <a:cs typeface="Calibri" pitchFamily="34" charset="-120"/>
              </a:rPr>
              <a:t>SVP size: 512, 1024, 2048 entries</a:t>
            </a:r>
            <a:endParaRPr lang="en-US" sz="1100" dirty="0"/>
          </a:p>
        </p:txBody>
      </p:sp>
      <p:sp>
        <p:nvSpPr>
          <p:cNvPr id="10" name="Shape 8"/>
          <p:cNvSpPr/>
          <p:nvPr/>
        </p:nvSpPr>
        <p:spPr>
          <a:xfrm>
            <a:off x="3246120" y="1005840"/>
            <a:ext cx="2788920" cy="3977640"/>
          </a:xfrm>
          <a:prstGeom prst="rect">
            <a:avLst/>
          </a:prstGeom>
          <a:solidFill>
            <a:srgbClr val="1A1A2A"/>
          </a:solidFill>
          <a:ln w="19050">
            <a:solidFill>
              <a:srgbClr val="FFD166"/>
            </a:solidFill>
            <a:prstDash val="solid"/>
          </a:ln>
        </p:spPr>
      </p:sp>
      <p:sp>
        <p:nvSpPr>
          <p:cNvPr id="11" name="Shape 9"/>
          <p:cNvSpPr/>
          <p:nvPr/>
        </p:nvSpPr>
        <p:spPr>
          <a:xfrm>
            <a:off x="3246120" y="1005840"/>
            <a:ext cx="2788920" cy="347472"/>
          </a:xfrm>
          <a:prstGeom prst="rect">
            <a:avLst/>
          </a:prstGeom>
          <a:solidFill>
            <a:srgbClr val="FFD166"/>
          </a:solidFill>
          <a:ln w="12700">
            <a:solidFill>
              <a:srgbClr val="FFD166"/>
            </a:solidFill>
            <a:prstDash val="solid"/>
          </a:ln>
        </p:spPr>
      </p:sp>
      <p:sp>
        <p:nvSpPr>
          <p:cNvPr id="12" name="Text 10"/>
          <p:cNvSpPr/>
          <p:nvPr/>
        </p:nvSpPr>
        <p:spPr>
          <a:xfrm>
            <a:off x="3319272" y="1024128"/>
            <a:ext cx="2651760" cy="292608"/>
          </a:xfrm>
          <a:prstGeom prst="rect">
            <a:avLst/>
          </a:prstGeom>
          <a:noFill/>
          <a:ln/>
        </p:spPr>
        <p:txBody>
          <a:bodyPr wrap="square" rtlCol="0" anchor="ctr"/>
          <a:lstStyle/>
          <a:p>
            <a:pPr algn="ctr" indent="0" marL="0">
              <a:buNone/>
            </a:pPr>
            <a:r>
              <a:rPr lang="en-US" sz="1200" b="1" dirty="0">
                <a:solidFill>
                  <a:srgbClr val="0A1628"/>
                </a:solidFill>
                <a:latin typeface="Calibri" pitchFamily="34" charset="0"/>
                <a:ea typeface="Calibri" pitchFamily="34" charset="-122"/>
                <a:cs typeface="Calibri" pitchFamily="34" charset="-120"/>
              </a:rPr>
              <a:t>Allocation &amp; Table Management</a:t>
            </a:r>
            <a:endParaRPr lang="en-US" sz="1200" dirty="0"/>
          </a:p>
        </p:txBody>
      </p:sp>
      <p:sp>
        <p:nvSpPr>
          <p:cNvPr id="13" name="Text 11"/>
          <p:cNvSpPr/>
          <p:nvPr/>
        </p:nvSpPr>
        <p:spPr>
          <a:xfrm>
            <a:off x="3355848" y="1417320"/>
            <a:ext cx="2560320" cy="3429000"/>
          </a:xfrm>
          <a:prstGeom prst="rect">
            <a:avLst/>
          </a:prstGeom>
          <a:noFill/>
          <a:ln/>
        </p:spPr>
        <p:txBody>
          <a:bodyPr wrap="square" rtlCol="0" anchor="ctr"/>
          <a:lstStyle/>
          <a:p>
            <a:pPr marL="342900" indent="-342900">
              <a:spcAft>
                <a:spcPts val="500"/>
              </a:spcAft>
              <a:buSzPct val="100000"/>
              <a:buChar char="•"/>
            </a:pPr>
            <a:r>
              <a:rPr lang="en-US" sz="1100" dirty="0">
                <a:solidFill>
                  <a:srgbClr val="E8F4FD"/>
                </a:solidFill>
                <a:latin typeface="Calibri" pitchFamily="34" charset="0"/>
                <a:ea typeface="Calibri" pitchFamily="34" charset="-122"/>
                <a:cs typeface="Calibri" pitchFamily="34" charset="-120"/>
              </a:rPr>
              <a:t>ALU allocation gate: 1-in-4, 1-in-8, 1-in-16</a:t>
            </a:r>
            <a:endParaRPr lang="en-US" sz="1100" dirty="0"/>
          </a:p>
          <a:p>
            <a:pPr marL="342900" indent="-342900">
              <a:spcAft>
                <a:spcPts val="500"/>
              </a:spcAft>
              <a:buSzPct val="100000"/>
              <a:buChar char="•"/>
            </a:pPr>
            <a:r>
              <a:rPr lang="en-US" sz="1100" dirty="0">
                <a:solidFill>
                  <a:srgbClr val="E8F4FD"/>
                </a:solidFill>
                <a:latin typeface="Calibri" pitchFamily="34" charset="0"/>
                <a:ea typeface="Calibri" pitchFamily="34" charset="-122"/>
                <a:cs typeface="Calibri" pitchFamily="34" charset="-120"/>
              </a:rPr>
              <a:t>New entry confidence init: 0, ¼, ½, conf_max−4</a:t>
            </a:r>
            <a:endParaRPr lang="en-US" sz="1100" dirty="0"/>
          </a:p>
          <a:p>
            <a:pPr marL="342900" indent="-342900">
              <a:spcAft>
                <a:spcPts val="500"/>
              </a:spcAft>
              <a:buSzPct val="100000"/>
              <a:buChar char="•"/>
            </a:pPr>
            <a:r>
              <a:rPr lang="en-US" sz="1100" dirty="0">
                <a:solidFill>
                  <a:srgbClr val="E8F4FD"/>
                </a:solidFill>
                <a:latin typeface="Calibri" pitchFamily="34" charset="0"/>
                <a:ea typeface="Calibri" pitchFamily="34" charset="-122"/>
                <a:cs typeface="Calibri" pitchFamily="34" charset="-120"/>
              </a:rPr>
              <a:t>TICK decay threshold: 128, 256, 512, 1024</a:t>
            </a:r>
            <a:endParaRPr lang="en-US" sz="1100" dirty="0"/>
          </a:p>
          <a:p>
            <a:pPr marL="342900" indent="-342900">
              <a:spcAft>
                <a:spcPts val="500"/>
              </a:spcAft>
              <a:buSzPct val="100000"/>
              <a:buChar char="•"/>
            </a:pPr>
            <a:r>
              <a:rPr lang="en-US" sz="1100" dirty="0">
                <a:solidFill>
                  <a:srgbClr val="E8F4FD"/>
                </a:solidFill>
                <a:latin typeface="Calibri" pitchFamily="34" charset="0"/>
                <a:ea typeface="Calibri" pitchFamily="34" charset="-122"/>
                <a:cs typeface="Calibri" pitchFamily="34" charset="-120"/>
              </a:rPr>
              <a:t>TICK relief rate: decrement by 1 vs 5 (Seznec)</a:t>
            </a:r>
            <a:endParaRPr lang="en-US" sz="1100" dirty="0"/>
          </a:p>
          <a:p>
            <a:pPr marL="342900" indent="-342900">
              <a:spcAft>
                <a:spcPts val="500"/>
              </a:spcAft>
              <a:buSzPct val="100000"/>
              <a:buChar char="•"/>
            </a:pPr>
            <a:r>
              <a:rPr lang="en-US" sz="1100" dirty="0">
                <a:solidFill>
                  <a:srgbClr val="E8F4FD"/>
                </a:solidFill>
                <a:latin typeface="Calibri" pitchFamily="34" charset="0"/>
                <a:ea typeface="Calibri" pitchFamily="34" charset="-122"/>
                <a:cs typeface="Calibri" pitchFamily="34" charset="-120"/>
              </a:rPr>
              <a:t>Smart Veto: block alloc when SVP was alternate</a:t>
            </a:r>
            <a:endParaRPr lang="en-US" sz="1100" dirty="0"/>
          </a:p>
          <a:p>
            <a:pPr marL="342900" indent="-342900">
              <a:spcAft>
                <a:spcPts val="500"/>
              </a:spcAft>
              <a:buSzPct val="100000"/>
              <a:buChar char="•"/>
            </a:pPr>
            <a:r>
              <a:rPr lang="en-US" sz="1100" dirty="0">
                <a:solidFill>
                  <a:srgbClr val="E8F4FD"/>
                </a:solidFill>
                <a:latin typeface="Calibri" pitchFamily="34" charset="0"/>
                <a:ea typeface="Calibri" pitchFamily="34" charset="-122"/>
                <a:cs typeface="Calibri" pitchFamily="34" charset="-120"/>
              </a:rPr>
              <a:t>Confidence-gated eviction (protect proven entries)</a:t>
            </a:r>
            <a:endParaRPr lang="en-US" sz="1100" dirty="0"/>
          </a:p>
        </p:txBody>
      </p:sp>
      <p:sp>
        <p:nvSpPr>
          <p:cNvPr id="14" name="Shape 12"/>
          <p:cNvSpPr/>
          <p:nvPr/>
        </p:nvSpPr>
        <p:spPr>
          <a:xfrm>
            <a:off x="6217920" y="1005840"/>
            <a:ext cx="2788920" cy="3977640"/>
          </a:xfrm>
          <a:prstGeom prst="rect">
            <a:avLst/>
          </a:prstGeom>
          <a:solidFill>
            <a:srgbClr val="1A2A1A"/>
          </a:solidFill>
          <a:ln w="19050">
            <a:solidFill>
              <a:srgbClr val="06D6A0"/>
            </a:solidFill>
            <a:prstDash val="solid"/>
          </a:ln>
        </p:spPr>
      </p:sp>
      <p:sp>
        <p:nvSpPr>
          <p:cNvPr id="15" name="Shape 13"/>
          <p:cNvSpPr/>
          <p:nvPr/>
        </p:nvSpPr>
        <p:spPr>
          <a:xfrm>
            <a:off x="6217920" y="1005840"/>
            <a:ext cx="2788920" cy="347472"/>
          </a:xfrm>
          <a:prstGeom prst="rect">
            <a:avLst/>
          </a:prstGeom>
          <a:solidFill>
            <a:srgbClr val="06D6A0"/>
          </a:solidFill>
          <a:ln w="12700">
            <a:solidFill>
              <a:srgbClr val="06D6A0"/>
            </a:solidFill>
            <a:prstDash val="solid"/>
          </a:ln>
        </p:spPr>
      </p:sp>
      <p:sp>
        <p:nvSpPr>
          <p:cNvPr id="16" name="Text 14"/>
          <p:cNvSpPr/>
          <p:nvPr/>
        </p:nvSpPr>
        <p:spPr>
          <a:xfrm>
            <a:off x="6291072" y="1024128"/>
            <a:ext cx="2651760" cy="292608"/>
          </a:xfrm>
          <a:prstGeom prst="rect">
            <a:avLst/>
          </a:prstGeom>
          <a:noFill/>
          <a:ln/>
        </p:spPr>
        <p:txBody>
          <a:bodyPr wrap="square" rtlCol="0" anchor="ctr"/>
          <a:lstStyle/>
          <a:p>
            <a:pPr algn="ctr" indent="0" marL="0">
              <a:buNone/>
            </a:pPr>
            <a:r>
              <a:rPr lang="en-US" sz="1200" b="1" dirty="0">
                <a:solidFill>
                  <a:srgbClr val="0A1628"/>
                </a:solidFill>
                <a:latin typeface="Calibri" pitchFamily="34" charset="0"/>
                <a:ea typeface="Calibri" pitchFamily="34" charset="-122"/>
                <a:cs typeface="Calibri" pitchFamily="34" charset="-120"/>
              </a:rPr>
              <a:t>Training &amp; Prediction Logic</a:t>
            </a:r>
            <a:endParaRPr lang="en-US" sz="1200" dirty="0"/>
          </a:p>
        </p:txBody>
      </p:sp>
      <p:sp>
        <p:nvSpPr>
          <p:cNvPr id="17" name="Text 15"/>
          <p:cNvSpPr/>
          <p:nvPr/>
        </p:nvSpPr>
        <p:spPr>
          <a:xfrm>
            <a:off x="6327648" y="1417320"/>
            <a:ext cx="2560320" cy="3429000"/>
          </a:xfrm>
          <a:prstGeom prst="rect">
            <a:avLst/>
          </a:prstGeom>
          <a:noFill/>
          <a:ln/>
        </p:spPr>
        <p:txBody>
          <a:bodyPr wrap="square" rtlCol="0" anchor="ctr"/>
          <a:lstStyle/>
          <a:p>
            <a:pPr marL="342900" indent="-342900">
              <a:spcAft>
                <a:spcPts val="500"/>
              </a:spcAft>
              <a:buSzPct val="100000"/>
              <a:buChar char="•"/>
            </a:pPr>
            <a:r>
              <a:rPr lang="en-US" sz="1100" dirty="0">
                <a:solidFill>
                  <a:srgbClr val="E8F4FD"/>
                </a:solidFill>
                <a:latin typeface="Calibri" pitchFamily="34" charset="0"/>
                <a:ea typeface="Calibri" pitchFamily="34" charset="-122"/>
                <a:cs typeface="Calibri" pitchFamily="34" charset="-120"/>
              </a:rPr>
              <a:t>Stochastic training rates per instruction type</a:t>
            </a:r>
            <a:endParaRPr lang="en-US" sz="1100" dirty="0"/>
          </a:p>
          <a:p>
            <a:pPr marL="342900" indent="-342900">
              <a:spcAft>
                <a:spcPts val="500"/>
              </a:spcAft>
              <a:buSzPct val="100000"/>
              <a:buChar char="•"/>
            </a:pPr>
            <a:r>
              <a:rPr lang="en-US" sz="1100" dirty="0">
                <a:solidFill>
                  <a:srgbClr val="E8F4FD"/>
                </a:solidFill>
                <a:latin typeface="Calibri" pitchFamily="34" charset="0"/>
                <a:ea typeface="Calibri" pitchFamily="34" charset="-122"/>
                <a:cs typeface="Calibri" pitchFamily="34" charset="-120"/>
              </a:rPr>
              <a:t>Misprediction penalty: soft dock vs full reset</a:t>
            </a:r>
            <a:endParaRPr lang="en-US" sz="1100" dirty="0"/>
          </a:p>
          <a:p>
            <a:pPr marL="342900" indent="-342900">
              <a:spcAft>
                <a:spcPts val="500"/>
              </a:spcAft>
              <a:buSzPct val="100000"/>
              <a:buChar char="•"/>
            </a:pPr>
            <a:r>
              <a:rPr lang="en-US" sz="1100" dirty="0">
                <a:solidFill>
                  <a:srgbClr val="E8F4FD"/>
                </a:solidFill>
                <a:latin typeface="Calibri" pitchFamily="34" charset="0"/>
                <a:ea typeface="Calibri" pitchFamily="34" charset="-122"/>
                <a:cs typeface="Calibri" pitchFamily="34" charset="-120"/>
              </a:rPr>
              <a:t>FP muzzle: require usefulness proof before firing</a:t>
            </a:r>
            <a:endParaRPr lang="en-US" sz="1100" dirty="0"/>
          </a:p>
          <a:p>
            <a:pPr marL="342900" indent="-342900">
              <a:spcAft>
                <a:spcPts val="500"/>
              </a:spcAft>
              <a:buSzPct val="100000"/>
              <a:buChar char="•"/>
            </a:pPr>
            <a:r>
              <a:rPr lang="en-US" sz="1100" dirty="0">
                <a:solidFill>
                  <a:srgbClr val="E8F4FD"/>
                </a:solidFill>
                <a:latin typeface="Calibri" pitchFamily="34" charset="0"/>
                <a:ea typeface="Calibri" pitchFamily="34" charset="-122"/>
                <a:cs typeface="Calibri" pitchFamily="34" charset="-120"/>
              </a:rPr>
              <a:t>Timeout/penalty box after burst mispredictions</a:t>
            </a:r>
            <a:endParaRPr lang="en-US" sz="1100" dirty="0"/>
          </a:p>
          <a:p>
            <a:pPr marL="342900" indent="-342900">
              <a:spcAft>
                <a:spcPts val="500"/>
              </a:spcAft>
              <a:buSzPct val="100000"/>
              <a:buChar char="•"/>
            </a:pPr>
            <a:r>
              <a:rPr lang="en-US" sz="1100" dirty="0">
                <a:solidFill>
                  <a:srgbClr val="E8F4FD"/>
                </a:solidFill>
                <a:latin typeface="Calibri" pitchFamily="34" charset="0"/>
                <a:ea typeface="Calibri" pitchFamily="34" charset="-122"/>
                <a:cs typeface="Calibri" pitchFamily="34" charset="-120"/>
              </a:rPr>
              <a:t>Modified vs original SVP supremacy policy</a:t>
            </a:r>
            <a:endParaRPr lang="en-US" sz="1100" dirty="0"/>
          </a:p>
          <a:p>
            <a:pPr marL="342900" indent="-342900">
              <a:spcAft>
                <a:spcPts val="500"/>
              </a:spcAft>
              <a:buSzPct val="100000"/>
              <a:buChar char="•"/>
            </a:pPr>
            <a:r>
              <a:rPr lang="en-US" sz="1100" dirty="0">
                <a:solidFill>
                  <a:srgbClr val="E8F4FD"/>
                </a:solidFill>
                <a:latin typeface="Calibri" pitchFamily="34" charset="0"/>
                <a:ea typeface="Calibri" pitchFamily="34" charset="-122"/>
                <a:cs typeface="Calibri" pitchFamily="34" charset="-120"/>
              </a:rPr>
              <a:t>Anti-aliasing SVP shield at retirement</a:t>
            </a:r>
            <a:endParaRPr lang="en-US" sz="1100" dirty="0"/>
          </a:p>
        </p:txBody>
      </p:sp>
      <p:sp>
        <p:nvSpPr>
          <p:cNvPr id="18" name="Text 16"/>
          <p:cNvSpPr/>
          <p:nvPr/>
        </p:nvSpPr>
        <p:spPr>
          <a:xfrm>
            <a:off x="274320" y="4736592"/>
            <a:ext cx="8595360" cy="274320"/>
          </a:xfrm>
          <a:prstGeom prst="rect">
            <a:avLst/>
          </a:prstGeom>
          <a:noFill/>
          <a:ln/>
        </p:spPr>
        <p:txBody>
          <a:bodyPr wrap="square" rtlCol="0" anchor="ctr"/>
          <a:lstStyle/>
          <a:p>
            <a:pPr algn="ctr" indent="0" marL="0">
              <a:buNone/>
            </a:pPr>
            <a:r>
              <a:rPr lang="en-US" sz="1100" i="1" dirty="0">
                <a:solidFill>
                  <a:srgbClr val="8EACC4"/>
                </a:solidFill>
                <a:latin typeface="Calibri" pitchFamily="34" charset="0"/>
                <a:ea typeface="Calibri" pitchFamily="34" charset="-122"/>
                <a:cs typeface="Calibri" pitchFamily="34" charset="-120"/>
              </a:rPr>
              <a:t>50+ configurations × 3 major codebases × ~10 min per run — a multi-day systematic search through this joint space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B4D8"/>
          </a:solidFill>
          <a:ln w="12700">
            <a:solidFill>
              <a:srgbClr val="00B4D8"/>
            </a:solidFill>
            <a:prstDash val="solid"/>
          </a:ln>
        </p:spPr>
      </p:sp>
      <p:sp>
        <p:nvSpPr>
          <p:cNvPr id="3" name="Shape 1"/>
          <p:cNvSpPr/>
          <p:nvPr/>
        </p:nvSpPr>
        <p:spPr>
          <a:xfrm>
            <a:off x="9089136" y="0"/>
            <a:ext cx="54864" cy="5143500"/>
          </a:xfrm>
          <a:prstGeom prst="rect">
            <a:avLst/>
          </a:prstGeom>
          <a:solidFill>
            <a:srgbClr val="00B4D8"/>
          </a:solidFill>
          <a:ln w="12700">
            <a:solidFill>
              <a:srgbClr val="00B4D8"/>
            </a:solidFill>
            <a:prstDash val="solid"/>
          </a:ln>
        </p:spPr>
      </p:sp>
      <p:sp>
        <p:nvSpPr>
          <p:cNvPr id="4" name="Shape 2"/>
          <p:cNvSpPr/>
          <p:nvPr/>
        </p:nvSpPr>
        <p:spPr>
          <a:xfrm>
            <a:off x="0" y="365760"/>
            <a:ext cx="9144000" cy="54864"/>
          </a:xfrm>
          <a:prstGeom prst="rect">
            <a:avLst/>
          </a:prstGeom>
          <a:solidFill>
            <a:srgbClr val="00B4D8"/>
          </a:solidFill>
          <a:ln w="12700">
            <a:solidFill>
              <a:srgbClr val="00B4D8"/>
            </a:solidFill>
            <a:prstDash val="solid"/>
          </a:ln>
        </p:spPr>
      </p:sp>
      <p:sp>
        <p:nvSpPr>
          <p:cNvPr id="5" name="Shape 3"/>
          <p:cNvSpPr/>
          <p:nvPr/>
        </p:nvSpPr>
        <p:spPr>
          <a:xfrm>
            <a:off x="0" y="4754880"/>
            <a:ext cx="9144000" cy="54864"/>
          </a:xfrm>
          <a:prstGeom prst="rect">
            <a:avLst/>
          </a:prstGeom>
          <a:solidFill>
            <a:srgbClr val="00B4D8"/>
          </a:solidFill>
          <a:ln w="12700">
            <a:solidFill>
              <a:srgbClr val="00B4D8"/>
            </a:solidFill>
            <a:prstDash val="solid"/>
          </a:ln>
        </p:spPr>
      </p:sp>
      <p:sp>
        <p:nvSpPr>
          <p:cNvPr id="6" name="Text 4"/>
          <p:cNvSpPr/>
          <p:nvPr/>
        </p:nvSpPr>
        <p:spPr>
          <a:xfrm>
            <a:off x="365760" y="457200"/>
            <a:ext cx="8229600" cy="457200"/>
          </a:xfrm>
          <a:prstGeom prst="rect">
            <a:avLst/>
          </a:prstGeom>
          <a:noFill/>
          <a:ln/>
        </p:spPr>
        <p:txBody>
          <a:bodyPr wrap="square"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Conclusions</a:t>
            </a:r>
            <a:endParaRPr lang="en-US" sz="2800" dirty="0"/>
          </a:p>
        </p:txBody>
      </p:sp>
      <p:sp>
        <p:nvSpPr>
          <p:cNvPr id="7" name="Shape 5"/>
          <p:cNvSpPr/>
          <p:nvPr/>
        </p:nvSpPr>
        <p:spPr>
          <a:xfrm>
            <a:off x="365760" y="886968"/>
            <a:ext cx="1371600" cy="36576"/>
          </a:xfrm>
          <a:prstGeom prst="rect">
            <a:avLst/>
          </a:prstGeom>
          <a:solidFill>
            <a:srgbClr val="00B4D8"/>
          </a:solidFill>
          <a:ln w="12700">
            <a:solidFill>
              <a:srgbClr val="00B4D8"/>
            </a:solidFill>
            <a:prstDash val="solid"/>
          </a:ln>
        </p:spPr>
      </p:sp>
      <p:sp>
        <p:nvSpPr>
          <p:cNvPr id="8" name="Shape 6"/>
          <p:cNvSpPr/>
          <p:nvPr/>
        </p:nvSpPr>
        <p:spPr>
          <a:xfrm>
            <a:off x="274320" y="1005840"/>
            <a:ext cx="292608" cy="621792"/>
          </a:xfrm>
          <a:prstGeom prst="rect">
            <a:avLst/>
          </a:prstGeom>
          <a:solidFill>
            <a:srgbClr val="00F5D4"/>
          </a:solidFill>
          <a:ln w="12700">
            <a:solidFill>
              <a:srgbClr val="00F5D4"/>
            </a:solidFill>
            <a:prstDash val="solid"/>
          </a:ln>
        </p:spPr>
      </p:sp>
      <p:sp>
        <p:nvSpPr>
          <p:cNvPr id="9" name="Shape 7"/>
          <p:cNvSpPr/>
          <p:nvPr/>
        </p:nvSpPr>
        <p:spPr>
          <a:xfrm>
            <a:off x="566928" y="1005840"/>
            <a:ext cx="8321040" cy="621792"/>
          </a:xfrm>
          <a:prstGeom prst="rect">
            <a:avLst/>
          </a:prstGeom>
          <a:solidFill>
            <a:srgbClr val="0D2137"/>
          </a:solidFill>
          <a:ln w="6350">
            <a:solidFill>
              <a:srgbClr val="1A2A3A"/>
            </a:solidFill>
            <a:prstDash val="solid"/>
          </a:ln>
        </p:spPr>
      </p:sp>
      <p:sp>
        <p:nvSpPr>
          <p:cNvPr id="10" name="Text 8"/>
          <p:cNvSpPr/>
          <p:nvPr/>
        </p:nvSpPr>
        <p:spPr>
          <a:xfrm>
            <a:off x="685800" y="1088136"/>
            <a:ext cx="8092440" cy="475488"/>
          </a:xfrm>
          <a:prstGeom prst="rect">
            <a:avLst/>
          </a:prstGeom>
          <a:noFill/>
          <a:ln/>
        </p:spPr>
        <p:txBody>
          <a:bodyPr wrap="square" rtlCol="0" anchor="ctr"/>
          <a:lstStyle/>
          <a:p>
            <a:pPr indent="0" marL="0">
              <a:buNone/>
            </a:pPr>
            <a:r>
              <a:rPr lang="en-US" sz="1200" dirty="0">
                <a:solidFill>
                  <a:srgbClr val="E8F4FD"/>
                </a:solidFill>
                <a:latin typeface="Calibri" pitchFamily="34" charset="0"/>
                <a:ea typeface="Calibri" pitchFamily="34" charset="-122"/>
                <a:cs typeface="Calibri" pitchFamily="34" charset="-120"/>
              </a:rPr>
              <a:t>Achieved 2.051 harmonic mean IPC — a meaningful improvement over the 2.02 pure SVP baseline — by pairing SVP's mathematical stride model with VTAGE's history-correlated pattern learning inside a strict 32 KB budget.</a:t>
            </a:r>
            <a:endParaRPr lang="en-US" sz="1200" dirty="0"/>
          </a:p>
        </p:txBody>
      </p:sp>
      <p:sp>
        <p:nvSpPr>
          <p:cNvPr id="11" name="Shape 9"/>
          <p:cNvSpPr/>
          <p:nvPr/>
        </p:nvSpPr>
        <p:spPr>
          <a:xfrm>
            <a:off x="274320" y="1810512"/>
            <a:ext cx="292608" cy="621792"/>
          </a:xfrm>
          <a:prstGeom prst="rect">
            <a:avLst/>
          </a:prstGeom>
          <a:solidFill>
            <a:srgbClr val="00B4D8"/>
          </a:solidFill>
          <a:ln w="12700">
            <a:solidFill>
              <a:srgbClr val="00B4D8"/>
            </a:solidFill>
            <a:prstDash val="solid"/>
          </a:ln>
        </p:spPr>
      </p:sp>
      <p:sp>
        <p:nvSpPr>
          <p:cNvPr id="12" name="Shape 10"/>
          <p:cNvSpPr/>
          <p:nvPr/>
        </p:nvSpPr>
        <p:spPr>
          <a:xfrm>
            <a:off x="566928" y="1810512"/>
            <a:ext cx="8321040" cy="621792"/>
          </a:xfrm>
          <a:prstGeom prst="rect">
            <a:avLst/>
          </a:prstGeom>
          <a:solidFill>
            <a:srgbClr val="0A1422"/>
          </a:solidFill>
          <a:ln w="6350">
            <a:solidFill>
              <a:srgbClr val="1A2A3A"/>
            </a:solidFill>
            <a:prstDash val="solid"/>
          </a:ln>
        </p:spPr>
      </p:sp>
      <p:sp>
        <p:nvSpPr>
          <p:cNvPr id="13" name="Text 11"/>
          <p:cNvSpPr/>
          <p:nvPr/>
        </p:nvSpPr>
        <p:spPr>
          <a:xfrm>
            <a:off x="685800" y="1892808"/>
            <a:ext cx="8092440" cy="475488"/>
          </a:xfrm>
          <a:prstGeom prst="rect">
            <a:avLst/>
          </a:prstGeom>
          <a:noFill/>
          <a:ln/>
        </p:spPr>
        <p:txBody>
          <a:bodyPr wrap="square" rtlCol="0" anchor="ctr"/>
          <a:lstStyle/>
          <a:p>
            <a:pPr indent="0" marL="0">
              <a:buNone/>
            </a:pPr>
            <a:r>
              <a:rPr lang="en-US" sz="1200" dirty="0">
                <a:solidFill>
                  <a:srgbClr val="E8F4FD"/>
                </a:solidFill>
                <a:latin typeface="Calibri" pitchFamily="34" charset="0"/>
                <a:ea typeface="Calibri" pitchFamily="34" charset="-122"/>
                <a:cs typeface="Calibri" pitchFamily="34" charset="-120"/>
              </a:rPr>
              <a:t>The hybrid delivers real architectural value: perlbench gains 13.2% from VTAGE capturing complex control flow, while modified SVP supremacy lets deeply-proven VTAGE entries take precedence over stride predictions.</a:t>
            </a:r>
            <a:endParaRPr lang="en-US" sz="1200" dirty="0"/>
          </a:p>
        </p:txBody>
      </p:sp>
      <p:sp>
        <p:nvSpPr>
          <p:cNvPr id="14" name="Shape 12"/>
          <p:cNvSpPr/>
          <p:nvPr/>
        </p:nvSpPr>
        <p:spPr>
          <a:xfrm>
            <a:off x="274320" y="2615184"/>
            <a:ext cx="292608" cy="621792"/>
          </a:xfrm>
          <a:prstGeom prst="rect">
            <a:avLst/>
          </a:prstGeom>
          <a:solidFill>
            <a:srgbClr val="FFD166"/>
          </a:solidFill>
          <a:ln w="12700">
            <a:solidFill>
              <a:srgbClr val="FFD166"/>
            </a:solidFill>
            <a:prstDash val="solid"/>
          </a:ln>
        </p:spPr>
      </p:sp>
      <p:sp>
        <p:nvSpPr>
          <p:cNvPr id="15" name="Shape 13"/>
          <p:cNvSpPr/>
          <p:nvPr/>
        </p:nvSpPr>
        <p:spPr>
          <a:xfrm>
            <a:off x="566928" y="2615184"/>
            <a:ext cx="8321040" cy="621792"/>
          </a:xfrm>
          <a:prstGeom prst="rect">
            <a:avLst/>
          </a:prstGeom>
          <a:solidFill>
            <a:srgbClr val="0D2137"/>
          </a:solidFill>
          <a:ln w="6350">
            <a:solidFill>
              <a:srgbClr val="1A2A3A"/>
            </a:solidFill>
            <a:prstDash val="solid"/>
          </a:ln>
        </p:spPr>
      </p:sp>
      <p:sp>
        <p:nvSpPr>
          <p:cNvPr id="16" name="Text 14"/>
          <p:cNvSpPr/>
          <p:nvPr/>
        </p:nvSpPr>
        <p:spPr>
          <a:xfrm>
            <a:off x="685800" y="2697480"/>
            <a:ext cx="8092440" cy="475488"/>
          </a:xfrm>
          <a:prstGeom prst="rect">
            <a:avLst/>
          </a:prstGeom>
          <a:noFill/>
          <a:ln/>
        </p:spPr>
        <p:txBody>
          <a:bodyPr wrap="square" rtlCol="0" anchor="ctr"/>
          <a:lstStyle/>
          <a:p>
            <a:pPr indent="0" marL="0">
              <a:buNone/>
            </a:pPr>
            <a:r>
              <a:rPr lang="en-US" sz="1200" dirty="0">
                <a:solidFill>
                  <a:srgbClr val="E8F4FD"/>
                </a:solidFill>
                <a:latin typeface="Calibri" pitchFamily="34" charset="0"/>
                <a:ea typeface="Calibri" pitchFamily="34" charset="-122"/>
                <a:cs typeface="Calibri" pitchFamily="34" charset="-120"/>
              </a:rPr>
              <a:t>Decoupling confidence ceilings was the single most impactful discovery: conf_max=63 for VTAGE eliminates confident mispredictions on chaotic workloads, while conf_max=47 for SVP keeps structured workloads firing aggressively.</a:t>
            </a:r>
            <a:endParaRPr lang="en-US" sz="1200" dirty="0"/>
          </a:p>
        </p:txBody>
      </p:sp>
      <p:sp>
        <p:nvSpPr>
          <p:cNvPr id="17" name="Shape 15"/>
          <p:cNvSpPr/>
          <p:nvPr/>
        </p:nvSpPr>
        <p:spPr>
          <a:xfrm>
            <a:off x="274320" y="3419856"/>
            <a:ext cx="292608" cy="621792"/>
          </a:xfrm>
          <a:prstGeom prst="rect">
            <a:avLst/>
          </a:prstGeom>
          <a:solidFill>
            <a:srgbClr val="06D6A0"/>
          </a:solidFill>
          <a:ln w="12700">
            <a:solidFill>
              <a:srgbClr val="06D6A0"/>
            </a:solidFill>
            <a:prstDash val="solid"/>
          </a:ln>
        </p:spPr>
      </p:sp>
      <p:sp>
        <p:nvSpPr>
          <p:cNvPr id="18" name="Shape 16"/>
          <p:cNvSpPr/>
          <p:nvPr/>
        </p:nvSpPr>
        <p:spPr>
          <a:xfrm>
            <a:off x="566928" y="3419856"/>
            <a:ext cx="8321040" cy="621792"/>
          </a:xfrm>
          <a:prstGeom prst="rect">
            <a:avLst/>
          </a:prstGeom>
          <a:solidFill>
            <a:srgbClr val="0A1422"/>
          </a:solidFill>
          <a:ln w="6350">
            <a:solidFill>
              <a:srgbClr val="1A2A3A"/>
            </a:solidFill>
            <a:prstDash val="solid"/>
          </a:ln>
        </p:spPr>
      </p:sp>
      <p:sp>
        <p:nvSpPr>
          <p:cNvPr id="19" name="Text 17"/>
          <p:cNvSpPr/>
          <p:nvPr/>
        </p:nvSpPr>
        <p:spPr>
          <a:xfrm>
            <a:off x="685800" y="3502152"/>
            <a:ext cx="8092440" cy="475488"/>
          </a:xfrm>
          <a:prstGeom prst="rect">
            <a:avLst/>
          </a:prstGeom>
          <a:noFill/>
          <a:ln/>
        </p:spPr>
        <p:txBody>
          <a:bodyPr wrap="square" rtlCol="0" anchor="ctr"/>
          <a:lstStyle/>
          <a:p>
            <a:pPr indent="0" marL="0">
              <a:buNone/>
            </a:pPr>
            <a:r>
              <a:rPr lang="en-US" sz="1200" dirty="0">
                <a:solidFill>
                  <a:srgbClr val="E8F4FD"/>
                </a:solidFill>
                <a:latin typeface="Calibri" pitchFamily="34" charset="0"/>
                <a:ea typeface="Calibri" pitchFamily="34" charset="-122"/>
                <a:cs typeface="Calibri" pitchFamily="34" charset="-120"/>
              </a:rPr>
              <a:t>Novel contributions include the anti-aliasing SVP shield, asymmetric misprediction penalties by instruction type, and the modified SVP supremacy policy — all with measurable IPC impact.</a:t>
            </a:r>
            <a:endParaRPr lang="en-US" sz="1200" dirty="0"/>
          </a:p>
        </p:txBody>
      </p:sp>
      <p:sp>
        <p:nvSpPr>
          <p:cNvPr id="20" name="Shape 18"/>
          <p:cNvSpPr/>
          <p:nvPr/>
        </p:nvSpPr>
        <p:spPr>
          <a:xfrm>
            <a:off x="274320" y="4224528"/>
            <a:ext cx="292608" cy="621792"/>
          </a:xfrm>
          <a:prstGeom prst="rect">
            <a:avLst/>
          </a:prstGeom>
          <a:solidFill>
            <a:srgbClr val="FF6B35"/>
          </a:solidFill>
          <a:ln w="12700">
            <a:solidFill>
              <a:srgbClr val="FF6B35"/>
            </a:solidFill>
            <a:prstDash val="solid"/>
          </a:ln>
        </p:spPr>
      </p:sp>
      <p:sp>
        <p:nvSpPr>
          <p:cNvPr id="21" name="Shape 19"/>
          <p:cNvSpPr/>
          <p:nvPr/>
        </p:nvSpPr>
        <p:spPr>
          <a:xfrm>
            <a:off x="566928" y="4224528"/>
            <a:ext cx="8321040" cy="621792"/>
          </a:xfrm>
          <a:prstGeom prst="rect">
            <a:avLst/>
          </a:prstGeom>
          <a:solidFill>
            <a:srgbClr val="0D2137"/>
          </a:solidFill>
          <a:ln w="6350">
            <a:solidFill>
              <a:srgbClr val="1A2A3A"/>
            </a:solidFill>
            <a:prstDash val="solid"/>
          </a:ln>
        </p:spPr>
      </p:sp>
      <p:sp>
        <p:nvSpPr>
          <p:cNvPr id="22" name="Text 20"/>
          <p:cNvSpPr/>
          <p:nvPr/>
        </p:nvSpPr>
        <p:spPr>
          <a:xfrm>
            <a:off x="685800" y="4306824"/>
            <a:ext cx="8092440" cy="475488"/>
          </a:xfrm>
          <a:prstGeom prst="rect">
            <a:avLst/>
          </a:prstGeom>
          <a:noFill/>
          <a:ln/>
        </p:spPr>
        <p:txBody>
          <a:bodyPr wrap="square" rtlCol="0" anchor="ctr"/>
          <a:lstStyle/>
          <a:p>
            <a:pPr indent="0" marL="0">
              <a:buNone/>
            </a:pPr>
            <a:r>
              <a:rPr lang="en-US" sz="1200" dirty="0">
                <a:solidFill>
                  <a:srgbClr val="E8F4FD"/>
                </a:solidFill>
                <a:latin typeface="Calibri" pitchFamily="34" charset="0"/>
                <a:ea typeface="Calibri" pitchFamily="34" charset="-122"/>
                <a:cs typeface="Calibri" pitchFamily="34" charset="-120"/>
              </a:rPr>
              <a:t>The joint code-configuration space remains vastly unexplored: per-PC confidence thresholds, memory-latency-aware training, and confidence-gated eviction are among the most promising remaining directions.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32KB Hybrid Value Predictor</dc:title>
  <dc:subject>PptxGenJS Presentation</dc:subject>
  <dc:creator>PptxGenJS</dc:creator>
  <cp:lastModifiedBy>PptxGenJS</cp:lastModifiedBy>
  <cp:revision>1</cp:revision>
  <dcterms:created xsi:type="dcterms:W3CDTF">2026-04-22T22:42:17Z</dcterms:created>
  <dcterms:modified xsi:type="dcterms:W3CDTF">2026-04-22T22:42:17Z</dcterms:modified>
</cp:coreProperties>
</file>