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5143500" cx="9144000"/>
  <p:notesSz cx="5143500" cy="9144000"/>
  <p:embeddedFontLst>
    <p:embeddedFont>
      <p:font typeface="Roboto"/>
      <p:regular r:id="rId19"/>
      <p:bold r:id="rId20"/>
      <p:italic r:id="rId21"/>
      <p:boldItalic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3" roundtripDataSignature="AMtx7mjGjUCdXywW96eYU5v/VQdQcKF3vQ=="/>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1" name="Aadesh Shah"/>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Roboto-bold.fntdata"/><Relationship Id="rId11" Type="http://schemas.openxmlformats.org/officeDocument/2006/relationships/slide" Target="slides/slide6.xml"/><Relationship Id="rId22" Type="http://schemas.openxmlformats.org/officeDocument/2006/relationships/font" Target="fonts/Roboto-boldItalic.fntdata"/><Relationship Id="rId10" Type="http://schemas.openxmlformats.org/officeDocument/2006/relationships/slide" Target="slides/slide5.xml"/><Relationship Id="rId21" Type="http://schemas.openxmlformats.org/officeDocument/2006/relationships/font" Target="fonts/Roboto-italic.fntdata"/><Relationship Id="rId13" Type="http://schemas.openxmlformats.org/officeDocument/2006/relationships/slide" Target="slides/slide8.xml"/><Relationship Id="rId12" Type="http://schemas.openxmlformats.org/officeDocument/2006/relationships/slide" Target="slides/slide7.xml"/><Relationship Id="rId23" Type="http://customschemas.google.com/relationships/presentationmetadata" Target="meta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font" Target="fonts/Roboto-regular.fntdata"/><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04-23T17:37:08.061">
    <p:pos x="230" y="46"/>
    <p:text>When talking about this slide, we need to emphasize that we are comparing it to the example SVP-only configuration.</p:text>
    <p:extLst>
      <p:ext uri="{C676402C-5697-4E1C-873F-D02D1690AC5C}">
        <p15:threadingInfo timeZoneBias="0"/>
      </p:ext>
      <p:ext uri="http://customooxmlschemas.google.com/">
        <go:slidesCustomData xmlns:go="http://customooxmlschemas.google.com/" commentPostId="AAAB4jS42Fc"/>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857400" y="685800"/>
            <a:ext cx="342915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514350" y="4343400"/>
            <a:ext cx="41148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google.com/presentation/d/1mqz482RkukAyGIVVa0JspUisgDbqCUgg/edit" TargetMode="External"/><Relationship Id="rId3" Type="http://schemas.openxmlformats.org/officeDocument/2006/relationships/hyperlink" Target="https://docs.google.com/presentation/d/1mqz482RkukAyGIVVa0JspUisgDbqCUgg/edit" TargetMode="External"/><Relationship Id="rId4" Type="http://schemas.openxmlformats.org/officeDocument/2006/relationships/hyperlink" Target="https://docs.google.com/presentation/d/1mqz482RkukAyGIVVa0JspUisgDbqCUgg/edit" TargetMode="Externa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 name="Shape 8"/>
        <p:cNvGrpSpPr/>
        <p:nvPr/>
      </p:nvGrpSpPr>
      <p:grpSpPr>
        <a:xfrm>
          <a:off x="0" y="0"/>
          <a:ext cx="0" cy="0"/>
          <a:chOff x="0" y="0"/>
          <a:chExt cx="0" cy="0"/>
        </a:xfrm>
      </p:grpSpPr>
      <p:sp>
        <p:nvSpPr>
          <p:cNvPr id="9" name="Google Shape;9;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 name="Google Shape;10;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1" name="Google Shape;11;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 name="Shape 33"/>
        <p:cNvGrpSpPr/>
        <p:nvPr/>
      </p:nvGrpSpPr>
      <p:grpSpPr>
        <a:xfrm>
          <a:off x="0" y="0"/>
          <a:ext cx="0" cy="0"/>
          <a:chOff x="0" y="0"/>
          <a:chExt cx="0" cy="0"/>
        </a:xfrm>
      </p:grpSpPr>
      <p:sp>
        <p:nvSpPr>
          <p:cNvPr id="34" name="Google Shape;34;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 name="Google Shape;35;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381000" marR="381000" rtl="0" algn="l">
              <a:lnSpc>
                <a:spcPct val="115000"/>
              </a:lnSpc>
              <a:spcBef>
                <a:spcPts val="1200"/>
              </a:spcBef>
              <a:spcAft>
                <a:spcPts val="0"/>
              </a:spcAft>
              <a:buClr>
                <a:schemeClr val="dk1"/>
              </a:buClr>
              <a:buSzPts val="1100"/>
              <a:buFont typeface="Arial"/>
              <a:buNone/>
            </a:pPr>
            <a:r>
              <a:rPr lang="en-US" sz="1200">
                <a:solidFill>
                  <a:schemeClr val="dk1"/>
                </a:solidFill>
              </a:rPr>
              <a:t>"At its core, our design merges two completely different prediction philosophies. On the left, we have the Stride Value Predictor, or SVP. It's a mathematical backbone. It's highly accurate on predictable patterns like loop counters, but because it only looks at the PC, it is completely blind to context.</a:t>
            </a:r>
            <a:endParaRPr sz="1200">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US" sz="1200">
                <a:solidFill>
                  <a:schemeClr val="dk1"/>
                </a:solidFill>
              </a:rPr>
              <a:t>To solve that, we overlaid VTAGE. VTAGE is a tagged, multi-table predictor indexed by the global branch history. It provides the context the SVP lacks. By sweeping through geometrically increasing history lengths, VTAGE can learn complex, chaotic control-flow paths. The entire architectural challenge of this project was getting these two systems to complement each other within a strict 32-kilobyte budget."</a:t>
            </a:r>
            <a:endParaRPr sz="1200">
              <a:solidFill>
                <a:schemeClr val="dk1"/>
              </a:solidFill>
            </a:endParaRPr>
          </a:p>
          <a:p>
            <a:pPr indent="0" lvl="0" marL="0" marR="0" rtl="0" algn="l">
              <a:spcBef>
                <a:spcPts val="1200"/>
              </a:spcBef>
              <a:spcAft>
                <a:spcPts val="0"/>
              </a:spcAft>
              <a:buNone/>
            </a:pPr>
            <a:r>
              <a:t/>
            </a:r>
            <a:endParaRPr sz="1200">
              <a:solidFill>
                <a:schemeClr val="dk1"/>
              </a:solidFill>
            </a:endParaRPr>
          </a:p>
        </p:txBody>
      </p:sp>
      <p:sp>
        <p:nvSpPr>
          <p:cNvPr id="36" name="Google Shape;36;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e6275e1d8a_16_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3" name="Google Shape;63;g3e6275e1d8a_16_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050">
                <a:solidFill>
                  <a:srgbClr val="1F1F1F"/>
                </a:solidFill>
                <a:highlight>
                  <a:srgbClr val="FFFFFF"/>
                </a:highlight>
                <a:latin typeface="Roboto"/>
                <a:ea typeface="Roboto"/>
                <a:cs typeface="Roboto"/>
                <a:sym typeface="Roboto"/>
              </a:rPr>
              <a:t>"This slide illustrates the high-level block diagram and the critical flow of data through our hybrid value predictor.</a:t>
            </a:r>
            <a:endParaRPr sz="1050">
              <a:solidFill>
                <a:srgbClr val="1F1F1F"/>
              </a:solidFill>
              <a:highlight>
                <a:srgbClr val="FFFFFF"/>
              </a:highlight>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t/>
            </a:r>
            <a:endParaRPr sz="1050">
              <a:solidFill>
                <a:srgbClr val="1F1F1F"/>
              </a:solidFill>
              <a:highlight>
                <a:srgbClr val="FFFFFF"/>
              </a:highlight>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US" sz="1050">
                <a:solidFill>
                  <a:srgbClr val="1F1F1F"/>
                </a:solidFill>
                <a:highlight>
                  <a:srgbClr val="FFFFFF"/>
                </a:highlight>
                <a:latin typeface="Roboto"/>
                <a:ea typeface="Roboto"/>
                <a:cs typeface="Roboto"/>
                <a:sym typeface="Roboto"/>
              </a:rPr>
              <a:t>The process begins with a </a:t>
            </a:r>
            <a:r>
              <a:rPr b="1" lang="en-US" sz="1050">
                <a:solidFill>
                  <a:srgbClr val="1F1F1F"/>
                </a:solidFill>
                <a:highlight>
                  <a:srgbClr val="FFFFFF"/>
                </a:highlight>
                <a:latin typeface="Roboto"/>
                <a:ea typeface="Roboto"/>
                <a:cs typeface="Roboto"/>
                <a:sym typeface="Roboto"/>
              </a:rPr>
              <a:t>Concurrent Lookup</a:t>
            </a:r>
            <a:r>
              <a:rPr lang="en-US" sz="1050">
                <a:solidFill>
                  <a:srgbClr val="1F1F1F"/>
                </a:solidFill>
                <a:highlight>
                  <a:srgbClr val="FFFFFF"/>
                </a:highlight>
                <a:latin typeface="Roboto"/>
                <a:ea typeface="Roboto"/>
                <a:cs typeface="Roboto"/>
                <a:sym typeface="Roboto"/>
              </a:rPr>
              <a:t>: every instruction simultaneously queries the Stride Value Predictor, or SVP, and the multiple VTAGE tables.</a:t>
            </a:r>
            <a:r>
              <a:rPr lang="en-US" sz="700">
                <a:solidFill>
                  <a:srgbClr val="1F1F1F"/>
                </a:solidFill>
                <a:highlight>
                  <a:srgbClr val="F0F4F9"/>
                </a:highlight>
                <a:uFill>
                  <a:noFill/>
                </a:uFill>
                <a:latin typeface="Roboto"/>
                <a:ea typeface="Roboto"/>
                <a:cs typeface="Roboto"/>
                <a:sym typeface="Roboto"/>
                <a:hlinkClick r:id="rId2">
                  <a:extLst>
                    <a:ext uri="{A12FA001-AC4F-418D-AE19-62706E023703}">
                      <ahyp:hlinkClr val="tx"/>
                    </a:ext>
                  </a:extLst>
                </a:hlinkClick>
              </a:rPr>
              <a:t>1</a:t>
            </a:r>
            <a:endParaRPr sz="700">
              <a:solidFill>
                <a:srgbClr val="1F1F1F"/>
              </a:solidFill>
              <a:highlight>
                <a:srgbClr val="F0F4F9"/>
              </a:highlight>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t/>
            </a:r>
            <a:endParaRPr sz="1050">
              <a:solidFill>
                <a:srgbClr val="1F1F1F"/>
              </a:solidFill>
              <a:highlight>
                <a:srgbClr val="FFFFFF"/>
              </a:highlight>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US" sz="1050">
                <a:solidFill>
                  <a:srgbClr val="1F1F1F"/>
                </a:solidFill>
                <a:highlight>
                  <a:srgbClr val="FFFFFF"/>
                </a:highlight>
                <a:latin typeface="Roboto"/>
                <a:ea typeface="Roboto"/>
                <a:cs typeface="Roboto"/>
                <a:sym typeface="Roboto"/>
              </a:rPr>
              <a:t>We then enter the </a:t>
            </a:r>
            <a:r>
              <a:rPr b="1" lang="en-US" sz="1050">
                <a:solidFill>
                  <a:srgbClr val="1F1F1F"/>
                </a:solidFill>
                <a:highlight>
                  <a:srgbClr val="FFFFFF"/>
                </a:highlight>
                <a:latin typeface="Roboto"/>
                <a:ea typeface="Roboto"/>
                <a:cs typeface="Roboto"/>
                <a:sym typeface="Roboto"/>
              </a:rPr>
              <a:t>Provider Selection</a:t>
            </a:r>
            <a:r>
              <a:rPr lang="en-US" sz="1050">
                <a:solidFill>
                  <a:srgbClr val="1F1F1F"/>
                </a:solidFill>
                <a:highlight>
                  <a:srgbClr val="FFFFFF"/>
                </a:highlight>
                <a:latin typeface="Roboto"/>
                <a:ea typeface="Roboto"/>
                <a:cs typeface="Roboto"/>
                <a:sym typeface="Roboto"/>
              </a:rPr>
              <a:t> phase: the longest-matching VTAGE table is selected as the primary 'Provider,' and the second longest becomes the 'Alternate,' which is used later for training decisions.</a:t>
            </a:r>
            <a:r>
              <a:rPr lang="en-US" sz="700">
                <a:solidFill>
                  <a:srgbClr val="1F1F1F"/>
                </a:solidFill>
                <a:highlight>
                  <a:srgbClr val="F0F4F9"/>
                </a:highlight>
                <a:uFill>
                  <a:noFill/>
                </a:uFill>
                <a:latin typeface="Roboto"/>
                <a:ea typeface="Roboto"/>
                <a:cs typeface="Roboto"/>
                <a:sym typeface="Roboto"/>
                <a:hlinkClick r:id="rId3">
                  <a:extLst>
                    <a:ext uri="{A12FA001-AC4F-418D-AE19-62706E023703}">
                      <ahyp:hlinkClr val="tx"/>
                    </a:ext>
                  </a:extLst>
                </a:hlinkClick>
              </a:rPr>
              <a:t>1</a:t>
            </a:r>
            <a:endParaRPr sz="700">
              <a:solidFill>
                <a:srgbClr val="1F1F1F"/>
              </a:solidFill>
              <a:highlight>
                <a:srgbClr val="F0F4F9"/>
              </a:highlight>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t/>
            </a:r>
            <a:endParaRPr sz="1050">
              <a:solidFill>
                <a:srgbClr val="1F1F1F"/>
              </a:solidFill>
              <a:highlight>
                <a:srgbClr val="FFFFFF"/>
              </a:highlight>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US" sz="1050">
                <a:solidFill>
                  <a:srgbClr val="1F1F1F"/>
                </a:solidFill>
                <a:highlight>
                  <a:srgbClr val="FFFFFF"/>
                </a:highlight>
                <a:latin typeface="Roboto"/>
                <a:ea typeface="Roboto"/>
                <a:cs typeface="Roboto"/>
                <a:sym typeface="Roboto"/>
              </a:rPr>
              <a:t>Our </a:t>
            </a:r>
            <a:r>
              <a:rPr b="1" lang="en-US" sz="1050">
                <a:solidFill>
                  <a:srgbClr val="1F1F1F"/>
                </a:solidFill>
                <a:highlight>
                  <a:srgbClr val="FFFFFF"/>
                </a:highlight>
                <a:latin typeface="Roboto"/>
                <a:ea typeface="Roboto"/>
                <a:cs typeface="Roboto"/>
                <a:sym typeface="Roboto"/>
              </a:rPr>
              <a:t>Fallback Hierarchy</a:t>
            </a:r>
            <a:r>
              <a:rPr lang="en-US" sz="1050">
                <a:solidFill>
                  <a:srgbClr val="1F1F1F"/>
                </a:solidFill>
                <a:highlight>
                  <a:srgbClr val="FFFFFF"/>
                </a:highlight>
                <a:latin typeface="Roboto"/>
                <a:ea typeface="Roboto"/>
                <a:cs typeface="Roboto"/>
                <a:sym typeface="Roboto"/>
              </a:rPr>
              <a:t> means that if VTAGE provides no match, SVP acts as the backup prediction. If SVP also misses, no prediction is attempted for that slot.</a:t>
            </a:r>
            <a:r>
              <a:rPr lang="en-US" sz="700">
                <a:solidFill>
                  <a:srgbClr val="1F1F1F"/>
                </a:solidFill>
                <a:highlight>
                  <a:srgbClr val="F0F4F9"/>
                </a:highlight>
                <a:uFill>
                  <a:noFill/>
                </a:uFill>
                <a:latin typeface="Roboto"/>
                <a:ea typeface="Roboto"/>
                <a:cs typeface="Roboto"/>
                <a:sym typeface="Roboto"/>
                <a:hlinkClick r:id="rId4">
                  <a:extLst>
                    <a:ext uri="{A12FA001-AC4F-418D-AE19-62706E023703}">
                      <ahyp:hlinkClr val="tx"/>
                    </a:ext>
                  </a:extLst>
                </a:hlinkClick>
              </a:rPr>
              <a:t>1</a:t>
            </a:r>
            <a:endParaRPr sz="700">
              <a:solidFill>
                <a:srgbClr val="1F1F1F"/>
              </a:solidFill>
              <a:highlight>
                <a:srgbClr val="F0F4F9"/>
              </a:highlight>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t/>
            </a:r>
            <a:endParaRPr sz="1050">
              <a:solidFill>
                <a:srgbClr val="1F1F1F"/>
              </a:solidFill>
              <a:highlight>
                <a:srgbClr val="FFFFFF"/>
              </a:highlight>
              <a:latin typeface="Roboto"/>
              <a:ea typeface="Roboto"/>
              <a:cs typeface="Roboto"/>
              <a:sym typeface="Roboto"/>
            </a:endParaRPr>
          </a:p>
          <a:p>
            <a:pPr indent="0" lvl="0" marL="0" marR="0" rtl="0" algn="l">
              <a:spcBef>
                <a:spcPts val="0"/>
              </a:spcBef>
              <a:spcAft>
                <a:spcPts val="0"/>
              </a:spcAft>
              <a:buNone/>
            </a:pPr>
            <a:r>
              <a:rPr lang="en-US" sz="1050">
                <a:solidFill>
                  <a:srgbClr val="1F1F1F"/>
                </a:solidFill>
                <a:highlight>
                  <a:srgbClr val="FFFFFF"/>
                </a:highlight>
                <a:latin typeface="Roboto"/>
                <a:ea typeface="Roboto"/>
                <a:cs typeface="Roboto"/>
                <a:sym typeface="Roboto"/>
              </a:rPr>
              <a:t>Finally, the prediction is placed into the </a:t>
            </a:r>
            <a:r>
              <a:rPr b="1" lang="en-US" sz="1050">
                <a:solidFill>
                  <a:srgbClr val="1F1F1F"/>
                </a:solidFill>
                <a:highlight>
                  <a:srgbClr val="FFFFFF"/>
                </a:highlight>
                <a:latin typeface="Roboto"/>
                <a:ea typeface="Roboto"/>
                <a:cs typeface="Roboto"/>
                <a:sym typeface="Roboto"/>
              </a:rPr>
              <a:t>Value Prediction Queue (VPQ)</a:t>
            </a:r>
            <a:r>
              <a:rPr lang="en-US" sz="1050">
                <a:solidFill>
                  <a:srgbClr val="1F1F1F"/>
                </a:solidFill>
                <a:highlight>
                  <a:srgbClr val="FFFFFF"/>
                </a:highlight>
                <a:latin typeface="Roboto"/>
                <a:ea typeface="Roboto"/>
                <a:cs typeface="Roboto"/>
                <a:sym typeface="Roboto"/>
              </a:rPr>
              <a:t>. Here, we capture a snapshot of the global branch history, the Program Counter tag, and all prediction metadata from both the provider and the alternate. This concurrent approach ensures that we get the best prediction—whether from the deterministic SVP or the contextual VTAGE—for every single</a:t>
            </a:r>
            <a:endParaRPr sz="1200">
              <a:solidFill>
                <a:schemeClr val="dk1"/>
              </a:solidFill>
            </a:endParaRPr>
          </a:p>
        </p:txBody>
      </p:sp>
      <p:sp>
        <p:nvSpPr>
          <p:cNvPr id="64" name="Google Shape;64;g3e6275e1d8a_16_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e073069206_0_98: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t>"Moving to the lifecycle, let's look at how we predict and train. For every instruction, we query both the SVP and the VTAGE tables concurrently. Inside VTAGE, the longest matching history table becomes our 'Provider', and the second-longest becomes the 'Alternate'. If both of those miss, the base SVP acts as our ultimate fallback.</a:t>
            </a:r>
            <a:endParaRPr/>
          </a:p>
          <a:p>
            <a:pPr indent="0" lvl="0" marL="0" rtl="0" algn="l">
              <a:lnSpc>
                <a:spcPct val="115000"/>
              </a:lnSpc>
              <a:spcBef>
                <a:spcPts val="1200"/>
              </a:spcBef>
              <a:spcAft>
                <a:spcPts val="0"/>
              </a:spcAft>
              <a:buClr>
                <a:schemeClr val="dk1"/>
              </a:buClr>
              <a:buSzPts val="1100"/>
              <a:buFont typeface="Arial"/>
              <a:buNone/>
            </a:pPr>
            <a:r>
              <a:rPr lang="en-US"/>
              <a:t>The real engineering happens post-retirement during the Training phase. We don't just blindly increment confidence. We implemented instruction-type-aware stochastic training—meaning Loads and Floating Point operations train twice as fast as generic ALUs. Furthermore, we use the Provider and Alternate predictions to grade usefulness. A VTAGE entry only gains 'usefulness' if it was uniquely correct compared to its alternate, which proves it actually learned a valuable pattern."</a:t>
            </a:r>
            <a:endParaRPr/>
          </a:p>
          <a:p>
            <a:pPr indent="0" lvl="0" marL="0" rtl="0" algn="l">
              <a:spcBef>
                <a:spcPts val="120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e073069206_0_60: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t>"Allocation is where we aggressively protect our hardware capacity. VTAGE only attempts to allocate a new entry if it missed or mispredicted. But we put strict gates on this. We throttle ALU allocations to 1-in-16, and we use a global TICK counter to periodically decay usefulness bits, forcing stale entries to evict.</a:t>
            </a:r>
            <a:endParaRPr/>
          </a:p>
          <a:p>
            <a:pPr indent="0" lvl="0" marL="0" rtl="0" algn="l">
              <a:lnSpc>
                <a:spcPct val="115000"/>
              </a:lnSpc>
              <a:spcBef>
                <a:spcPts val="1200"/>
              </a:spcBef>
              <a:spcAft>
                <a:spcPts val="0"/>
              </a:spcAft>
              <a:buClr>
                <a:schemeClr val="dk1"/>
              </a:buClr>
              <a:buSzPts val="1100"/>
              <a:buFont typeface="Arial"/>
              <a:buNone/>
            </a:pPr>
            <a:r>
              <a:rPr lang="en-US"/>
              <a:t>But our strongest gate is the Allocation Veto. If VTAGE misses, but our SVP base was correct, the SVP hard-vetoes the VTAGE allocation entirely to prevent redundancy.</a:t>
            </a:r>
            <a:endParaRPr/>
          </a:p>
          <a:p>
            <a:pPr indent="0" lvl="0" marL="0" rtl="0" algn="l">
              <a:lnSpc>
                <a:spcPct val="115000"/>
              </a:lnSpc>
              <a:spcBef>
                <a:spcPts val="1200"/>
              </a:spcBef>
              <a:spcAft>
                <a:spcPts val="0"/>
              </a:spcAft>
              <a:buClr>
                <a:schemeClr val="dk1"/>
              </a:buClr>
              <a:buSzPts val="1100"/>
              <a:buFont typeface="Arial"/>
              <a:buNone/>
            </a:pPr>
            <a:r>
              <a:rPr lang="en-US"/>
              <a:t>Finally, if a confident prediction turns out to be wrong, we trigger a rollback. Depending on the severity, this ranges from a partial VPQ rewind to a full pipeline squash where we clear the SVP instances and restore the architectural branch history register to prevent future pollution."</a:t>
            </a:r>
            <a:endParaRPr/>
          </a:p>
          <a:p>
            <a:pPr indent="0" lvl="0" marL="0" rtl="0" algn="l">
              <a:spcBef>
                <a:spcPts val="120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4" name="Google Shape;104;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050">
                <a:solidFill>
                  <a:srgbClr val="1F1F1F"/>
                </a:solidFill>
                <a:highlight>
                  <a:srgbClr val="FFFFFF"/>
                </a:highlight>
                <a:latin typeface="Roboto"/>
                <a:ea typeface="Roboto"/>
                <a:cs typeface="Roboto"/>
                <a:sym typeface="Roboto"/>
              </a:rPr>
              <a:t>Regarding the hybrid policy we discussed earlier, we use the modified SVP supremacy policy. This means that whenever SVP is confident we use it’s prediction unless VTAGE is also confident. We also tested SVP Supermacy where SVP always overrides  VTAGE but it was less effective. Regardless, for both policies we list SVP as alternate for allocation blocking </a:t>
            </a:r>
            <a:endParaRPr sz="1200">
              <a:solidFill>
                <a:schemeClr val="dk1"/>
              </a:solidFill>
            </a:endParaRPr>
          </a:p>
        </p:txBody>
      </p:sp>
      <p:sp>
        <p:nvSpPr>
          <p:cNvPr id="105" name="Google Shape;105;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1" name="Google Shape;131;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rPr>
              <a:t>"This slide breaks down exactly what we borrowed from Seznec's literature, and how we diverged to get our IPC gains. The blue column covers our foundational baseline: things like TAGE's geometric history lengths and stochastic training.</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rPr>
              <a:t>Our true architectural contributions are in the green and yellow columns. The biggest departure from standard value prediction was porting over TAGE's branch-prediction Alternate logic. We turned the Alternate into a weapon—our Anti-Aliasing SVP Shield blocks VTAGE from evicting established SVP entries, and our Veto prevents redundant allocations.</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rPr>
              <a:t>In the yellow column, you can see our empirical hardware tuning. We capped our Value Prediction Queue at 256 entries to save capacity, and we heavily decoupled our confidence ceilings—forcing VTAGE to hit 63 confident predictions before firing—to perfectly filter out chaotic noise."</a:t>
            </a:r>
            <a:endParaRPr sz="1200">
              <a:solidFill>
                <a:schemeClr val="dk1"/>
              </a:solidFill>
            </a:endParaRPr>
          </a:p>
          <a:p>
            <a:pPr indent="0" lvl="0" marL="0" marR="0" rtl="0" algn="l">
              <a:spcBef>
                <a:spcPts val="1200"/>
              </a:spcBef>
              <a:spcAft>
                <a:spcPts val="0"/>
              </a:spcAft>
              <a:buNone/>
            </a:pPr>
            <a:r>
              <a:t/>
            </a:r>
            <a:endParaRPr sz="1200">
              <a:solidFill>
                <a:schemeClr val="dk1"/>
              </a:solidFill>
            </a:endParaRPr>
          </a:p>
        </p:txBody>
      </p:sp>
      <p:sp>
        <p:nvSpPr>
          <p:cNvPr id="132" name="Google Shape;132;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1" name="Google Shape;151;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050">
                <a:solidFill>
                  <a:srgbClr val="1F1F1F"/>
                </a:solidFill>
                <a:highlight>
                  <a:srgbClr val="FFFFFF"/>
                </a:highlight>
                <a:latin typeface="Roboto"/>
                <a:ea typeface="Roboto"/>
                <a:cs typeface="Roboto"/>
                <a:sym typeface="Roboto"/>
              </a:rPr>
              <a:t>p.</a:t>
            </a:r>
            <a:endParaRPr sz="1050">
              <a:solidFill>
                <a:srgbClr val="1F1F1F"/>
              </a:solidFill>
              <a:highlight>
                <a:srgbClr val="FFFFFF"/>
              </a:highlight>
              <a:latin typeface="Roboto"/>
              <a:ea typeface="Roboto"/>
              <a:cs typeface="Roboto"/>
              <a:sym typeface="Roboto"/>
            </a:endParaRPr>
          </a:p>
          <a:p>
            <a:pPr indent="-295275" lvl="0" marL="457200" rtl="0" algn="l">
              <a:lnSpc>
                <a:spcPct val="115000"/>
              </a:lnSpc>
              <a:spcBef>
                <a:spcPts val="1200"/>
              </a:spcBef>
              <a:spcAft>
                <a:spcPts val="0"/>
              </a:spcAft>
              <a:buClr>
                <a:srgbClr val="1F1F1F"/>
              </a:buClr>
              <a:buSzPts val="1050"/>
              <a:buFont typeface="Roboto"/>
              <a:buChar char="●"/>
            </a:pPr>
            <a:r>
              <a:rPr b="1" lang="en-US" sz="1050">
                <a:solidFill>
                  <a:srgbClr val="1F1F1F"/>
                </a:solidFill>
                <a:highlight>
                  <a:srgbClr val="FFFFFF"/>
                </a:highlight>
                <a:latin typeface="Roboto"/>
                <a:ea typeface="Roboto"/>
                <a:cs typeface="Roboto"/>
                <a:sym typeface="Roboto"/>
              </a:rPr>
              <a:t>SVP Conf Max (47):</a:t>
            </a:r>
            <a:r>
              <a:rPr lang="en-US" sz="1050">
                <a:solidFill>
                  <a:srgbClr val="1F1F1F"/>
                </a:solidFill>
                <a:highlight>
                  <a:srgbClr val="FFFFFF"/>
                </a:highlight>
                <a:latin typeface="Roboto"/>
                <a:ea typeface="Roboto"/>
                <a:cs typeface="Roboto"/>
                <a:sym typeface="Roboto"/>
              </a:rPr>
              <a:t> We set the Stride Value Predictor's maximum confidence at 47. This allows the SVP to fire sooner, which is crucial for structured workloads like </a:t>
            </a:r>
            <a:r>
              <a:rPr lang="en-US" sz="1050">
                <a:solidFill>
                  <a:srgbClr val="444746"/>
                </a:solidFill>
                <a:highlight>
                  <a:srgbClr val="DDE3EA"/>
                </a:highlight>
                <a:latin typeface="Courier New"/>
                <a:ea typeface="Courier New"/>
                <a:cs typeface="Courier New"/>
                <a:sym typeface="Courier New"/>
              </a:rPr>
              <a:t>perlbench</a:t>
            </a:r>
            <a:r>
              <a:rPr lang="en-US" sz="1050">
                <a:solidFill>
                  <a:srgbClr val="1F1F1F"/>
                </a:solidFill>
                <a:highlight>
                  <a:srgbClr val="FFFFFF"/>
                </a:highlight>
                <a:latin typeface="Roboto"/>
                <a:ea typeface="Roboto"/>
                <a:cs typeface="Roboto"/>
                <a:sym typeface="Roboto"/>
              </a:rPr>
              <a:t> and </a:t>
            </a:r>
            <a:r>
              <a:rPr lang="en-US" sz="1050">
                <a:solidFill>
                  <a:srgbClr val="444746"/>
                </a:solidFill>
                <a:highlight>
                  <a:srgbClr val="DDE3EA"/>
                </a:highlight>
                <a:latin typeface="Courier New"/>
                <a:ea typeface="Courier New"/>
                <a:cs typeface="Courier New"/>
                <a:sym typeface="Courier New"/>
              </a:rPr>
              <a:t>h264ref</a:t>
            </a:r>
            <a:r>
              <a:rPr lang="en-US" sz="1050">
                <a:solidFill>
                  <a:srgbClr val="1F1F1F"/>
                </a:solidFill>
                <a:highlight>
                  <a:srgbClr val="FFFFFF"/>
                </a:highlight>
                <a:latin typeface="Roboto"/>
                <a:ea typeface="Roboto"/>
                <a:cs typeface="Roboto"/>
                <a:sym typeface="Roboto"/>
              </a:rPr>
              <a:t> where simple stride patterns are highly accurate.</a:t>
            </a:r>
            <a:endParaRPr sz="1050">
              <a:solidFill>
                <a:srgbClr val="1F1F1F"/>
              </a:solidFill>
              <a:highlight>
                <a:srgbClr val="FFFFFF"/>
              </a:highlight>
              <a:latin typeface="Roboto"/>
              <a:ea typeface="Roboto"/>
              <a:cs typeface="Roboto"/>
              <a:sym typeface="Roboto"/>
            </a:endParaRPr>
          </a:p>
          <a:p>
            <a:pPr indent="-295275" lvl="0" marL="457200" rtl="0" algn="l">
              <a:lnSpc>
                <a:spcPct val="115000"/>
              </a:lnSpc>
              <a:spcBef>
                <a:spcPts val="0"/>
              </a:spcBef>
              <a:spcAft>
                <a:spcPts val="0"/>
              </a:spcAft>
              <a:buClr>
                <a:srgbClr val="1F1F1F"/>
              </a:buClr>
              <a:buSzPts val="1050"/>
              <a:buFont typeface="Roboto"/>
              <a:buChar char="●"/>
            </a:pPr>
            <a:r>
              <a:rPr b="1" lang="en-US" sz="1050">
                <a:solidFill>
                  <a:srgbClr val="1F1F1F"/>
                </a:solidFill>
                <a:highlight>
                  <a:srgbClr val="FFFFFF"/>
                </a:highlight>
                <a:latin typeface="Roboto"/>
                <a:ea typeface="Roboto"/>
                <a:cs typeface="Roboto"/>
                <a:sym typeface="Roboto"/>
              </a:rPr>
              <a:t>VTAGE Configuration:</a:t>
            </a:r>
            <a:r>
              <a:rPr lang="en-US" sz="1050">
                <a:solidFill>
                  <a:srgbClr val="1F1F1F"/>
                </a:solidFill>
                <a:highlight>
                  <a:srgbClr val="FFFFFF"/>
                </a:highlight>
                <a:latin typeface="Roboto"/>
                <a:ea typeface="Roboto"/>
                <a:cs typeface="Roboto"/>
                <a:sym typeface="Roboto"/>
              </a:rPr>
              <a:t> For the VTAGE predictor, we use </a:t>
            </a:r>
            <a:r>
              <a:rPr b="1" lang="en-US" sz="1050">
                <a:solidFill>
                  <a:srgbClr val="1F1F1F"/>
                </a:solidFill>
                <a:highlight>
                  <a:srgbClr val="FFFFFF"/>
                </a:highlight>
                <a:latin typeface="Roboto"/>
                <a:ea typeface="Roboto"/>
                <a:cs typeface="Roboto"/>
                <a:sym typeface="Roboto"/>
              </a:rPr>
              <a:t>5 tables</a:t>
            </a:r>
            <a:r>
              <a:rPr lang="en-US" sz="1050">
                <a:solidFill>
                  <a:srgbClr val="1F1F1F"/>
                </a:solidFill>
                <a:highlight>
                  <a:srgbClr val="FFFFFF"/>
                </a:highlight>
                <a:latin typeface="Roboto"/>
                <a:ea typeface="Roboto"/>
                <a:cs typeface="Roboto"/>
                <a:sym typeface="Roboto"/>
              </a:rPr>
              <a:t> with geometrically spaced history lengths ranging from a </a:t>
            </a:r>
            <a:r>
              <a:rPr b="1" lang="en-US" sz="1050">
                <a:solidFill>
                  <a:srgbClr val="1F1F1F"/>
                </a:solidFill>
                <a:highlight>
                  <a:srgbClr val="FFFFFF"/>
                </a:highlight>
                <a:latin typeface="Roboto"/>
                <a:ea typeface="Roboto"/>
                <a:cs typeface="Roboto"/>
                <a:sym typeface="Roboto"/>
              </a:rPr>
              <a:t>minimum of 3 branches</a:t>
            </a:r>
            <a:r>
              <a:rPr lang="en-US" sz="1050">
                <a:solidFill>
                  <a:srgbClr val="1F1F1F"/>
                </a:solidFill>
                <a:highlight>
                  <a:srgbClr val="FFFFFF"/>
                </a:highlight>
                <a:latin typeface="Roboto"/>
                <a:ea typeface="Roboto"/>
                <a:cs typeface="Roboto"/>
                <a:sym typeface="Roboto"/>
              </a:rPr>
              <a:t> to a </a:t>
            </a:r>
            <a:r>
              <a:rPr b="1" lang="en-US" sz="1050">
                <a:solidFill>
                  <a:srgbClr val="1F1F1F"/>
                </a:solidFill>
                <a:highlight>
                  <a:srgbClr val="FFFFFF"/>
                </a:highlight>
                <a:latin typeface="Roboto"/>
                <a:ea typeface="Roboto"/>
                <a:cs typeface="Roboto"/>
                <a:sym typeface="Roboto"/>
              </a:rPr>
              <a:t>maximum of 54 branches</a:t>
            </a:r>
            <a:r>
              <a:rPr lang="en-US" sz="1050">
                <a:solidFill>
                  <a:srgbClr val="1F1F1F"/>
                </a:solidFill>
                <a:highlight>
                  <a:srgbClr val="FFFFFF"/>
                </a:highlight>
                <a:latin typeface="Roboto"/>
                <a:ea typeface="Roboto"/>
                <a:cs typeface="Roboto"/>
                <a:sym typeface="Roboto"/>
              </a:rPr>
              <a:t>. This provides excellent coverage from short innermost loops to longer, function-level execution context.</a:t>
            </a:r>
            <a:endParaRPr sz="1050">
              <a:solidFill>
                <a:srgbClr val="1F1F1F"/>
              </a:solidFill>
              <a:highlight>
                <a:srgbClr val="FFFFFF"/>
              </a:highlight>
              <a:latin typeface="Roboto"/>
              <a:ea typeface="Roboto"/>
              <a:cs typeface="Roboto"/>
              <a:sym typeface="Roboto"/>
            </a:endParaRPr>
          </a:p>
          <a:p>
            <a:pPr indent="-295275" lvl="0" marL="457200" rtl="0" algn="l">
              <a:lnSpc>
                <a:spcPct val="115000"/>
              </a:lnSpc>
              <a:spcBef>
                <a:spcPts val="0"/>
              </a:spcBef>
              <a:spcAft>
                <a:spcPts val="0"/>
              </a:spcAft>
              <a:buClr>
                <a:srgbClr val="1F1F1F"/>
              </a:buClr>
              <a:buSzPts val="1050"/>
              <a:buFont typeface="Roboto"/>
              <a:buChar char="●"/>
            </a:pPr>
            <a:r>
              <a:rPr b="1" lang="en-US" sz="1050">
                <a:solidFill>
                  <a:srgbClr val="1F1F1F"/>
                </a:solidFill>
                <a:highlight>
                  <a:srgbClr val="FFFFFF"/>
                </a:highlight>
                <a:latin typeface="Roboto"/>
                <a:ea typeface="Roboto"/>
                <a:cs typeface="Roboto"/>
                <a:sym typeface="Roboto"/>
              </a:rPr>
              <a:t>VTAGE Conf Max (63):</a:t>
            </a:r>
            <a:r>
              <a:rPr lang="en-US" sz="1050">
                <a:solidFill>
                  <a:srgbClr val="1F1F1F"/>
                </a:solidFill>
                <a:highlight>
                  <a:srgbClr val="FFFFFF"/>
                </a:highlight>
                <a:latin typeface="Roboto"/>
                <a:ea typeface="Roboto"/>
                <a:cs typeface="Roboto"/>
                <a:sym typeface="Roboto"/>
              </a:rPr>
              <a:t> Crucially, we set the VTAGE maximum confidence to a high bar of 63. This means a VTAGE entry must prove itself with 63 or more correct predictions before it is considered fully confident, acting as a robust misprediction filter.</a:t>
            </a:r>
            <a:endParaRPr sz="1050">
              <a:solidFill>
                <a:srgbClr val="1F1F1F"/>
              </a:solidFill>
              <a:highlight>
                <a:srgbClr val="FFFFFF"/>
              </a:highlight>
              <a:latin typeface="Roboto"/>
              <a:ea typeface="Roboto"/>
              <a:cs typeface="Roboto"/>
              <a:sym typeface="Roboto"/>
            </a:endParaRPr>
          </a:p>
          <a:p>
            <a:pPr indent="-295275" lvl="0" marL="457200" rtl="0" algn="l">
              <a:lnSpc>
                <a:spcPct val="115000"/>
              </a:lnSpc>
              <a:spcBef>
                <a:spcPts val="0"/>
              </a:spcBef>
              <a:spcAft>
                <a:spcPts val="0"/>
              </a:spcAft>
              <a:buClr>
                <a:srgbClr val="1F1F1F"/>
              </a:buClr>
              <a:buSzPts val="1050"/>
              <a:buFont typeface="Roboto"/>
              <a:buChar char="●"/>
            </a:pPr>
            <a:r>
              <a:rPr b="1" lang="en-US" sz="1050">
                <a:solidFill>
                  <a:srgbClr val="1F1F1F"/>
                </a:solidFill>
                <a:highlight>
                  <a:srgbClr val="FFFFFF"/>
                </a:highlight>
                <a:latin typeface="Roboto"/>
                <a:ea typeface="Roboto"/>
                <a:cs typeface="Roboto"/>
                <a:sym typeface="Roboto"/>
              </a:rPr>
              <a:t>Storage Budget:</a:t>
            </a:r>
            <a:r>
              <a:rPr lang="en-US" sz="1050">
                <a:solidFill>
                  <a:srgbClr val="1F1F1F"/>
                </a:solidFill>
                <a:highlight>
                  <a:srgbClr val="FFFFFF"/>
                </a:highlight>
                <a:latin typeface="Roboto"/>
                <a:ea typeface="Roboto"/>
                <a:cs typeface="Roboto"/>
                <a:sym typeface="Roboto"/>
              </a:rPr>
              <a:t> The final configuration is highly optimized for capacity. The SVP uses approximately 19 KB, and the five VTAGE tables use about 13 KB, bringing our </a:t>
            </a:r>
            <a:r>
              <a:rPr b="1" lang="en-US" sz="1050">
                <a:solidFill>
                  <a:srgbClr val="1F1F1F"/>
                </a:solidFill>
                <a:highlight>
                  <a:srgbClr val="FFFFFF"/>
                </a:highlight>
                <a:latin typeface="Roboto"/>
                <a:ea typeface="Roboto"/>
                <a:cs typeface="Roboto"/>
                <a:sym typeface="Roboto"/>
              </a:rPr>
              <a:t>Total Storage to 31.97 KB</a:t>
            </a:r>
            <a:r>
              <a:rPr lang="en-US" sz="1050">
                <a:solidFill>
                  <a:srgbClr val="1F1F1F"/>
                </a:solidFill>
                <a:highlight>
                  <a:srgbClr val="FFFFFF"/>
                </a:highlight>
                <a:latin typeface="Roboto"/>
                <a:ea typeface="Roboto"/>
                <a:cs typeface="Roboto"/>
                <a:sym typeface="Roboto"/>
              </a:rPr>
              <a:t>, successfully keeping us under the 32 KB budget."</a:t>
            </a:r>
            <a:endParaRPr sz="1050">
              <a:solidFill>
                <a:srgbClr val="1F1F1F"/>
              </a:solidFill>
              <a:highlight>
                <a:srgbClr val="FFFFFF"/>
              </a:highlight>
              <a:latin typeface="Roboto"/>
              <a:ea typeface="Roboto"/>
              <a:cs typeface="Roboto"/>
              <a:sym typeface="Roboto"/>
            </a:endParaRPr>
          </a:p>
          <a:p>
            <a:pPr indent="0" lvl="0" marL="0" marR="0" rtl="0" algn="l">
              <a:spcBef>
                <a:spcPts val="1200"/>
              </a:spcBef>
              <a:spcAft>
                <a:spcPts val="0"/>
              </a:spcAft>
              <a:buNone/>
            </a:pPr>
            <a:r>
              <a:t/>
            </a:r>
            <a:endParaRPr sz="1200">
              <a:solidFill>
                <a:schemeClr val="dk1"/>
              </a:solidFill>
            </a:endParaRPr>
          </a:p>
        </p:txBody>
      </p:sp>
      <p:sp>
        <p:nvSpPr>
          <p:cNvPr id="152" name="Google Shape;152;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7" name="Google Shape;207;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t/>
            </a:r>
            <a:endParaRPr sz="1200">
              <a:solidFill>
                <a:schemeClr val="dk1"/>
              </a:solidFill>
            </a:endParaRPr>
          </a:p>
          <a:p>
            <a:pPr indent="0" lvl="0" marL="0" rtl="0" algn="l">
              <a:spcBef>
                <a:spcPts val="0"/>
              </a:spcBef>
              <a:spcAft>
                <a:spcPts val="0"/>
              </a:spcAft>
              <a:buClr>
                <a:schemeClr val="dk1"/>
              </a:buClr>
              <a:buSzPts val="1100"/>
              <a:buFont typeface="Arial"/>
              <a:buNone/>
            </a:pPr>
            <a:r>
              <a:rPr lang="en-US" sz="1050">
                <a:solidFill>
                  <a:srgbClr val="1F1F1F"/>
                </a:solidFill>
                <a:highlight>
                  <a:srgbClr val="FFFFFF"/>
                </a:highlight>
                <a:latin typeface="Roboto"/>
                <a:ea typeface="Roboto"/>
                <a:cs typeface="Roboto"/>
                <a:sym typeface="Roboto"/>
              </a:rPr>
              <a:t>"The results of our championship run are summarized here. Our final configuration achieved a </a:t>
            </a:r>
            <a:r>
              <a:rPr b="1" lang="en-US" sz="1050">
                <a:solidFill>
                  <a:srgbClr val="1F1F1F"/>
                </a:solidFill>
                <a:highlight>
                  <a:srgbClr val="FFFFFF"/>
                </a:highlight>
                <a:latin typeface="Roboto"/>
                <a:ea typeface="Roboto"/>
                <a:cs typeface="Roboto"/>
                <a:sym typeface="Roboto"/>
              </a:rPr>
              <a:t>Harmonic Mean IPC of 2.054</a:t>
            </a:r>
            <a:r>
              <a:rPr lang="en-US" sz="1050">
                <a:solidFill>
                  <a:srgbClr val="1F1F1F"/>
                </a:solidFill>
                <a:highlight>
                  <a:srgbClr val="FFFFFF"/>
                </a:highlight>
                <a:latin typeface="Roboto"/>
                <a:ea typeface="Roboto"/>
                <a:cs typeface="Roboto"/>
                <a:sym typeface="Roboto"/>
              </a:rPr>
              <a:t> against the baseline of 1.66, representing a substantial gain of approximately 24%.</a:t>
            </a:r>
            <a:endParaRPr sz="1050">
              <a:solidFill>
                <a:srgbClr val="1F1F1F"/>
              </a:solidFill>
              <a:highlight>
                <a:srgbClr val="FFFFFF"/>
              </a:highlight>
              <a:latin typeface="Roboto"/>
              <a:ea typeface="Roboto"/>
              <a:cs typeface="Roboto"/>
              <a:sym typeface="Roboto"/>
            </a:endParaRPr>
          </a:p>
          <a:p>
            <a:pPr indent="-295275" lvl="0" marL="457200" rtl="0" algn="l">
              <a:lnSpc>
                <a:spcPct val="115000"/>
              </a:lnSpc>
              <a:spcBef>
                <a:spcPts val="1200"/>
              </a:spcBef>
              <a:spcAft>
                <a:spcPts val="0"/>
              </a:spcAft>
              <a:buClr>
                <a:srgbClr val="1F1F1F"/>
              </a:buClr>
              <a:buSzPts val="1050"/>
              <a:buFont typeface="Roboto"/>
              <a:buChar char="●"/>
            </a:pPr>
            <a:r>
              <a:rPr b="1" lang="en-US" sz="1050">
                <a:solidFill>
                  <a:srgbClr val="1F1F1F"/>
                </a:solidFill>
                <a:highlight>
                  <a:srgbClr val="FFFFFF"/>
                </a:highlight>
                <a:latin typeface="Roboto"/>
                <a:ea typeface="Roboto"/>
                <a:cs typeface="Roboto"/>
                <a:sym typeface="Roboto"/>
              </a:rPr>
              <a:t>Structured Workloads:</a:t>
            </a:r>
            <a:r>
              <a:rPr lang="en-US" sz="1050">
                <a:solidFill>
                  <a:srgbClr val="1F1F1F"/>
                </a:solidFill>
                <a:highlight>
                  <a:srgbClr val="FFFFFF"/>
                </a:highlight>
                <a:latin typeface="Roboto"/>
                <a:ea typeface="Roboto"/>
                <a:cs typeface="Roboto"/>
                <a:sym typeface="Roboto"/>
              </a:rPr>
              <a:t> We saw strong gains in structured workloads, such as a </a:t>
            </a:r>
            <a:r>
              <a:rPr b="1" lang="en-US" sz="1050">
                <a:solidFill>
                  <a:srgbClr val="1F1F1F"/>
                </a:solidFill>
                <a:highlight>
                  <a:srgbClr val="FFFFFF"/>
                </a:highlight>
                <a:latin typeface="Roboto"/>
                <a:ea typeface="Roboto"/>
                <a:cs typeface="Roboto"/>
                <a:sym typeface="Roboto"/>
              </a:rPr>
              <a:t>12.4% boost for </a:t>
            </a:r>
            <a:r>
              <a:rPr lang="en-US" sz="1050">
                <a:solidFill>
                  <a:srgbClr val="444746"/>
                </a:solidFill>
                <a:highlight>
                  <a:srgbClr val="DDE3EA"/>
                </a:highlight>
                <a:latin typeface="Courier New"/>
                <a:ea typeface="Courier New"/>
                <a:cs typeface="Courier New"/>
                <a:sym typeface="Courier New"/>
              </a:rPr>
              <a:t>perlbench</a:t>
            </a:r>
            <a:r>
              <a:rPr lang="en-US" sz="1050">
                <a:solidFill>
                  <a:srgbClr val="1F1F1F"/>
                </a:solidFill>
                <a:highlight>
                  <a:srgbClr val="FFFFFF"/>
                </a:highlight>
                <a:latin typeface="Roboto"/>
                <a:ea typeface="Roboto"/>
                <a:cs typeface="Roboto"/>
                <a:sym typeface="Roboto"/>
              </a:rPr>
              <a:t>, increasing its IPC from 5.01 to 5.63.</a:t>
            </a:r>
            <a:endParaRPr sz="1050">
              <a:solidFill>
                <a:srgbClr val="1F1F1F"/>
              </a:solidFill>
              <a:highlight>
                <a:srgbClr val="FFFFFF"/>
              </a:highlight>
              <a:latin typeface="Roboto"/>
              <a:ea typeface="Roboto"/>
              <a:cs typeface="Roboto"/>
              <a:sym typeface="Roboto"/>
            </a:endParaRPr>
          </a:p>
          <a:p>
            <a:pPr indent="-295275" lvl="0" marL="457200" rtl="0" algn="l">
              <a:lnSpc>
                <a:spcPct val="115000"/>
              </a:lnSpc>
              <a:spcBef>
                <a:spcPts val="0"/>
              </a:spcBef>
              <a:spcAft>
                <a:spcPts val="0"/>
              </a:spcAft>
              <a:buClr>
                <a:srgbClr val="1F1F1F"/>
              </a:buClr>
              <a:buSzPts val="1050"/>
              <a:buFont typeface="Roboto"/>
              <a:buChar char="●"/>
            </a:pPr>
            <a:r>
              <a:rPr b="1" lang="en-US" sz="1050">
                <a:solidFill>
                  <a:srgbClr val="1F1F1F"/>
                </a:solidFill>
                <a:highlight>
                  <a:srgbClr val="FFFFFF"/>
                </a:highlight>
                <a:latin typeface="Roboto"/>
                <a:ea typeface="Roboto"/>
                <a:cs typeface="Roboto"/>
                <a:sym typeface="Roboto"/>
              </a:rPr>
              <a:t>Memory Workloads:</a:t>
            </a:r>
            <a:r>
              <a:rPr lang="en-US" sz="1050">
                <a:solidFill>
                  <a:srgbClr val="1F1F1F"/>
                </a:solidFill>
                <a:highlight>
                  <a:srgbClr val="FFFFFF"/>
                </a:highlight>
                <a:latin typeface="Roboto"/>
                <a:ea typeface="Roboto"/>
                <a:cs typeface="Roboto"/>
                <a:sym typeface="Roboto"/>
              </a:rPr>
              <a:t> Our hybrid predictor was particularly effective on the memory-intensive workload </a:t>
            </a:r>
            <a:r>
              <a:rPr lang="en-US" sz="1050">
                <a:solidFill>
                  <a:srgbClr val="444746"/>
                </a:solidFill>
                <a:highlight>
                  <a:srgbClr val="DDE3EA"/>
                </a:highlight>
                <a:latin typeface="Courier New"/>
                <a:ea typeface="Courier New"/>
                <a:cs typeface="Courier New"/>
                <a:sym typeface="Courier New"/>
              </a:rPr>
              <a:t>mcf</a:t>
            </a:r>
            <a:r>
              <a:rPr lang="en-US" sz="1050">
                <a:solidFill>
                  <a:srgbClr val="1F1F1F"/>
                </a:solidFill>
                <a:highlight>
                  <a:srgbClr val="FFFFFF"/>
                </a:highlight>
                <a:latin typeface="Roboto"/>
                <a:ea typeface="Roboto"/>
                <a:cs typeface="Roboto"/>
                <a:sym typeface="Roboto"/>
              </a:rPr>
              <a:t>, achieving a massive </a:t>
            </a:r>
            <a:r>
              <a:rPr b="1" lang="en-US" sz="1050">
                <a:solidFill>
                  <a:srgbClr val="1F1F1F"/>
                </a:solidFill>
                <a:highlight>
                  <a:srgbClr val="FFFFFF"/>
                </a:highlight>
                <a:latin typeface="Roboto"/>
                <a:ea typeface="Roboto"/>
                <a:cs typeface="Roboto"/>
                <a:sym typeface="Roboto"/>
              </a:rPr>
              <a:t>103.6% gain</a:t>
            </a:r>
            <a:r>
              <a:rPr lang="en-US" sz="1050">
                <a:solidFill>
                  <a:srgbClr val="1F1F1F"/>
                </a:solidFill>
                <a:highlight>
                  <a:srgbClr val="FFFFFF"/>
                </a:highlight>
                <a:latin typeface="Roboto"/>
                <a:ea typeface="Roboto"/>
                <a:cs typeface="Roboto"/>
                <a:sym typeface="Roboto"/>
              </a:rPr>
              <a:t>, pushing its IPC from 0.82 to 1.67.</a:t>
            </a:r>
            <a:endParaRPr sz="1050">
              <a:solidFill>
                <a:srgbClr val="1F1F1F"/>
              </a:solidFill>
              <a:highlight>
                <a:srgbClr val="FFFFFF"/>
              </a:highlight>
              <a:latin typeface="Roboto"/>
              <a:ea typeface="Roboto"/>
              <a:cs typeface="Roboto"/>
              <a:sym typeface="Roboto"/>
            </a:endParaRPr>
          </a:p>
          <a:p>
            <a:pPr indent="-295275" lvl="0" marL="457200" rtl="0" algn="l">
              <a:lnSpc>
                <a:spcPct val="115000"/>
              </a:lnSpc>
              <a:spcBef>
                <a:spcPts val="0"/>
              </a:spcBef>
              <a:spcAft>
                <a:spcPts val="0"/>
              </a:spcAft>
              <a:buClr>
                <a:srgbClr val="1F1F1F"/>
              </a:buClr>
              <a:buSzPts val="1050"/>
              <a:buFont typeface="Roboto"/>
              <a:buChar char="●"/>
            </a:pPr>
            <a:r>
              <a:rPr b="1" lang="en-US" sz="1050">
                <a:solidFill>
                  <a:srgbClr val="1F1F1F"/>
                </a:solidFill>
                <a:highlight>
                  <a:srgbClr val="FFFFFF"/>
                </a:highlight>
                <a:latin typeface="Roboto"/>
                <a:ea typeface="Roboto"/>
                <a:cs typeface="Roboto"/>
                <a:sym typeface="Roboto"/>
              </a:rPr>
              <a:t>Chaotic Workloads:</a:t>
            </a:r>
            <a:r>
              <a:rPr lang="en-US" sz="1050">
                <a:solidFill>
                  <a:srgbClr val="1F1F1F"/>
                </a:solidFill>
                <a:highlight>
                  <a:srgbClr val="FFFFFF"/>
                </a:highlight>
                <a:latin typeface="Roboto"/>
                <a:ea typeface="Roboto"/>
                <a:cs typeface="Roboto"/>
                <a:sym typeface="Roboto"/>
              </a:rPr>
              <a:t> Importantly, on volatile and chaotic traces like </a:t>
            </a:r>
            <a:r>
              <a:rPr lang="en-US" sz="1050">
                <a:solidFill>
                  <a:srgbClr val="444746"/>
                </a:solidFill>
                <a:highlight>
                  <a:srgbClr val="DDE3EA"/>
                </a:highlight>
                <a:latin typeface="Courier New"/>
                <a:ea typeface="Courier New"/>
                <a:cs typeface="Courier New"/>
                <a:sym typeface="Courier New"/>
              </a:rPr>
              <a:t>sjeng</a:t>
            </a:r>
            <a:r>
              <a:rPr b="1" lang="en-US" sz="1050">
                <a:solidFill>
                  <a:srgbClr val="1F1F1F"/>
                </a:solidFill>
                <a:highlight>
                  <a:srgbClr val="FFFFFF"/>
                </a:highlight>
                <a:latin typeface="Roboto"/>
                <a:ea typeface="Roboto"/>
                <a:cs typeface="Roboto"/>
                <a:sym typeface="Roboto"/>
              </a:rPr>
              <a:t> and </a:t>
            </a:r>
            <a:r>
              <a:rPr lang="en-US" sz="1050">
                <a:solidFill>
                  <a:srgbClr val="444746"/>
                </a:solidFill>
                <a:highlight>
                  <a:srgbClr val="DDE3EA"/>
                </a:highlight>
                <a:latin typeface="Courier New"/>
                <a:ea typeface="Courier New"/>
                <a:cs typeface="Courier New"/>
                <a:sym typeface="Courier New"/>
              </a:rPr>
              <a:t>povray</a:t>
            </a:r>
            <a:r>
              <a:rPr lang="en-US" sz="1050">
                <a:solidFill>
                  <a:srgbClr val="1F1F1F"/>
                </a:solidFill>
                <a:highlight>
                  <a:srgbClr val="FFFFFF"/>
                </a:highlight>
                <a:latin typeface="Roboto"/>
                <a:ea typeface="Roboto"/>
                <a:cs typeface="Roboto"/>
                <a:sym typeface="Roboto"/>
              </a:rPr>
              <a:t>, we managed to </a:t>
            </a:r>
            <a:r>
              <a:rPr b="1" lang="en-US" sz="1050">
                <a:solidFill>
                  <a:srgbClr val="1F1F1F"/>
                </a:solidFill>
                <a:highlight>
                  <a:srgbClr val="FFFFFF"/>
                </a:highlight>
                <a:latin typeface="Roboto"/>
                <a:ea typeface="Roboto"/>
                <a:cs typeface="Roboto"/>
                <a:sym typeface="Roboto"/>
              </a:rPr>
              <a:t>hold ground at +0% gain</a:t>
            </a:r>
            <a:r>
              <a:rPr lang="en-US" sz="1050">
                <a:solidFill>
                  <a:srgbClr val="1F1F1F"/>
                </a:solidFill>
                <a:highlight>
                  <a:srgbClr val="FFFFFF"/>
                </a:highlight>
                <a:latin typeface="Roboto"/>
                <a:ea typeface="Roboto"/>
                <a:cs typeface="Roboto"/>
                <a:sym typeface="Roboto"/>
              </a:rPr>
              <a:t>. This demonstrates that our high-confidence policy successfully avoided aggressive, high-confidence mispredictions in unpredictable scenarios, preventing performance degradation</a:t>
            </a:r>
            <a:endParaRPr sz="1050">
              <a:solidFill>
                <a:srgbClr val="1F1F1F"/>
              </a:solidFill>
              <a:highlight>
                <a:srgbClr val="FFFFFF"/>
              </a:highlight>
              <a:latin typeface="Roboto"/>
              <a:ea typeface="Roboto"/>
              <a:cs typeface="Roboto"/>
              <a:sym typeface="Roboto"/>
            </a:endParaRPr>
          </a:p>
          <a:p>
            <a:pPr indent="0" lvl="0" marL="0" marR="0" rtl="0" algn="l">
              <a:spcBef>
                <a:spcPts val="0"/>
              </a:spcBef>
              <a:spcAft>
                <a:spcPts val="0"/>
              </a:spcAft>
              <a:buNone/>
            </a:pPr>
            <a:r>
              <a:t/>
            </a:r>
            <a:endParaRPr sz="1200">
              <a:solidFill>
                <a:schemeClr val="dk1"/>
              </a:solidFill>
            </a:endParaRPr>
          </a:p>
        </p:txBody>
      </p:sp>
      <p:sp>
        <p:nvSpPr>
          <p:cNvPr id="208" name="Google Shape;208;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2" name="Google Shape;232;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33" name="Google Shape;233;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8" name="Google Shape;258;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59" name="Google Shape;259;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3d92ac71dd0_1_3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0" name="Google Shape;280;g3d92ac71dd0_1_3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81" name="Google Shape;281;g3d92ac71dd0_1_3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3e073069206_10_30: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6" name="Shape 6"/>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g3e60855a18b_15_0)">
  <p:cSld name="Generated (g3e60855a18b_15_0)">
    <p:spTree>
      <p:nvGrpSpPr>
        <p:cNvPr id="7" name="Shape 7"/>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 id="2147483650"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comments" Target="../comments/commen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628"/>
        </a:solidFill>
      </p:bgPr>
    </p:bg>
    <p:spTree>
      <p:nvGrpSpPr>
        <p:cNvPr id="12" name="Shape 12"/>
        <p:cNvGrpSpPr/>
        <p:nvPr/>
      </p:nvGrpSpPr>
      <p:grpSpPr>
        <a:xfrm>
          <a:off x="0" y="0"/>
          <a:ext cx="0" cy="0"/>
          <a:chOff x="0" y="0"/>
          <a:chExt cx="0" cy="0"/>
        </a:xfrm>
      </p:grpSpPr>
      <p:sp>
        <p:nvSpPr>
          <p:cNvPr id="13" name="Google Shape;13;p1"/>
          <p:cNvSpPr/>
          <p:nvPr/>
        </p:nvSpPr>
        <p:spPr>
          <a:xfrm>
            <a:off x="0" y="0"/>
            <a:ext cx="54864" cy="5143500"/>
          </a:xfrm>
          <a:prstGeom prst="rect">
            <a:avLst/>
          </a:prstGeom>
          <a:solidFill>
            <a:srgbClr val="00B4D8"/>
          </a:solidFill>
          <a:ln cap="flat" cmpd="sng" w="12700">
            <a:solidFill>
              <a:srgbClr val="00B4D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 name="Google Shape;14;p1"/>
          <p:cNvSpPr/>
          <p:nvPr/>
        </p:nvSpPr>
        <p:spPr>
          <a:xfrm>
            <a:off x="9089136" y="0"/>
            <a:ext cx="54864" cy="5143500"/>
          </a:xfrm>
          <a:prstGeom prst="rect">
            <a:avLst/>
          </a:prstGeom>
          <a:solidFill>
            <a:srgbClr val="00B4D8"/>
          </a:solidFill>
          <a:ln cap="flat" cmpd="sng" w="12700">
            <a:solidFill>
              <a:srgbClr val="00B4D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 name="Google Shape;15;p1"/>
          <p:cNvSpPr/>
          <p:nvPr/>
        </p:nvSpPr>
        <p:spPr>
          <a:xfrm>
            <a:off x="0" y="365760"/>
            <a:ext cx="9144000" cy="54864"/>
          </a:xfrm>
          <a:prstGeom prst="rect">
            <a:avLst/>
          </a:prstGeom>
          <a:solidFill>
            <a:srgbClr val="00B4D8"/>
          </a:solidFill>
          <a:ln cap="flat" cmpd="sng" w="12700">
            <a:solidFill>
              <a:srgbClr val="00B4D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 name="Google Shape;16;p1"/>
          <p:cNvSpPr/>
          <p:nvPr/>
        </p:nvSpPr>
        <p:spPr>
          <a:xfrm>
            <a:off x="0" y="4754880"/>
            <a:ext cx="9144000" cy="54864"/>
          </a:xfrm>
          <a:prstGeom prst="rect">
            <a:avLst/>
          </a:prstGeom>
          <a:solidFill>
            <a:srgbClr val="00B4D8"/>
          </a:solidFill>
          <a:ln cap="flat" cmpd="sng" w="12700">
            <a:solidFill>
              <a:srgbClr val="00B4D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 name="Google Shape;17;p1"/>
          <p:cNvSpPr/>
          <p:nvPr/>
        </p:nvSpPr>
        <p:spPr>
          <a:xfrm>
            <a:off x="274320" y="91440"/>
            <a:ext cx="85953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B4D8"/>
              </a:buClr>
              <a:buSzPts val="1100"/>
              <a:buFont typeface="Calibri"/>
              <a:buNone/>
            </a:pPr>
            <a:r>
              <a:rPr i="1" lang="en-US" sz="1100">
                <a:solidFill>
                  <a:srgbClr val="00B4D8"/>
                </a:solidFill>
                <a:latin typeface="Calibri"/>
                <a:ea typeface="Calibri"/>
                <a:cs typeface="Calibri"/>
                <a:sym typeface="Calibri"/>
              </a:rPr>
              <a:t>ECE 721 — Value Prediction Project</a:t>
            </a:r>
            <a:endParaRPr sz="1100">
              <a:solidFill>
                <a:schemeClr val="dk1"/>
              </a:solidFill>
              <a:latin typeface="Calibri"/>
              <a:ea typeface="Calibri"/>
              <a:cs typeface="Calibri"/>
              <a:sym typeface="Calibri"/>
            </a:endParaRPr>
          </a:p>
        </p:txBody>
      </p:sp>
      <p:sp>
        <p:nvSpPr>
          <p:cNvPr id="18" name="Google Shape;18;p1"/>
          <p:cNvSpPr/>
          <p:nvPr/>
        </p:nvSpPr>
        <p:spPr>
          <a:xfrm>
            <a:off x="457200" y="822960"/>
            <a:ext cx="5943600" cy="2011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4400"/>
              <a:buFont typeface="Calibri"/>
              <a:buNone/>
            </a:pPr>
            <a:r>
              <a:rPr b="1" lang="en-US" sz="4400">
                <a:solidFill>
                  <a:srgbClr val="FFFFFF"/>
                </a:solidFill>
                <a:latin typeface="Calibri"/>
                <a:ea typeface="Calibri"/>
                <a:cs typeface="Calibri"/>
                <a:sym typeface="Calibri"/>
              </a:rPr>
              <a:t>32KB Hybrid Out-of-Order</a:t>
            </a:r>
            <a:endParaRPr sz="4400">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4400"/>
              <a:buFont typeface="Calibri"/>
              <a:buNone/>
            </a:pPr>
            <a:r>
              <a:rPr b="1" lang="en-US" sz="4400">
                <a:solidFill>
                  <a:srgbClr val="FFFFFF"/>
                </a:solidFill>
                <a:latin typeface="Calibri"/>
                <a:ea typeface="Calibri"/>
                <a:cs typeface="Calibri"/>
                <a:sym typeface="Calibri"/>
              </a:rPr>
              <a:t>Value Predictor</a:t>
            </a:r>
            <a:endParaRPr sz="4400">
              <a:solidFill>
                <a:schemeClr val="dk1"/>
              </a:solidFill>
              <a:latin typeface="Calibri"/>
              <a:ea typeface="Calibri"/>
              <a:cs typeface="Calibri"/>
              <a:sym typeface="Calibri"/>
            </a:endParaRPr>
          </a:p>
        </p:txBody>
      </p:sp>
      <p:sp>
        <p:nvSpPr>
          <p:cNvPr id="19" name="Google Shape;19;p1"/>
          <p:cNvSpPr/>
          <p:nvPr/>
        </p:nvSpPr>
        <p:spPr>
          <a:xfrm>
            <a:off x="457200" y="2697480"/>
            <a:ext cx="59436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B4D8"/>
              </a:buClr>
              <a:buSzPts val="2000"/>
              <a:buFont typeface="Calibri"/>
              <a:buNone/>
            </a:pPr>
            <a:r>
              <a:rPr lang="en-US" sz="2000">
                <a:solidFill>
                  <a:srgbClr val="00B4D8"/>
                </a:solidFill>
                <a:latin typeface="Calibri"/>
                <a:ea typeface="Calibri"/>
                <a:cs typeface="Calibri"/>
                <a:sym typeface="Calibri"/>
              </a:rPr>
              <a:t>SVP + VTAGE Hybrid Architecture</a:t>
            </a:r>
            <a:endParaRPr sz="2000">
              <a:solidFill>
                <a:schemeClr val="dk1"/>
              </a:solidFill>
              <a:latin typeface="Calibri"/>
              <a:ea typeface="Calibri"/>
              <a:cs typeface="Calibri"/>
              <a:sym typeface="Calibri"/>
            </a:endParaRPr>
          </a:p>
        </p:txBody>
      </p:sp>
      <p:sp>
        <p:nvSpPr>
          <p:cNvPr id="20" name="Google Shape;20;p1"/>
          <p:cNvSpPr/>
          <p:nvPr/>
        </p:nvSpPr>
        <p:spPr>
          <a:xfrm>
            <a:off x="457200" y="3246120"/>
            <a:ext cx="64008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EACC4"/>
              </a:buClr>
              <a:buSzPts val="1300"/>
              <a:buFont typeface="Calibri"/>
              <a:buNone/>
            </a:pPr>
            <a:r>
              <a:rPr lang="en-US" sz="1300">
                <a:solidFill>
                  <a:srgbClr val="8EACC4"/>
                </a:solidFill>
                <a:latin typeface="Calibri"/>
                <a:ea typeface="Calibri"/>
                <a:cs typeface="Calibri"/>
                <a:sym typeface="Calibri"/>
              </a:rPr>
              <a:t>By: Aadesh Shah and Khang Pham</a:t>
            </a:r>
            <a:endParaRPr sz="1300">
              <a:solidFill>
                <a:schemeClr val="dk1"/>
              </a:solidFill>
              <a:latin typeface="Calibri"/>
              <a:ea typeface="Calibri"/>
              <a:cs typeface="Calibri"/>
              <a:sym typeface="Calibri"/>
            </a:endParaRPr>
          </a:p>
        </p:txBody>
      </p:sp>
      <p:sp>
        <p:nvSpPr>
          <p:cNvPr id="21" name="Google Shape;21;p1"/>
          <p:cNvSpPr/>
          <p:nvPr/>
        </p:nvSpPr>
        <p:spPr>
          <a:xfrm>
            <a:off x="6583680" y="777240"/>
            <a:ext cx="2331720" cy="1143000"/>
          </a:xfrm>
          <a:prstGeom prst="rect">
            <a:avLst/>
          </a:prstGeom>
          <a:solidFill>
            <a:srgbClr val="0D2137"/>
          </a:solidFill>
          <a:ln cap="flat" cmpd="sng" w="19050">
            <a:solidFill>
              <a:srgbClr val="00B4D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 name="Google Shape;22;p1"/>
          <p:cNvSpPr/>
          <p:nvPr/>
        </p:nvSpPr>
        <p:spPr>
          <a:xfrm>
            <a:off x="6583680" y="822960"/>
            <a:ext cx="2331720" cy="62179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F5D4"/>
              </a:buClr>
              <a:buSzPts val="3200"/>
              <a:buFont typeface="Calibri"/>
              <a:buNone/>
            </a:pPr>
            <a:r>
              <a:rPr b="1" lang="en-US" sz="3200">
                <a:solidFill>
                  <a:srgbClr val="00F5D4"/>
                </a:solidFill>
                <a:latin typeface="Calibri"/>
                <a:ea typeface="Calibri"/>
                <a:cs typeface="Calibri"/>
                <a:sym typeface="Calibri"/>
              </a:rPr>
              <a:t>1.66</a:t>
            </a:r>
            <a:endParaRPr sz="3200">
              <a:solidFill>
                <a:schemeClr val="dk1"/>
              </a:solidFill>
              <a:latin typeface="Calibri"/>
              <a:ea typeface="Calibri"/>
              <a:cs typeface="Calibri"/>
              <a:sym typeface="Calibri"/>
            </a:endParaRPr>
          </a:p>
        </p:txBody>
      </p:sp>
      <p:sp>
        <p:nvSpPr>
          <p:cNvPr id="23" name="Google Shape;23;p1"/>
          <p:cNvSpPr/>
          <p:nvPr/>
        </p:nvSpPr>
        <p:spPr>
          <a:xfrm>
            <a:off x="6583680" y="1417320"/>
            <a:ext cx="2331720" cy="25603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Calibri"/>
              <a:buNone/>
            </a:pPr>
            <a:r>
              <a:rPr b="1" lang="en-US" sz="1100">
                <a:solidFill>
                  <a:srgbClr val="FFFFFF"/>
                </a:solidFill>
                <a:latin typeface="Calibri"/>
                <a:ea typeface="Calibri"/>
                <a:cs typeface="Calibri"/>
                <a:sym typeface="Calibri"/>
              </a:rPr>
              <a:t>Baseline IPC</a:t>
            </a:r>
            <a:endParaRPr sz="1100">
              <a:solidFill>
                <a:schemeClr val="dk1"/>
              </a:solidFill>
              <a:latin typeface="Calibri"/>
              <a:ea typeface="Calibri"/>
              <a:cs typeface="Calibri"/>
              <a:sym typeface="Calibri"/>
            </a:endParaRPr>
          </a:p>
        </p:txBody>
      </p:sp>
      <p:sp>
        <p:nvSpPr>
          <p:cNvPr id="24" name="Google Shape;24;p1"/>
          <p:cNvSpPr/>
          <p:nvPr/>
        </p:nvSpPr>
        <p:spPr>
          <a:xfrm>
            <a:off x="6583680" y="1655064"/>
            <a:ext cx="2331720" cy="21945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8EACC4"/>
              </a:buClr>
              <a:buSzPts val="1000"/>
              <a:buFont typeface="Calibri"/>
              <a:buNone/>
            </a:pPr>
            <a:r>
              <a:t/>
            </a:r>
            <a:endParaRPr sz="1000">
              <a:solidFill>
                <a:schemeClr val="dk1"/>
              </a:solidFill>
              <a:latin typeface="Calibri"/>
              <a:ea typeface="Calibri"/>
              <a:cs typeface="Calibri"/>
              <a:sym typeface="Calibri"/>
            </a:endParaRPr>
          </a:p>
        </p:txBody>
      </p:sp>
      <p:sp>
        <p:nvSpPr>
          <p:cNvPr id="25" name="Google Shape;25;p1"/>
          <p:cNvSpPr/>
          <p:nvPr/>
        </p:nvSpPr>
        <p:spPr>
          <a:xfrm>
            <a:off x="6583680" y="2167128"/>
            <a:ext cx="2331720" cy="1143000"/>
          </a:xfrm>
          <a:prstGeom prst="rect">
            <a:avLst/>
          </a:prstGeom>
          <a:solidFill>
            <a:srgbClr val="0D2137"/>
          </a:solidFill>
          <a:ln cap="flat" cmpd="sng" w="19050">
            <a:solidFill>
              <a:srgbClr val="00B4D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 name="Google Shape;26;p1"/>
          <p:cNvSpPr/>
          <p:nvPr/>
        </p:nvSpPr>
        <p:spPr>
          <a:xfrm>
            <a:off x="6583680" y="2212848"/>
            <a:ext cx="2331720" cy="62179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F5D4"/>
              </a:buClr>
              <a:buSzPts val="3200"/>
              <a:buFont typeface="Calibri"/>
              <a:buNone/>
            </a:pPr>
            <a:r>
              <a:rPr b="1" lang="en-US" sz="3200">
                <a:solidFill>
                  <a:srgbClr val="00F5D4"/>
                </a:solidFill>
                <a:latin typeface="Calibri"/>
                <a:ea typeface="Calibri"/>
                <a:cs typeface="Calibri"/>
                <a:sym typeface="Calibri"/>
              </a:rPr>
              <a:t>2.054</a:t>
            </a:r>
            <a:endParaRPr sz="3200">
              <a:solidFill>
                <a:schemeClr val="dk1"/>
              </a:solidFill>
              <a:latin typeface="Calibri"/>
              <a:ea typeface="Calibri"/>
              <a:cs typeface="Calibri"/>
              <a:sym typeface="Calibri"/>
            </a:endParaRPr>
          </a:p>
        </p:txBody>
      </p:sp>
      <p:sp>
        <p:nvSpPr>
          <p:cNvPr id="27" name="Google Shape;27;p1"/>
          <p:cNvSpPr/>
          <p:nvPr/>
        </p:nvSpPr>
        <p:spPr>
          <a:xfrm>
            <a:off x="6583680" y="2807208"/>
            <a:ext cx="2331720" cy="25603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Calibri"/>
              <a:buNone/>
            </a:pPr>
            <a:r>
              <a:rPr b="1" lang="en-US" sz="1100">
                <a:solidFill>
                  <a:srgbClr val="FFFFFF"/>
                </a:solidFill>
                <a:latin typeface="Calibri"/>
                <a:ea typeface="Calibri"/>
                <a:cs typeface="Calibri"/>
                <a:sym typeface="Calibri"/>
              </a:rPr>
              <a:t>Our IPC</a:t>
            </a:r>
            <a:endParaRPr sz="1100">
              <a:solidFill>
                <a:schemeClr val="dk1"/>
              </a:solidFill>
              <a:latin typeface="Calibri"/>
              <a:ea typeface="Calibri"/>
              <a:cs typeface="Calibri"/>
              <a:sym typeface="Calibri"/>
            </a:endParaRPr>
          </a:p>
        </p:txBody>
      </p:sp>
      <p:sp>
        <p:nvSpPr>
          <p:cNvPr id="28" name="Google Shape;28;p1"/>
          <p:cNvSpPr/>
          <p:nvPr/>
        </p:nvSpPr>
        <p:spPr>
          <a:xfrm>
            <a:off x="6583680" y="3044952"/>
            <a:ext cx="2331720" cy="21945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8EACC4"/>
              </a:buClr>
              <a:buSzPts val="1000"/>
              <a:buFont typeface="Calibri"/>
              <a:buNone/>
            </a:pPr>
            <a:r>
              <a:rPr lang="en-US" sz="1000">
                <a:solidFill>
                  <a:srgbClr val="8EACC4"/>
                </a:solidFill>
                <a:latin typeface="Calibri"/>
                <a:ea typeface="Calibri"/>
                <a:cs typeface="Calibri"/>
                <a:sym typeface="Calibri"/>
              </a:rPr>
              <a:t>~</a:t>
            </a:r>
            <a:r>
              <a:rPr lang="en-US" sz="1000">
                <a:solidFill>
                  <a:srgbClr val="8EACC4"/>
                </a:solidFill>
                <a:latin typeface="Calibri"/>
                <a:ea typeface="Calibri"/>
                <a:cs typeface="Calibri"/>
                <a:sym typeface="Calibri"/>
              </a:rPr>
              <a:t>24% gain</a:t>
            </a:r>
            <a:endParaRPr sz="1000">
              <a:solidFill>
                <a:schemeClr val="dk1"/>
              </a:solidFill>
              <a:latin typeface="Calibri"/>
              <a:ea typeface="Calibri"/>
              <a:cs typeface="Calibri"/>
              <a:sym typeface="Calibri"/>
            </a:endParaRPr>
          </a:p>
        </p:txBody>
      </p:sp>
      <p:sp>
        <p:nvSpPr>
          <p:cNvPr id="29" name="Google Shape;29;p1"/>
          <p:cNvSpPr/>
          <p:nvPr/>
        </p:nvSpPr>
        <p:spPr>
          <a:xfrm>
            <a:off x="6583680" y="3557016"/>
            <a:ext cx="2331720" cy="1143000"/>
          </a:xfrm>
          <a:prstGeom prst="rect">
            <a:avLst/>
          </a:prstGeom>
          <a:solidFill>
            <a:srgbClr val="0D2137"/>
          </a:solidFill>
          <a:ln cap="flat" cmpd="sng" w="19050">
            <a:solidFill>
              <a:srgbClr val="00B4D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 name="Google Shape;30;p1"/>
          <p:cNvSpPr/>
          <p:nvPr/>
        </p:nvSpPr>
        <p:spPr>
          <a:xfrm>
            <a:off x="6583680" y="3602736"/>
            <a:ext cx="2331720" cy="62179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F5D4"/>
              </a:buClr>
              <a:buSzPts val="3200"/>
              <a:buFont typeface="Calibri"/>
              <a:buNone/>
            </a:pPr>
            <a:r>
              <a:rPr b="1" lang="en-US" sz="3200">
                <a:solidFill>
                  <a:srgbClr val="00F5D4"/>
                </a:solidFill>
                <a:latin typeface="Calibri"/>
                <a:ea typeface="Calibri"/>
                <a:cs typeface="Calibri"/>
                <a:sym typeface="Calibri"/>
              </a:rPr>
              <a:t>31.97</a:t>
            </a:r>
            <a:endParaRPr sz="3200">
              <a:solidFill>
                <a:schemeClr val="dk1"/>
              </a:solidFill>
              <a:latin typeface="Calibri"/>
              <a:ea typeface="Calibri"/>
              <a:cs typeface="Calibri"/>
              <a:sym typeface="Calibri"/>
            </a:endParaRPr>
          </a:p>
        </p:txBody>
      </p:sp>
      <p:sp>
        <p:nvSpPr>
          <p:cNvPr id="31" name="Google Shape;31;p1"/>
          <p:cNvSpPr/>
          <p:nvPr/>
        </p:nvSpPr>
        <p:spPr>
          <a:xfrm>
            <a:off x="6583680" y="4197096"/>
            <a:ext cx="2331720" cy="25603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Calibri"/>
              <a:buNone/>
            </a:pPr>
            <a:r>
              <a:rPr b="1" lang="en-US" sz="1100">
                <a:solidFill>
                  <a:srgbClr val="FFFFFF"/>
                </a:solidFill>
                <a:latin typeface="Calibri"/>
                <a:ea typeface="Calibri"/>
                <a:cs typeface="Calibri"/>
                <a:sym typeface="Calibri"/>
              </a:rPr>
              <a:t>Budget Used</a:t>
            </a:r>
            <a:endParaRPr sz="1100">
              <a:solidFill>
                <a:schemeClr val="dk1"/>
              </a:solidFill>
              <a:latin typeface="Calibri"/>
              <a:ea typeface="Calibri"/>
              <a:cs typeface="Calibri"/>
              <a:sym typeface="Calibri"/>
            </a:endParaRPr>
          </a:p>
        </p:txBody>
      </p:sp>
      <p:sp>
        <p:nvSpPr>
          <p:cNvPr id="32" name="Google Shape;32;p1"/>
          <p:cNvSpPr/>
          <p:nvPr/>
        </p:nvSpPr>
        <p:spPr>
          <a:xfrm>
            <a:off x="6583680" y="4434840"/>
            <a:ext cx="2331720" cy="21945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8EACC4"/>
              </a:buClr>
              <a:buSzPts val="1000"/>
              <a:buFont typeface="Calibri"/>
              <a:buNone/>
            </a:pPr>
            <a:r>
              <a:rPr lang="en-US" sz="1000">
                <a:solidFill>
                  <a:srgbClr val="8EACC4"/>
                </a:solidFill>
                <a:latin typeface="Calibri"/>
                <a:ea typeface="Calibri"/>
                <a:cs typeface="Calibri"/>
                <a:sym typeface="Calibri"/>
              </a:rPr>
              <a:t>KB / 32 KB</a:t>
            </a:r>
            <a:endParaRPr sz="100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628"/>
        </a:solidFill>
      </p:bgPr>
    </p:bg>
    <p:spTree>
      <p:nvGrpSpPr>
        <p:cNvPr id="37" name="Shape 37"/>
        <p:cNvGrpSpPr/>
        <p:nvPr/>
      </p:nvGrpSpPr>
      <p:grpSpPr>
        <a:xfrm>
          <a:off x="0" y="0"/>
          <a:ext cx="0" cy="0"/>
          <a:chOff x="0" y="0"/>
          <a:chExt cx="0" cy="0"/>
        </a:xfrm>
      </p:grpSpPr>
      <p:sp>
        <p:nvSpPr>
          <p:cNvPr id="38" name="Google Shape;38;p2"/>
          <p:cNvSpPr/>
          <p:nvPr/>
        </p:nvSpPr>
        <p:spPr>
          <a:xfrm>
            <a:off x="0" y="0"/>
            <a:ext cx="9144000" cy="502920"/>
          </a:xfrm>
          <a:prstGeom prst="rect">
            <a:avLst/>
          </a:prstGeom>
          <a:solidFill>
            <a:srgbClr val="0D2137"/>
          </a:solidFill>
          <a:ln cap="flat" cmpd="sng" w="12700">
            <a:solidFill>
              <a:srgbClr val="0D2137"/>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 name="Google Shape;39;p2"/>
          <p:cNvSpPr/>
          <p:nvPr/>
        </p:nvSpPr>
        <p:spPr>
          <a:xfrm>
            <a:off x="365760" y="68589"/>
            <a:ext cx="82296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200"/>
              <a:buFont typeface="Calibri"/>
              <a:buNone/>
            </a:pPr>
            <a:r>
              <a:rPr b="1" lang="en-US" sz="2200">
                <a:solidFill>
                  <a:srgbClr val="FFFFFF"/>
                </a:solidFill>
                <a:latin typeface="Calibri"/>
                <a:ea typeface="Calibri"/>
                <a:cs typeface="Calibri"/>
                <a:sym typeface="Calibri"/>
              </a:rPr>
              <a:t>Architecture Overview</a:t>
            </a:r>
            <a:endParaRPr sz="2200">
              <a:solidFill>
                <a:schemeClr val="dk1"/>
              </a:solidFill>
              <a:latin typeface="Calibri"/>
              <a:ea typeface="Calibri"/>
              <a:cs typeface="Calibri"/>
              <a:sym typeface="Calibri"/>
            </a:endParaRPr>
          </a:p>
        </p:txBody>
      </p:sp>
      <p:sp>
        <p:nvSpPr>
          <p:cNvPr id="40" name="Google Shape;40;p2"/>
          <p:cNvSpPr/>
          <p:nvPr/>
        </p:nvSpPr>
        <p:spPr>
          <a:xfrm>
            <a:off x="274320" y="658368"/>
            <a:ext cx="3931920" cy="4297680"/>
          </a:xfrm>
          <a:prstGeom prst="rect">
            <a:avLst/>
          </a:prstGeom>
          <a:solidFill>
            <a:srgbClr val="0D4F8B"/>
          </a:solidFill>
          <a:ln cap="flat" cmpd="sng" w="19050">
            <a:solidFill>
              <a:srgbClr val="00B4D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 name="Google Shape;41;p2"/>
          <p:cNvSpPr/>
          <p:nvPr/>
        </p:nvSpPr>
        <p:spPr>
          <a:xfrm>
            <a:off x="274320" y="658368"/>
            <a:ext cx="3931920" cy="411480"/>
          </a:xfrm>
          <a:prstGeom prst="rect">
            <a:avLst/>
          </a:prstGeom>
          <a:solidFill>
            <a:srgbClr val="00B4D8"/>
          </a:solidFill>
          <a:ln cap="flat" cmpd="sng" w="12700">
            <a:solidFill>
              <a:srgbClr val="00B4D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 name="Google Shape;42;p2"/>
          <p:cNvSpPr/>
          <p:nvPr/>
        </p:nvSpPr>
        <p:spPr>
          <a:xfrm>
            <a:off x="365760" y="676656"/>
            <a:ext cx="374904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A1628"/>
              </a:buClr>
              <a:buSzPts val="1400"/>
              <a:buFont typeface="Calibri"/>
              <a:buNone/>
            </a:pPr>
            <a:r>
              <a:rPr b="1" lang="en-US" sz="1400">
                <a:solidFill>
                  <a:srgbClr val="0A1628"/>
                </a:solidFill>
                <a:latin typeface="Calibri"/>
                <a:ea typeface="Calibri"/>
                <a:cs typeface="Calibri"/>
                <a:sym typeface="Calibri"/>
              </a:rPr>
              <a:t>Stride Value Predictor  (SVP)</a:t>
            </a:r>
            <a:endParaRPr sz="1400">
              <a:solidFill>
                <a:schemeClr val="dk1"/>
              </a:solidFill>
              <a:latin typeface="Calibri"/>
              <a:ea typeface="Calibri"/>
              <a:cs typeface="Calibri"/>
              <a:sym typeface="Calibri"/>
            </a:endParaRPr>
          </a:p>
        </p:txBody>
      </p:sp>
      <p:sp>
        <p:nvSpPr>
          <p:cNvPr id="43" name="Google Shape;43;p2"/>
          <p:cNvSpPr/>
          <p:nvPr/>
        </p:nvSpPr>
        <p:spPr>
          <a:xfrm>
            <a:off x="411480" y="1143000"/>
            <a:ext cx="374904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D166"/>
              </a:buClr>
              <a:buSzPts val="1200"/>
              <a:buFont typeface="Calibri"/>
              <a:buNone/>
            </a:pPr>
            <a:r>
              <a:rPr b="1" lang="en-US" sz="1200">
                <a:solidFill>
                  <a:srgbClr val="FFD166"/>
                </a:solidFill>
                <a:latin typeface="Calibri"/>
                <a:ea typeface="Calibri"/>
                <a:cs typeface="Calibri"/>
                <a:sym typeface="Calibri"/>
              </a:rPr>
              <a:t>Role: Base Predictor</a:t>
            </a:r>
            <a:endParaRPr sz="1200">
              <a:solidFill>
                <a:schemeClr val="dk1"/>
              </a:solidFill>
              <a:latin typeface="Calibri"/>
              <a:ea typeface="Calibri"/>
              <a:cs typeface="Calibri"/>
              <a:sym typeface="Calibri"/>
            </a:endParaRPr>
          </a:p>
        </p:txBody>
      </p:sp>
      <p:sp>
        <p:nvSpPr>
          <p:cNvPr id="44" name="Google Shape;44;p2"/>
          <p:cNvSpPr/>
          <p:nvPr/>
        </p:nvSpPr>
        <p:spPr>
          <a:xfrm>
            <a:off x="411480" y="1417320"/>
            <a:ext cx="3749040" cy="22402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8F4FD"/>
              </a:buClr>
              <a:buSzPts val="1100"/>
              <a:buFont typeface="Calibri"/>
              <a:buNone/>
            </a:pPr>
            <a:r>
              <a:rPr lang="en-US" sz="1100">
                <a:solidFill>
                  <a:srgbClr val="E8F4FD"/>
                </a:solidFill>
                <a:latin typeface="Calibri"/>
                <a:ea typeface="Calibri"/>
                <a:cs typeface="Calibri"/>
                <a:sym typeface="Calibri"/>
              </a:rPr>
              <a:t>The SVP is the mathematical backbone of the predictor. It is indexed by PC. It tracks the stride between consecutive values produced by each instruction and predicts the next value as:</a:t>
            </a:r>
            <a:endParaRPr sz="11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100"/>
              <a:buFont typeface="Calibri"/>
              <a:buNone/>
            </a:pPr>
            <a:r>
              <a:t/>
            </a:r>
            <a:endParaRPr sz="1100">
              <a:solidFill>
                <a:schemeClr val="dk1"/>
              </a:solidFill>
              <a:latin typeface="Calibri"/>
              <a:ea typeface="Calibri"/>
              <a:cs typeface="Calibri"/>
              <a:sym typeface="Calibri"/>
            </a:endParaRPr>
          </a:p>
          <a:p>
            <a:pPr indent="0" lvl="0" marL="0" marR="0" rtl="0" algn="l">
              <a:spcBef>
                <a:spcPts val="0"/>
              </a:spcBef>
              <a:spcAft>
                <a:spcPts val="0"/>
              </a:spcAft>
              <a:buClr>
                <a:srgbClr val="E8F4FD"/>
              </a:buClr>
              <a:buSzPts val="1100"/>
              <a:buFont typeface="Calibri"/>
              <a:buNone/>
            </a:pPr>
            <a:r>
              <a:rPr lang="en-US" sz="1100">
                <a:solidFill>
                  <a:srgbClr val="E8F4FD"/>
                </a:solidFill>
                <a:latin typeface="Calibri"/>
                <a:ea typeface="Calibri"/>
                <a:cs typeface="Calibri"/>
                <a:sym typeface="Calibri"/>
              </a:rPr>
              <a:t>next = retired_value + (in-flight count × stride)</a:t>
            </a:r>
            <a:endParaRPr sz="11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100"/>
              <a:buFont typeface="Calibri"/>
              <a:buNone/>
            </a:pPr>
            <a:r>
              <a:t/>
            </a:r>
            <a:endParaRPr sz="1100">
              <a:solidFill>
                <a:schemeClr val="dk1"/>
              </a:solidFill>
              <a:latin typeface="Calibri"/>
              <a:ea typeface="Calibri"/>
              <a:cs typeface="Calibri"/>
              <a:sym typeface="Calibri"/>
            </a:endParaRPr>
          </a:p>
          <a:p>
            <a:pPr indent="0" lvl="0" marL="0" marR="0" rtl="0" algn="l">
              <a:spcBef>
                <a:spcPts val="0"/>
              </a:spcBef>
              <a:spcAft>
                <a:spcPts val="0"/>
              </a:spcAft>
              <a:buClr>
                <a:srgbClr val="E8F4FD"/>
              </a:buClr>
              <a:buSzPts val="1100"/>
              <a:buFont typeface="Calibri"/>
              <a:buNone/>
            </a:pPr>
            <a:r>
              <a:rPr lang="en-US" sz="1100">
                <a:solidFill>
                  <a:srgbClr val="E8F4FD"/>
                </a:solidFill>
                <a:latin typeface="Calibri"/>
                <a:ea typeface="Calibri"/>
                <a:cs typeface="Calibri"/>
                <a:sym typeface="Calibri"/>
              </a:rPr>
              <a:t>It excels on simple, predictable patterns: loop counters, constants, and sequential memory accesses. When an instruction's stride is consistent for many consecutive occurrences, SVP reaches maximum confidence and can fire with very high accuracy.</a:t>
            </a:r>
            <a:endParaRPr sz="1100">
              <a:solidFill>
                <a:schemeClr val="dk1"/>
              </a:solidFill>
              <a:latin typeface="Calibri"/>
              <a:ea typeface="Calibri"/>
              <a:cs typeface="Calibri"/>
              <a:sym typeface="Calibri"/>
            </a:endParaRPr>
          </a:p>
        </p:txBody>
      </p:sp>
      <p:sp>
        <p:nvSpPr>
          <p:cNvPr id="45" name="Google Shape;45;p2"/>
          <p:cNvSpPr/>
          <p:nvPr/>
        </p:nvSpPr>
        <p:spPr>
          <a:xfrm>
            <a:off x="411480" y="3703320"/>
            <a:ext cx="9144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B4D8"/>
              </a:buClr>
              <a:buSzPts val="1100"/>
              <a:buFont typeface="Calibri"/>
              <a:buNone/>
            </a:pPr>
            <a:r>
              <a:rPr b="1" lang="en-US" sz="1100">
                <a:solidFill>
                  <a:srgbClr val="00B4D8"/>
                </a:solidFill>
                <a:latin typeface="Calibri"/>
                <a:ea typeface="Calibri"/>
                <a:cs typeface="Calibri"/>
                <a:sym typeface="Calibri"/>
              </a:rPr>
              <a:t>Best for:</a:t>
            </a:r>
            <a:endParaRPr sz="1100">
              <a:solidFill>
                <a:schemeClr val="dk1"/>
              </a:solidFill>
              <a:latin typeface="Calibri"/>
              <a:ea typeface="Calibri"/>
              <a:cs typeface="Calibri"/>
              <a:sym typeface="Calibri"/>
            </a:endParaRPr>
          </a:p>
        </p:txBody>
      </p:sp>
      <p:sp>
        <p:nvSpPr>
          <p:cNvPr id="46" name="Google Shape;46;p2"/>
          <p:cNvSpPr/>
          <p:nvPr/>
        </p:nvSpPr>
        <p:spPr>
          <a:xfrm>
            <a:off x="1325880" y="3703320"/>
            <a:ext cx="27432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D0E4F0"/>
              </a:buClr>
              <a:buSzPts val="1100"/>
              <a:buFont typeface="Calibri"/>
              <a:buNone/>
            </a:pPr>
            <a:r>
              <a:rPr lang="en-US" sz="1100">
                <a:solidFill>
                  <a:srgbClr val="D0E4F0"/>
                </a:solidFill>
                <a:latin typeface="Calibri"/>
                <a:ea typeface="Calibri"/>
                <a:cs typeface="Calibri"/>
                <a:sym typeface="Calibri"/>
              </a:rPr>
              <a:t>Loop counters  ·  Constants  ·  Stride memory</a:t>
            </a:r>
            <a:endParaRPr sz="1100">
              <a:solidFill>
                <a:schemeClr val="dk1"/>
              </a:solidFill>
              <a:latin typeface="Calibri"/>
              <a:ea typeface="Calibri"/>
              <a:cs typeface="Calibri"/>
              <a:sym typeface="Calibri"/>
            </a:endParaRPr>
          </a:p>
        </p:txBody>
      </p:sp>
      <p:sp>
        <p:nvSpPr>
          <p:cNvPr id="47" name="Google Shape;47;p2"/>
          <p:cNvSpPr/>
          <p:nvPr/>
        </p:nvSpPr>
        <p:spPr>
          <a:xfrm>
            <a:off x="411480" y="3977640"/>
            <a:ext cx="100584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6B35"/>
              </a:buClr>
              <a:buSzPts val="1100"/>
              <a:buFont typeface="Calibri"/>
              <a:buNone/>
            </a:pPr>
            <a:r>
              <a:rPr b="1" lang="en-US" sz="1100">
                <a:solidFill>
                  <a:srgbClr val="FF6B35"/>
                </a:solidFill>
                <a:latin typeface="Calibri"/>
                <a:ea typeface="Calibri"/>
                <a:cs typeface="Calibri"/>
                <a:sym typeface="Calibri"/>
              </a:rPr>
              <a:t>Limitation:</a:t>
            </a:r>
            <a:endParaRPr sz="1100">
              <a:solidFill>
                <a:schemeClr val="dk1"/>
              </a:solidFill>
              <a:latin typeface="Calibri"/>
              <a:ea typeface="Calibri"/>
              <a:cs typeface="Calibri"/>
              <a:sym typeface="Calibri"/>
            </a:endParaRPr>
          </a:p>
        </p:txBody>
      </p:sp>
      <p:sp>
        <p:nvSpPr>
          <p:cNvPr id="48" name="Google Shape;48;p2"/>
          <p:cNvSpPr/>
          <p:nvPr/>
        </p:nvSpPr>
        <p:spPr>
          <a:xfrm>
            <a:off x="1417320" y="3977640"/>
            <a:ext cx="269748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D0E4F0"/>
              </a:buClr>
              <a:buSzPts val="1100"/>
              <a:buFont typeface="Calibri"/>
              <a:buNone/>
            </a:pPr>
            <a:r>
              <a:rPr lang="en-US" sz="1100">
                <a:solidFill>
                  <a:srgbClr val="D0E4F0"/>
                </a:solidFill>
                <a:latin typeface="Calibri"/>
                <a:ea typeface="Calibri"/>
                <a:cs typeface="Calibri"/>
                <a:sym typeface="Calibri"/>
              </a:rPr>
              <a:t>Cannot capture irregular, context-dependent patterns</a:t>
            </a:r>
            <a:endParaRPr sz="1100">
              <a:solidFill>
                <a:schemeClr val="dk1"/>
              </a:solidFill>
              <a:latin typeface="Calibri"/>
              <a:ea typeface="Calibri"/>
              <a:cs typeface="Calibri"/>
              <a:sym typeface="Calibri"/>
            </a:endParaRPr>
          </a:p>
        </p:txBody>
      </p:sp>
      <p:sp>
        <p:nvSpPr>
          <p:cNvPr id="49" name="Google Shape;49;p2"/>
          <p:cNvSpPr/>
          <p:nvPr/>
        </p:nvSpPr>
        <p:spPr>
          <a:xfrm>
            <a:off x="4572000" y="658368"/>
            <a:ext cx="4297680" cy="4297680"/>
          </a:xfrm>
          <a:prstGeom prst="rect">
            <a:avLst/>
          </a:prstGeom>
          <a:solidFill>
            <a:srgbClr val="0D2E1A"/>
          </a:solidFill>
          <a:ln cap="flat" cmpd="sng" w="19050">
            <a:solidFill>
              <a:srgbClr val="06D6A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 name="Google Shape;50;p2"/>
          <p:cNvSpPr/>
          <p:nvPr/>
        </p:nvSpPr>
        <p:spPr>
          <a:xfrm>
            <a:off x="4572000" y="658368"/>
            <a:ext cx="4297680" cy="411480"/>
          </a:xfrm>
          <a:prstGeom prst="rect">
            <a:avLst/>
          </a:prstGeom>
          <a:solidFill>
            <a:srgbClr val="06D6A0"/>
          </a:solidFill>
          <a:ln cap="flat" cmpd="sng" w="12700">
            <a:solidFill>
              <a:srgbClr val="06D6A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 name="Google Shape;51;p2"/>
          <p:cNvSpPr/>
          <p:nvPr/>
        </p:nvSpPr>
        <p:spPr>
          <a:xfrm>
            <a:off x="4663440" y="676656"/>
            <a:ext cx="411480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A1628"/>
              </a:buClr>
              <a:buSzPts val="1400"/>
              <a:buFont typeface="Calibri"/>
              <a:buNone/>
            </a:pPr>
            <a:r>
              <a:rPr b="1" lang="en-US" sz="1400">
                <a:solidFill>
                  <a:srgbClr val="0A1628"/>
                </a:solidFill>
                <a:latin typeface="Calibri"/>
                <a:ea typeface="Calibri"/>
                <a:cs typeface="Calibri"/>
                <a:sym typeface="Calibri"/>
              </a:rPr>
              <a:t>VTAGE — Tagged History Predictor</a:t>
            </a:r>
            <a:endParaRPr sz="1400">
              <a:solidFill>
                <a:schemeClr val="dk1"/>
              </a:solidFill>
              <a:latin typeface="Calibri"/>
              <a:ea typeface="Calibri"/>
              <a:cs typeface="Calibri"/>
              <a:sym typeface="Calibri"/>
            </a:endParaRPr>
          </a:p>
        </p:txBody>
      </p:sp>
      <p:sp>
        <p:nvSpPr>
          <p:cNvPr id="52" name="Google Shape;52;p2"/>
          <p:cNvSpPr/>
          <p:nvPr/>
        </p:nvSpPr>
        <p:spPr>
          <a:xfrm>
            <a:off x="4663440" y="1143000"/>
            <a:ext cx="402336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D166"/>
              </a:buClr>
              <a:buSzPts val="1200"/>
              <a:buFont typeface="Calibri"/>
              <a:buNone/>
            </a:pPr>
            <a:r>
              <a:rPr b="1" lang="en-US" sz="1200">
                <a:solidFill>
                  <a:srgbClr val="FFD166"/>
                </a:solidFill>
                <a:latin typeface="Calibri"/>
                <a:ea typeface="Calibri"/>
                <a:cs typeface="Calibri"/>
                <a:sym typeface="Calibri"/>
              </a:rPr>
              <a:t>Role: Context-Aware Overlay</a:t>
            </a:r>
            <a:endParaRPr sz="1200">
              <a:solidFill>
                <a:schemeClr val="dk1"/>
              </a:solidFill>
              <a:latin typeface="Calibri"/>
              <a:ea typeface="Calibri"/>
              <a:cs typeface="Calibri"/>
              <a:sym typeface="Calibri"/>
            </a:endParaRPr>
          </a:p>
        </p:txBody>
      </p:sp>
      <p:sp>
        <p:nvSpPr>
          <p:cNvPr id="53" name="Google Shape;53;p2"/>
          <p:cNvSpPr/>
          <p:nvPr/>
        </p:nvSpPr>
        <p:spPr>
          <a:xfrm>
            <a:off x="4663440" y="1417320"/>
            <a:ext cx="4069080" cy="22402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8F4FD"/>
              </a:buClr>
              <a:buSzPts val="1100"/>
              <a:buFont typeface="Calibri"/>
              <a:buNone/>
            </a:pPr>
            <a:r>
              <a:rPr lang="en-US" sz="1100">
                <a:solidFill>
                  <a:srgbClr val="E8F4FD"/>
                </a:solidFill>
                <a:latin typeface="Calibri"/>
                <a:ea typeface="Calibri"/>
                <a:cs typeface="Calibri"/>
                <a:sym typeface="Calibri"/>
              </a:rPr>
              <a:t>VTAGE is a tagged, multi-table predictor indexed by the global branch history. It maintains multiple tables with geometrically increasing history lengths, so short loops, medium function calls, and long execution paths each get a dedicated context window.</a:t>
            </a:r>
            <a:endParaRPr sz="11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100"/>
              <a:buFont typeface="Calibri"/>
              <a:buNone/>
            </a:pPr>
            <a:r>
              <a:t/>
            </a:r>
            <a:endParaRPr sz="1100">
              <a:solidFill>
                <a:schemeClr val="dk1"/>
              </a:solidFill>
              <a:latin typeface="Calibri"/>
              <a:ea typeface="Calibri"/>
              <a:cs typeface="Calibri"/>
              <a:sym typeface="Calibri"/>
            </a:endParaRPr>
          </a:p>
          <a:p>
            <a:pPr indent="0" lvl="0" marL="0" marR="0" rtl="0" algn="l">
              <a:spcBef>
                <a:spcPts val="0"/>
              </a:spcBef>
              <a:spcAft>
                <a:spcPts val="0"/>
              </a:spcAft>
              <a:buClr>
                <a:srgbClr val="E8F4FD"/>
              </a:buClr>
              <a:buSzPts val="1100"/>
              <a:buFont typeface="Calibri"/>
              <a:buNone/>
            </a:pPr>
            <a:r>
              <a:rPr lang="en-US" sz="1100">
                <a:solidFill>
                  <a:srgbClr val="E8F4FD"/>
                </a:solidFill>
                <a:latin typeface="Calibri"/>
                <a:ea typeface="Calibri"/>
                <a:cs typeface="Calibri"/>
                <a:sym typeface="Calibri"/>
              </a:rPr>
              <a:t>Each entry stores a predicted value, a confidence counter, and a usefulness bit. An entry only fires when it has proven itself through many consecutive correct predictions. This serves as a high confidence bar that filters noise.</a:t>
            </a:r>
            <a:endParaRPr sz="1100">
              <a:solidFill>
                <a:schemeClr val="dk1"/>
              </a:solidFill>
              <a:latin typeface="Calibri"/>
              <a:ea typeface="Calibri"/>
              <a:cs typeface="Calibri"/>
              <a:sym typeface="Calibri"/>
            </a:endParaRPr>
          </a:p>
        </p:txBody>
      </p:sp>
      <p:sp>
        <p:nvSpPr>
          <p:cNvPr id="54" name="Google Shape;54;p2"/>
          <p:cNvSpPr/>
          <p:nvPr/>
        </p:nvSpPr>
        <p:spPr>
          <a:xfrm>
            <a:off x="4663440" y="3703320"/>
            <a:ext cx="82296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6D6A0"/>
              </a:buClr>
              <a:buSzPts val="1100"/>
              <a:buFont typeface="Calibri"/>
              <a:buNone/>
            </a:pPr>
            <a:r>
              <a:rPr b="1" lang="en-US" sz="1100">
                <a:solidFill>
                  <a:srgbClr val="06D6A0"/>
                </a:solidFill>
                <a:latin typeface="Calibri"/>
                <a:ea typeface="Calibri"/>
                <a:cs typeface="Calibri"/>
                <a:sym typeface="Calibri"/>
              </a:rPr>
              <a:t>Best for:</a:t>
            </a:r>
            <a:endParaRPr sz="1100">
              <a:solidFill>
                <a:schemeClr val="dk1"/>
              </a:solidFill>
              <a:latin typeface="Calibri"/>
              <a:ea typeface="Calibri"/>
              <a:cs typeface="Calibri"/>
              <a:sym typeface="Calibri"/>
            </a:endParaRPr>
          </a:p>
        </p:txBody>
      </p:sp>
      <p:sp>
        <p:nvSpPr>
          <p:cNvPr id="55" name="Google Shape;55;p2"/>
          <p:cNvSpPr/>
          <p:nvPr/>
        </p:nvSpPr>
        <p:spPr>
          <a:xfrm>
            <a:off x="5486400" y="3703320"/>
            <a:ext cx="329184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D0E4F0"/>
              </a:buClr>
              <a:buSzPts val="1100"/>
              <a:buFont typeface="Calibri"/>
              <a:buNone/>
            </a:pPr>
            <a:r>
              <a:rPr lang="en-US" sz="1100">
                <a:solidFill>
                  <a:srgbClr val="D0E4F0"/>
                </a:solidFill>
                <a:latin typeface="Calibri"/>
                <a:ea typeface="Calibri"/>
                <a:cs typeface="Calibri"/>
                <a:sym typeface="Calibri"/>
              </a:rPr>
              <a:t>Complex control flow  ·  Irregular value sequences</a:t>
            </a:r>
            <a:endParaRPr sz="1100">
              <a:solidFill>
                <a:schemeClr val="dk1"/>
              </a:solidFill>
              <a:latin typeface="Calibri"/>
              <a:ea typeface="Calibri"/>
              <a:cs typeface="Calibri"/>
              <a:sym typeface="Calibri"/>
            </a:endParaRPr>
          </a:p>
        </p:txBody>
      </p:sp>
      <p:sp>
        <p:nvSpPr>
          <p:cNvPr id="56" name="Google Shape;56;p2"/>
          <p:cNvSpPr/>
          <p:nvPr/>
        </p:nvSpPr>
        <p:spPr>
          <a:xfrm>
            <a:off x="4663440" y="3977640"/>
            <a:ext cx="100584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6B35"/>
              </a:buClr>
              <a:buSzPts val="1100"/>
              <a:buFont typeface="Calibri"/>
              <a:buNone/>
            </a:pPr>
            <a:r>
              <a:rPr b="1" lang="en-US" sz="1100">
                <a:solidFill>
                  <a:srgbClr val="FF6B35"/>
                </a:solidFill>
                <a:latin typeface="Calibri"/>
                <a:ea typeface="Calibri"/>
                <a:cs typeface="Calibri"/>
                <a:sym typeface="Calibri"/>
              </a:rPr>
              <a:t>Limitation:</a:t>
            </a:r>
            <a:endParaRPr sz="1100">
              <a:solidFill>
                <a:schemeClr val="dk1"/>
              </a:solidFill>
              <a:latin typeface="Calibri"/>
              <a:ea typeface="Calibri"/>
              <a:cs typeface="Calibri"/>
              <a:sym typeface="Calibri"/>
            </a:endParaRPr>
          </a:p>
        </p:txBody>
      </p:sp>
      <p:sp>
        <p:nvSpPr>
          <p:cNvPr id="57" name="Google Shape;57;p2"/>
          <p:cNvSpPr/>
          <p:nvPr/>
        </p:nvSpPr>
        <p:spPr>
          <a:xfrm>
            <a:off x="5669280" y="3977640"/>
            <a:ext cx="310896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D0E4F0"/>
              </a:buClr>
              <a:buSzPts val="1100"/>
              <a:buFont typeface="Calibri"/>
              <a:buNone/>
            </a:pPr>
            <a:r>
              <a:rPr lang="en-US" sz="1100">
                <a:solidFill>
                  <a:srgbClr val="D0E4F0"/>
                </a:solidFill>
                <a:latin typeface="Calibri"/>
                <a:ea typeface="Calibri"/>
                <a:cs typeface="Calibri"/>
                <a:sym typeface="Calibri"/>
              </a:rPr>
              <a:t>Needs many correct observations to build confidence</a:t>
            </a:r>
            <a:endParaRPr sz="1100">
              <a:solidFill>
                <a:schemeClr val="dk1"/>
              </a:solidFill>
              <a:latin typeface="Calibri"/>
              <a:ea typeface="Calibri"/>
              <a:cs typeface="Calibri"/>
              <a:sym typeface="Calibri"/>
            </a:endParaRPr>
          </a:p>
        </p:txBody>
      </p:sp>
      <p:sp>
        <p:nvSpPr>
          <p:cNvPr id="58" name="Google Shape;58;p2"/>
          <p:cNvSpPr/>
          <p:nvPr/>
        </p:nvSpPr>
        <p:spPr>
          <a:xfrm>
            <a:off x="4206240" y="2468880"/>
            <a:ext cx="365760" cy="109728"/>
          </a:xfrm>
          <a:prstGeom prst="rect">
            <a:avLst/>
          </a:prstGeom>
          <a:solidFill>
            <a:srgbClr val="FFD166"/>
          </a:solidFill>
          <a:ln cap="flat" cmpd="sng" w="12700">
            <a:solidFill>
              <a:srgbClr val="FFD16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 name="Google Shape;59;p2"/>
          <p:cNvSpPr/>
          <p:nvPr/>
        </p:nvSpPr>
        <p:spPr>
          <a:xfrm>
            <a:off x="4160520" y="2194560"/>
            <a:ext cx="457200" cy="25603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D166"/>
              </a:buClr>
              <a:buSzPts val="900"/>
              <a:buFont typeface="Calibri"/>
              <a:buNone/>
            </a:pPr>
            <a:r>
              <a:rPr b="1" lang="en-US" sz="900">
                <a:solidFill>
                  <a:srgbClr val="FFD166"/>
                </a:solidFill>
                <a:latin typeface="Calibri"/>
                <a:ea typeface="Calibri"/>
                <a:cs typeface="Calibri"/>
                <a:sym typeface="Calibri"/>
              </a:rPr>
              <a:t>VPQ</a:t>
            </a:r>
            <a:endParaRPr sz="900">
              <a:solidFill>
                <a:schemeClr val="dk1"/>
              </a:solidFill>
              <a:latin typeface="Calibri"/>
              <a:ea typeface="Calibri"/>
              <a:cs typeface="Calibri"/>
              <a:sym typeface="Calibri"/>
            </a:endParaRPr>
          </a:p>
        </p:txBody>
      </p:sp>
      <p:sp>
        <p:nvSpPr>
          <p:cNvPr id="60" name="Google Shape;60;p2"/>
          <p:cNvSpPr/>
          <p:nvPr/>
        </p:nvSpPr>
        <p:spPr>
          <a:xfrm>
            <a:off x="365760" y="502920"/>
            <a:ext cx="2286000" cy="36600"/>
          </a:xfrm>
          <a:prstGeom prst="rect">
            <a:avLst/>
          </a:prstGeom>
          <a:solidFill>
            <a:srgbClr val="00B4D8"/>
          </a:solidFill>
          <a:ln cap="flat" cmpd="sng" w="12700">
            <a:solidFill>
              <a:srgbClr val="00B4D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628"/>
        </a:solidFill>
      </p:bgPr>
    </p:bg>
    <p:spTree>
      <p:nvGrpSpPr>
        <p:cNvPr id="65" name="Shape 65"/>
        <p:cNvGrpSpPr/>
        <p:nvPr/>
      </p:nvGrpSpPr>
      <p:grpSpPr>
        <a:xfrm>
          <a:off x="0" y="0"/>
          <a:ext cx="0" cy="0"/>
          <a:chOff x="0" y="0"/>
          <a:chExt cx="0" cy="0"/>
        </a:xfrm>
      </p:grpSpPr>
      <p:sp>
        <p:nvSpPr>
          <p:cNvPr id="66" name="Google Shape;66;g3e6275e1d8a_16_7"/>
          <p:cNvSpPr/>
          <p:nvPr/>
        </p:nvSpPr>
        <p:spPr>
          <a:xfrm>
            <a:off x="0" y="0"/>
            <a:ext cx="9144000" cy="502800"/>
          </a:xfrm>
          <a:prstGeom prst="rect">
            <a:avLst/>
          </a:prstGeom>
          <a:solidFill>
            <a:srgbClr val="0D2137"/>
          </a:solidFill>
          <a:ln cap="flat" cmpd="sng" w="12700">
            <a:solidFill>
              <a:srgbClr val="0D2137"/>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 name="Google Shape;67;g3e6275e1d8a_16_7"/>
          <p:cNvSpPr/>
          <p:nvPr/>
        </p:nvSpPr>
        <p:spPr>
          <a:xfrm>
            <a:off x="365760" y="68589"/>
            <a:ext cx="82296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200"/>
              <a:buFont typeface="Calibri"/>
              <a:buNone/>
            </a:pPr>
            <a:r>
              <a:rPr b="1" lang="en-US" sz="2200">
                <a:solidFill>
                  <a:srgbClr val="FFFFFF"/>
                </a:solidFill>
                <a:latin typeface="Calibri"/>
                <a:ea typeface="Calibri"/>
                <a:cs typeface="Calibri"/>
                <a:sym typeface="Calibri"/>
              </a:rPr>
              <a:t>Block Diagram Architecture </a:t>
            </a:r>
            <a:endParaRPr sz="2200">
              <a:solidFill>
                <a:schemeClr val="dk1"/>
              </a:solidFill>
              <a:latin typeface="Calibri"/>
              <a:ea typeface="Calibri"/>
              <a:cs typeface="Calibri"/>
              <a:sym typeface="Calibri"/>
            </a:endParaRPr>
          </a:p>
        </p:txBody>
      </p:sp>
      <p:sp>
        <p:nvSpPr>
          <p:cNvPr id="68" name="Google Shape;68;g3e6275e1d8a_16_7"/>
          <p:cNvSpPr/>
          <p:nvPr/>
        </p:nvSpPr>
        <p:spPr>
          <a:xfrm>
            <a:off x="365760" y="502920"/>
            <a:ext cx="2286000" cy="36600"/>
          </a:xfrm>
          <a:prstGeom prst="rect">
            <a:avLst/>
          </a:prstGeom>
          <a:solidFill>
            <a:srgbClr val="00B4D8"/>
          </a:solidFill>
          <a:ln cap="flat" cmpd="sng" w="12700">
            <a:solidFill>
              <a:srgbClr val="00B4D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69" name="Google Shape;69;g3e6275e1d8a_16_7"/>
          <p:cNvPicPr preferRelativeResize="0"/>
          <p:nvPr/>
        </p:nvPicPr>
        <p:blipFill>
          <a:blip r:embed="rId3">
            <a:alphaModFix/>
          </a:blip>
          <a:stretch>
            <a:fillRect/>
          </a:stretch>
        </p:blipFill>
        <p:spPr>
          <a:xfrm>
            <a:off x="152400" y="691920"/>
            <a:ext cx="8839200" cy="4090003"/>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628"/>
        </a:solidFill>
      </p:bgPr>
    </p:bg>
    <p:spTree>
      <p:nvGrpSpPr>
        <p:cNvPr id="72" name="Shape 72"/>
        <p:cNvGrpSpPr/>
        <p:nvPr/>
      </p:nvGrpSpPr>
      <p:grpSpPr>
        <a:xfrm>
          <a:off x="0" y="0"/>
          <a:ext cx="0" cy="0"/>
          <a:chOff x="0" y="0"/>
          <a:chExt cx="0" cy="0"/>
        </a:xfrm>
      </p:grpSpPr>
      <p:sp>
        <p:nvSpPr>
          <p:cNvPr id="73" name="Google Shape;73;g3e073069206_0_98"/>
          <p:cNvSpPr/>
          <p:nvPr/>
        </p:nvSpPr>
        <p:spPr>
          <a:xfrm>
            <a:off x="0" y="0"/>
            <a:ext cx="9144000" cy="504900"/>
          </a:xfrm>
          <a:prstGeom prst="rect">
            <a:avLst/>
          </a:prstGeom>
          <a:solidFill>
            <a:srgbClr val="0D213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4" name="Google Shape;74;g3e073069206_0_98"/>
          <p:cNvSpPr txBox="1"/>
          <p:nvPr/>
        </p:nvSpPr>
        <p:spPr>
          <a:xfrm>
            <a:off x="361950" y="66675"/>
            <a:ext cx="8229600" cy="3621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200">
                <a:solidFill>
                  <a:srgbClr val="FFFFFF"/>
                </a:solidFill>
                <a:latin typeface="Calibri"/>
                <a:ea typeface="Calibri"/>
                <a:cs typeface="Calibri"/>
                <a:sym typeface="Calibri"/>
              </a:rPr>
              <a:t>Predictor Lifecycle</a:t>
            </a:r>
            <a:r>
              <a:rPr b="1" lang="en-US" sz="2200">
                <a:solidFill>
                  <a:srgbClr val="FFFFFF"/>
                </a:solidFill>
                <a:latin typeface="Calibri"/>
                <a:ea typeface="Calibri"/>
                <a:cs typeface="Calibri"/>
                <a:sym typeface="Calibri"/>
              </a:rPr>
              <a:t>: Prediction &amp; Training Logic</a:t>
            </a:r>
            <a:endParaRPr b="1" sz="2200">
              <a:solidFill>
                <a:srgbClr val="FFFFFF"/>
              </a:solidFill>
              <a:latin typeface="Calibri"/>
              <a:ea typeface="Calibri"/>
              <a:cs typeface="Calibri"/>
              <a:sym typeface="Calibri"/>
            </a:endParaRPr>
          </a:p>
        </p:txBody>
      </p:sp>
      <p:grpSp>
        <p:nvGrpSpPr>
          <p:cNvPr id="75" name="Google Shape;75;g3e073069206_0_98"/>
          <p:cNvGrpSpPr/>
          <p:nvPr/>
        </p:nvGrpSpPr>
        <p:grpSpPr>
          <a:xfrm>
            <a:off x="285750" y="803109"/>
            <a:ext cx="4191000" cy="4055820"/>
            <a:chOff x="285750" y="809625"/>
            <a:chExt cx="4191000" cy="4055820"/>
          </a:xfrm>
        </p:grpSpPr>
        <p:sp>
          <p:nvSpPr>
            <p:cNvPr id="76" name="Google Shape;76;g3e073069206_0_98"/>
            <p:cNvSpPr/>
            <p:nvPr/>
          </p:nvSpPr>
          <p:spPr>
            <a:xfrm>
              <a:off x="285750" y="817245"/>
              <a:ext cx="4191000" cy="4048200"/>
            </a:xfrm>
            <a:prstGeom prst="roundRect">
              <a:avLst>
                <a:gd fmla="val 1882" name="adj"/>
              </a:avLst>
            </a:prstGeom>
            <a:solidFill>
              <a:srgbClr val="0D2137"/>
            </a:solidFill>
            <a:ln cap="flat" cmpd="sng" w="19050">
              <a:solidFill>
                <a:srgbClr val="00B4D8"/>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7" name="Google Shape;77;g3e073069206_0_98"/>
            <p:cNvSpPr/>
            <p:nvPr/>
          </p:nvSpPr>
          <p:spPr>
            <a:xfrm>
              <a:off x="285750" y="809625"/>
              <a:ext cx="4191000" cy="381000"/>
            </a:xfrm>
            <a:prstGeom prst="roundRect">
              <a:avLst>
                <a:gd fmla="val 20000" name="adj"/>
              </a:avLst>
            </a:prstGeom>
            <a:solidFill>
              <a:srgbClr val="00B4D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8" name="Google Shape;78;g3e073069206_0_98"/>
            <p:cNvSpPr txBox="1"/>
            <p:nvPr/>
          </p:nvSpPr>
          <p:spPr>
            <a:xfrm>
              <a:off x="428625" y="809625"/>
              <a:ext cx="39054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400">
                  <a:solidFill>
                    <a:srgbClr val="0A1628"/>
                  </a:solidFill>
                  <a:latin typeface="Calibri"/>
                  <a:ea typeface="Calibri"/>
                  <a:cs typeface="Calibri"/>
                  <a:sym typeface="Calibri"/>
                </a:rPr>
                <a:t>The Prediction Phase</a:t>
              </a:r>
              <a:endParaRPr b="1" sz="1400">
                <a:solidFill>
                  <a:srgbClr val="0A1628"/>
                </a:solidFill>
                <a:latin typeface="Calibri"/>
                <a:ea typeface="Calibri"/>
                <a:cs typeface="Calibri"/>
                <a:sym typeface="Calibri"/>
              </a:endParaRPr>
            </a:p>
          </p:txBody>
        </p:sp>
        <p:sp>
          <p:nvSpPr>
            <p:cNvPr id="79" name="Google Shape;79;g3e073069206_0_98"/>
            <p:cNvSpPr txBox="1"/>
            <p:nvPr/>
          </p:nvSpPr>
          <p:spPr>
            <a:xfrm>
              <a:off x="428625" y="1340016"/>
              <a:ext cx="3905400" cy="32385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US" sz="1100">
                  <a:solidFill>
                    <a:srgbClr val="00B4D8"/>
                  </a:solidFill>
                  <a:latin typeface="Calibri"/>
                  <a:ea typeface="Calibri"/>
                  <a:cs typeface="Calibri"/>
                  <a:sym typeface="Calibri"/>
                </a:rPr>
                <a:t>CONCURRENT LOOKUP &amp; SNAPSHOT</a:t>
              </a:r>
              <a:endParaRPr b="1" sz="1100">
                <a:solidFill>
                  <a:srgbClr val="00B4D8"/>
                </a:solidFill>
                <a:latin typeface="Calibri"/>
                <a:ea typeface="Calibri"/>
                <a:cs typeface="Calibri"/>
                <a:sym typeface="Calibri"/>
              </a:endParaRPr>
            </a:p>
            <a:p>
              <a:pPr indent="-298450" lvl="0" marL="457200" rtl="0" algn="l">
                <a:spcBef>
                  <a:spcPts val="900"/>
                </a:spcBef>
                <a:spcAft>
                  <a:spcPts val="0"/>
                </a:spcAft>
                <a:buClr>
                  <a:srgbClr val="00B4D8"/>
                </a:buClr>
                <a:buSzPts val="1100"/>
                <a:buFont typeface="Calibri"/>
                <a:buChar char="●"/>
              </a:pPr>
              <a:r>
                <a:rPr b="0" lang="en-US" sz="1000">
                  <a:solidFill>
                    <a:srgbClr val="E8F4FD"/>
                  </a:solidFill>
                  <a:latin typeface="Calibri"/>
                  <a:ea typeface="Calibri"/>
                  <a:cs typeface="Calibri"/>
                  <a:sym typeface="Calibri"/>
                </a:rPr>
                <a:t>Simultaneous query of SVP (Stride) and multiple VTAGE (History) tables for every instruction.</a:t>
              </a:r>
              <a:endParaRPr b="1" sz="1100">
                <a:solidFill>
                  <a:srgbClr val="00B4D8"/>
                </a:solidFill>
                <a:latin typeface="Calibri"/>
                <a:ea typeface="Calibri"/>
                <a:cs typeface="Calibri"/>
                <a:sym typeface="Calibri"/>
              </a:endParaRPr>
            </a:p>
            <a:p>
              <a:pPr indent="-298450" lvl="0" marL="457200" rtl="0" algn="l">
                <a:spcBef>
                  <a:spcPts val="750"/>
                </a:spcBef>
                <a:spcAft>
                  <a:spcPts val="0"/>
                </a:spcAft>
                <a:buClr>
                  <a:srgbClr val="00B4D8"/>
                </a:buClr>
                <a:buSzPts val="1100"/>
                <a:buFont typeface="Calibri"/>
                <a:buChar char="●"/>
              </a:pPr>
              <a:r>
                <a:rPr b="1" lang="en-US" sz="1000">
                  <a:solidFill>
                    <a:srgbClr val="E8F4FD"/>
                  </a:solidFill>
                  <a:latin typeface="Calibri"/>
                  <a:ea typeface="Calibri"/>
                  <a:cs typeface="Calibri"/>
                  <a:sym typeface="Calibri"/>
                </a:rPr>
                <a:t>Provider Selection:</a:t>
              </a:r>
              <a:r>
                <a:rPr b="0" lang="en-US" sz="1000">
                  <a:solidFill>
                    <a:srgbClr val="E8F4FD"/>
                  </a:solidFill>
                  <a:latin typeface="Calibri"/>
                  <a:ea typeface="Calibri"/>
                  <a:cs typeface="Calibri"/>
                  <a:sym typeface="Calibri"/>
                </a:rPr>
                <a:t> Longest-matching VTAGE table is the provider (primary prediction). Second longest becomes the alternate (used for training decisions).</a:t>
              </a:r>
              <a:endParaRPr b="1" sz="1100">
                <a:solidFill>
                  <a:srgbClr val="00B4D8"/>
                </a:solidFill>
                <a:latin typeface="Calibri"/>
                <a:ea typeface="Calibri"/>
                <a:cs typeface="Calibri"/>
                <a:sym typeface="Calibri"/>
              </a:endParaRPr>
            </a:p>
            <a:p>
              <a:pPr indent="-298450" lvl="0" marL="457200" rtl="0" algn="l">
                <a:spcBef>
                  <a:spcPts val="750"/>
                </a:spcBef>
                <a:spcAft>
                  <a:spcPts val="0"/>
                </a:spcAft>
                <a:buClr>
                  <a:srgbClr val="00B4D8"/>
                </a:buClr>
                <a:buSzPts val="1100"/>
                <a:buFont typeface="Calibri"/>
                <a:buChar char="●"/>
              </a:pPr>
              <a:r>
                <a:rPr b="1" lang="en-US" sz="1000">
                  <a:solidFill>
                    <a:srgbClr val="E8F4FD"/>
                  </a:solidFill>
                  <a:latin typeface="Calibri"/>
                  <a:ea typeface="Calibri"/>
                  <a:cs typeface="Calibri"/>
                  <a:sym typeface="Calibri"/>
                </a:rPr>
                <a:t>Fallback Hierarchy: </a:t>
              </a:r>
              <a:r>
                <a:rPr b="0" lang="en-US" sz="1000">
                  <a:solidFill>
                    <a:srgbClr val="E8F4FD"/>
                  </a:solidFill>
                  <a:latin typeface="Calibri"/>
                  <a:ea typeface="Calibri"/>
                  <a:cs typeface="Calibri"/>
                  <a:sym typeface="Calibri"/>
                </a:rPr>
                <a:t>If no provider/alternate is found, SVP becomes backup. If SVP also misses, no prediction is attempted for that slot.</a:t>
              </a:r>
              <a:endParaRPr b="1" sz="1100">
                <a:solidFill>
                  <a:srgbClr val="00B4D8"/>
                </a:solidFill>
                <a:latin typeface="Calibri"/>
                <a:ea typeface="Calibri"/>
                <a:cs typeface="Calibri"/>
                <a:sym typeface="Calibri"/>
              </a:endParaRPr>
            </a:p>
            <a:p>
              <a:pPr indent="-298450" lvl="0" marL="457200" rtl="0" algn="l">
                <a:spcBef>
                  <a:spcPts val="750"/>
                </a:spcBef>
                <a:spcAft>
                  <a:spcPts val="0"/>
                </a:spcAft>
                <a:buClr>
                  <a:srgbClr val="00B4D8"/>
                </a:buClr>
                <a:buSzPts val="1100"/>
                <a:buFont typeface="Calibri"/>
                <a:buChar char="●"/>
              </a:pPr>
              <a:r>
                <a:rPr b="1" lang="en-US" sz="1000">
                  <a:solidFill>
                    <a:srgbClr val="E8F4FD"/>
                  </a:solidFill>
                  <a:latin typeface="Calibri"/>
                  <a:ea typeface="Calibri"/>
                  <a:cs typeface="Calibri"/>
                  <a:sym typeface="Calibri"/>
                </a:rPr>
                <a:t>Hybrid Policy:</a:t>
              </a:r>
              <a:r>
                <a:rPr b="0" lang="en-US" sz="1000">
                  <a:solidFill>
                    <a:srgbClr val="E8F4FD"/>
                  </a:solidFill>
                  <a:latin typeface="Calibri"/>
                  <a:ea typeface="Calibri"/>
                  <a:cs typeface="Calibri"/>
                  <a:sym typeface="Calibri"/>
                </a:rPr>
                <a:t> Prediction priority deviates from traditional hierarchy when SVP is confident. SVP overrides VTAGE only when VTAGE is not yet fully confident (detailed on later slide). SVP becomes alternate.</a:t>
              </a:r>
              <a:endParaRPr b="1" sz="1100">
                <a:solidFill>
                  <a:srgbClr val="00B4D8"/>
                </a:solidFill>
                <a:latin typeface="Calibri"/>
                <a:ea typeface="Calibri"/>
                <a:cs typeface="Calibri"/>
                <a:sym typeface="Calibri"/>
              </a:endParaRPr>
            </a:p>
            <a:p>
              <a:pPr indent="-298450" lvl="0" marL="457200" rtl="0" algn="l">
                <a:spcBef>
                  <a:spcPts val="750"/>
                </a:spcBef>
                <a:spcAft>
                  <a:spcPts val="750"/>
                </a:spcAft>
                <a:buClr>
                  <a:srgbClr val="00B4D8"/>
                </a:buClr>
                <a:buSzPts val="1100"/>
                <a:buFont typeface="Calibri"/>
                <a:buChar char="●"/>
              </a:pPr>
              <a:r>
                <a:rPr b="1" lang="en-US" sz="1000">
                  <a:solidFill>
                    <a:srgbClr val="E8F4FD"/>
                  </a:solidFill>
                  <a:latin typeface="Calibri"/>
                  <a:ea typeface="Calibri"/>
                  <a:cs typeface="Calibri"/>
                  <a:sym typeface="Calibri"/>
                </a:rPr>
                <a:t>State Capture:</a:t>
              </a:r>
              <a:r>
                <a:rPr b="0" lang="en-US" sz="1000">
                  <a:solidFill>
                    <a:srgbClr val="E8F4FD"/>
                  </a:solidFill>
                  <a:latin typeface="Calibri"/>
                  <a:ea typeface="Calibri"/>
                  <a:cs typeface="Calibri"/>
                  <a:sym typeface="Calibri"/>
                </a:rPr>
                <a:t> The VPQ captures a snapshot of the global branch history, PC tag/index, and all prediction metadata, including provider/alternate details.</a:t>
              </a:r>
              <a:endParaRPr b="1" sz="1100">
                <a:solidFill>
                  <a:srgbClr val="00B4D8"/>
                </a:solidFill>
                <a:latin typeface="Calibri"/>
                <a:ea typeface="Calibri"/>
                <a:cs typeface="Calibri"/>
                <a:sym typeface="Calibri"/>
              </a:endParaRPr>
            </a:p>
          </p:txBody>
        </p:sp>
      </p:grpSp>
      <p:grpSp>
        <p:nvGrpSpPr>
          <p:cNvPr id="80" name="Google Shape;80;g3e073069206_0_98"/>
          <p:cNvGrpSpPr/>
          <p:nvPr/>
        </p:nvGrpSpPr>
        <p:grpSpPr>
          <a:xfrm>
            <a:off x="4667250" y="809625"/>
            <a:ext cx="4191000" cy="4048200"/>
            <a:chOff x="4667250" y="809625"/>
            <a:chExt cx="4191000" cy="4048200"/>
          </a:xfrm>
        </p:grpSpPr>
        <p:sp>
          <p:nvSpPr>
            <p:cNvPr id="81" name="Google Shape;81;g3e073069206_0_98"/>
            <p:cNvSpPr/>
            <p:nvPr/>
          </p:nvSpPr>
          <p:spPr>
            <a:xfrm>
              <a:off x="4667250" y="809625"/>
              <a:ext cx="4191000" cy="4048200"/>
            </a:xfrm>
            <a:prstGeom prst="roundRect">
              <a:avLst>
                <a:gd fmla="val 1882" name="adj"/>
              </a:avLst>
            </a:prstGeom>
            <a:solidFill>
              <a:srgbClr val="0D2137"/>
            </a:solidFill>
            <a:ln cap="flat" cmpd="sng" w="19050">
              <a:solidFill>
                <a:srgbClr val="EF476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2" name="Google Shape;82;g3e073069206_0_98"/>
            <p:cNvSpPr/>
            <p:nvPr/>
          </p:nvSpPr>
          <p:spPr>
            <a:xfrm>
              <a:off x="4667250" y="809625"/>
              <a:ext cx="4191000" cy="381000"/>
            </a:xfrm>
            <a:prstGeom prst="roundRect">
              <a:avLst>
                <a:gd fmla="val 20000" name="adj"/>
              </a:avLst>
            </a:prstGeom>
            <a:solidFill>
              <a:srgbClr val="EF476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3" name="Google Shape;83;g3e073069206_0_98"/>
            <p:cNvSpPr txBox="1"/>
            <p:nvPr/>
          </p:nvSpPr>
          <p:spPr>
            <a:xfrm>
              <a:off x="4810125" y="809625"/>
              <a:ext cx="39054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400">
                  <a:solidFill>
                    <a:srgbClr val="0A1628"/>
                  </a:solidFill>
                  <a:latin typeface="Calibri"/>
                  <a:ea typeface="Calibri"/>
                  <a:cs typeface="Calibri"/>
                  <a:sym typeface="Calibri"/>
                </a:rPr>
                <a:t>The </a:t>
              </a:r>
              <a:r>
                <a:rPr b="1" lang="en-US">
                  <a:solidFill>
                    <a:srgbClr val="0A1628"/>
                  </a:solidFill>
                  <a:latin typeface="Calibri"/>
                  <a:ea typeface="Calibri"/>
                  <a:cs typeface="Calibri"/>
                  <a:sym typeface="Calibri"/>
                </a:rPr>
                <a:t>Training</a:t>
              </a:r>
              <a:r>
                <a:rPr b="1" lang="en-US" sz="1400">
                  <a:solidFill>
                    <a:srgbClr val="0A1628"/>
                  </a:solidFill>
                  <a:latin typeface="Calibri"/>
                  <a:ea typeface="Calibri"/>
                  <a:cs typeface="Calibri"/>
                  <a:sym typeface="Calibri"/>
                </a:rPr>
                <a:t> Phase</a:t>
              </a:r>
              <a:endParaRPr b="1" sz="1400">
                <a:solidFill>
                  <a:srgbClr val="0A1628"/>
                </a:solidFill>
                <a:latin typeface="Calibri"/>
                <a:ea typeface="Calibri"/>
                <a:cs typeface="Calibri"/>
                <a:sym typeface="Calibri"/>
              </a:endParaRPr>
            </a:p>
          </p:txBody>
        </p:sp>
        <p:sp>
          <p:nvSpPr>
            <p:cNvPr id="84" name="Google Shape;84;g3e073069206_0_98"/>
            <p:cNvSpPr txBox="1"/>
            <p:nvPr/>
          </p:nvSpPr>
          <p:spPr>
            <a:xfrm>
              <a:off x="4810125" y="1333500"/>
              <a:ext cx="3905400" cy="32385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US" sz="1100">
                  <a:solidFill>
                    <a:srgbClr val="EF476F"/>
                  </a:solidFill>
                  <a:latin typeface="Calibri"/>
                  <a:ea typeface="Calibri"/>
                  <a:cs typeface="Calibri"/>
                  <a:sym typeface="Calibri"/>
                </a:rPr>
                <a:t>POST-RETIREMENT ANALYSIS</a:t>
              </a:r>
              <a:endParaRPr b="1" sz="1100">
                <a:solidFill>
                  <a:srgbClr val="EF476F"/>
                </a:solidFill>
                <a:latin typeface="Calibri"/>
                <a:ea typeface="Calibri"/>
                <a:cs typeface="Calibri"/>
                <a:sym typeface="Calibri"/>
              </a:endParaRPr>
            </a:p>
            <a:p>
              <a:pPr indent="-298450" lvl="0" marL="457200" rtl="0" algn="l">
                <a:spcBef>
                  <a:spcPts val="900"/>
                </a:spcBef>
                <a:spcAft>
                  <a:spcPts val="0"/>
                </a:spcAft>
                <a:buClr>
                  <a:srgbClr val="EF476F"/>
                </a:buClr>
                <a:buSzPts val="1100"/>
                <a:buFont typeface="Calibri"/>
                <a:buChar char="●"/>
              </a:pPr>
              <a:r>
                <a:rPr b="0" lang="en-US" sz="1000">
                  <a:solidFill>
                    <a:srgbClr val="E8F4FD"/>
                  </a:solidFill>
                  <a:latin typeface="Calibri"/>
                  <a:ea typeface="Calibri"/>
                  <a:cs typeface="Calibri"/>
                  <a:sym typeface="Calibri"/>
                </a:rPr>
                <a:t>Only applicable if instruction hit in SVP/VTAGE.</a:t>
              </a:r>
              <a:endParaRPr b="1" sz="1100">
                <a:solidFill>
                  <a:srgbClr val="EF476F"/>
                </a:solidFill>
                <a:latin typeface="Calibri"/>
                <a:ea typeface="Calibri"/>
                <a:cs typeface="Calibri"/>
                <a:sym typeface="Calibri"/>
              </a:endParaRPr>
            </a:p>
            <a:p>
              <a:pPr indent="-298450" lvl="0" marL="457200" rtl="0" algn="l">
                <a:spcBef>
                  <a:spcPts val="750"/>
                </a:spcBef>
                <a:spcAft>
                  <a:spcPts val="0"/>
                </a:spcAft>
                <a:buClr>
                  <a:srgbClr val="EF476F"/>
                </a:buClr>
                <a:buSzPts val="1100"/>
                <a:buFont typeface="Calibri"/>
                <a:buChar char="●"/>
              </a:pPr>
              <a:r>
                <a:rPr b="0" lang="en-US" sz="1000">
                  <a:solidFill>
                    <a:srgbClr val="E8F4FD"/>
                  </a:solidFill>
                  <a:latin typeface="Calibri"/>
                  <a:ea typeface="Calibri"/>
                  <a:cs typeface="Calibri"/>
                  <a:sym typeface="Calibri"/>
                </a:rPr>
                <a:t>At retirement, the actual value is compared against what was predicted.</a:t>
              </a:r>
              <a:endParaRPr b="1" sz="1100">
                <a:solidFill>
                  <a:srgbClr val="EF476F"/>
                </a:solidFill>
                <a:latin typeface="Calibri"/>
                <a:ea typeface="Calibri"/>
                <a:cs typeface="Calibri"/>
                <a:sym typeface="Calibri"/>
              </a:endParaRPr>
            </a:p>
            <a:p>
              <a:pPr indent="-298450" lvl="0" marL="457200" rtl="0" algn="l">
                <a:spcBef>
                  <a:spcPts val="750"/>
                </a:spcBef>
                <a:spcAft>
                  <a:spcPts val="0"/>
                </a:spcAft>
                <a:buClr>
                  <a:srgbClr val="EF476F"/>
                </a:buClr>
                <a:buSzPts val="1100"/>
                <a:buFont typeface="Calibri"/>
                <a:buChar char="●"/>
              </a:pPr>
              <a:r>
                <a:rPr b="1" lang="en-US" sz="1000">
                  <a:solidFill>
                    <a:srgbClr val="E8F4FD"/>
                  </a:solidFill>
                  <a:latin typeface="Calibri"/>
                  <a:ea typeface="Calibri"/>
                  <a:cs typeface="Calibri"/>
                  <a:sym typeface="Calibri"/>
                </a:rPr>
                <a:t>SVP Update: </a:t>
              </a:r>
              <a:r>
                <a:rPr b="0" lang="en-US" sz="1000">
                  <a:solidFill>
                    <a:srgbClr val="E8F4FD"/>
                  </a:solidFill>
                  <a:latin typeface="Calibri"/>
                  <a:ea typeface="Calibri"/>
                  <a:cs typeface="Calibri"/>
                  <a:sym typeface="Calibri"/>
                </a:rPr>
                <a:t>SVP updates its stride and confidence based on whether the stride was repeated.</a:t>
              </a:r>
              <a:endParaRPr b="1" sz="1100">
                <a:solidFill>
                  <a:srgbClr val="EF476F"/>
                </a:solidFill>
                <a:latin typeface="Calibri"/>
                <a:ea typeface="Calibri"/>
                <a:cs typeface="Calibri"/>
                <a:sym typeface="Calibri"/>
              </a:endParaRPr>
            </a:p>
            <a:p>
              <a:pPr indent="-298450" lvl="0" marL="457200" rtl="0" algn="l">
                <a:spcBef>
                  <a:spcPts val="750"/>
                </a:spcBef>
                <a:spcAft>
                  <a:spcPts val="0"/>
                </a:spcAft>
                <a:buClr>
                  <a:srgbClr val="EF476F"/>
                </a:buClr>
                <a:buSzPts val="1100"/>
                <a:buFont typeface="Calibri"/>
                <a:buChar char="●"/>
              </a:pPr>
              <a:r>
                <a:rPr b="1" lang="en-US" sz="1000">
                  <a:solidFill>
                    <a:srgbClr val="E8F4FD"/>
                  </a:solidFill>
                  <a:latin typeface="Calibri"/>
                  <a:ea typeface="Calibri"/>
                  <a:cs typeface="Calibri"/>
                  <a:sym typeface="Calibri"/>
                </a:rPr>
                <a:t>Stochastic Training: </a:t>
              </a:r>
              <a:r>
                <a:rPr b="0" lang="en-US" sz="1000">
                  <a:solidFill>
                    <a:srgbClr val="E8F4FD"/>
                  </a:solidFill>
                  <a:latin typeface="Calibri"/>
                  <a:ea typeface="Calibri"/>
                  <a:cs typeface="Calibri"/>
                  <a:sym typeface="Calibri"/>
                </a:rPr>
                <a:t>Confidence updates are probabilistic and instruction-type-aware (e.g., Loads/FP train faster than ALU).</a:t>
              </a:r>
              <a:endParaRPr b="1" sz="1100">
                <a:solidFill>
                  <a:srgbClr val="EF476F"/>
                </a:solidFill>
                <a:latin typeface="Calibri"/>
                <a:ea typeface="Calibri"/>
                <a:cs typeface="Calibri"/>
                <a:sym typeface="Calibri"/>
              </a:endParaRPr>
            </a:p>
            <a:p>
              <a:pPr indent="-298450" lvl="0" marL="457200" rtl="0" algn="l">
                <a:spcBef>
                  <a:spcPts val="750"/>
                </a:spcBef>
                <a:spcAft>
                  <a:spcPts val="0"/>
                </a:spcAft>
                <a:buClr>
                  <a:srgbClr val="EF476F"/>
                </a:buClr>
                <a:buSzPts val="1100"/>
                <a:buFont typeface="Calibri"/>
                <a:buChar char="●"/>
              </a:pPr>
              <a:r>
                <a:rPr b="1" lang="en-US" sz="1000">
                  <a:solidFill>
                    <a:srgbClr val="E8F4FD"/>
                  </a:solidFill>
                  <a:latin typeface="Calibri"/>
                  <a:ea typeface="Calibri"/>
                  <a:cs typeface="Calibri"/>
                  <a:sym typeface="Calibri"/>
                </a:rPr>
                <a:t>Asymmetric Penalty: </a:t>
              </a:r>
              <a:r>
                <a:rPr b="0" lang="en-US" sz="1000">
                  <a:solidFill>
                    <a:srgbClr val="E8F4FD"/>
                  </a:solidFill>
                  <a:latin typeface="Calibri"/>
                  <a:ea typeface="Calibri"/>
                  <a:cs typeface="Calibri"/>
                  <a:sym typeface="Calibri"/>
                </a:rPr>
                <a:t>Mispredicted ALU instructions are fully reset; Memory/FP operations receive only a soft dock penalty.</a:t>
              </a:r>
              <a:endParaRPr b="1" sz="1100">
                <a:solidFill>
                  <a:srgbClr val="EF476F"/>
                </a:solidFill>
                <a:latin typeface="Calibri"/>
                <a:ea typeface="Calibri"/>
                <a:cs typeface="Calibri"/>
                <a:sym typeface="Calibri"/>
              </a:endParaRPr>
            </a:p>
            <a:p>
              <a:pPr indent="-298450" lvl="0" marL="457200" rtl="0" algn="l">
                <a:spcBef>
                  <a:spcPts val="750"/>
                </a:spcBef>
                <a:spcAft>
                  <a:spcPts val="750"/>
                </a:spcAft>
                <a:buClr>
                  <a:srgbClr val="EF476F"/>
                </a:buClr>
                <a:buSzPts val="1100"/>
                <a:buFont typeface="Calibri"/>
                <a:buChar char="●"/>
              </a:pPr>
              <a:r>
                <a:rPr b="1" lang="en-US" sz="1000">
                  <a:solidFill>
                    <a:srgbClr val="E8F4FD"/>
                  </a:solidFill>
                  <a:latin typeface="Calibri"/>
                  <a:ea typeface="Calibri"/>
                  <a:cs typeface="Calibri"/>
                  <a:sym typeface="Calibri"/>
                </a:rPr>
                <a:t>Usefulness Economics: </a:t>
              </a:r>
              <a:r>
                <a:rPr b="0" lang="en-US" sz="1000">
                  <a:solidFill>
                    <a:srgbClr val="E8F4FD"/>
                  </a:solidFill>
                  <a:latin typeface="Calibri"/>
                  <a:ea typeface="Calibri"/>
                  <a:cs typeface="Calibri"/>
                  <a:sym typeface="Calibri"/>
                </a:rPr>
                <a:t>VTAGE evaluates the usefulness of a prediction. A provider’s useful counter increments or decrements only if there is a disagreement between provider and alternate.</a:t>
              </a:r>
              <a:endParaRPr b="1" sz="1100">
                <a:solidFill>
                  <a:srgbClr val="EF476F"/>
                </a:solidFill>
                <a:latin typeface="Calibri"/>
                <a:ea typeface="Calibri"/>
                <a:cs typeface="Calibri"/>
                <a:sym typeface="Calibri"/>
              </a:endParaRPr>
            </a:p>
          </p:txBody>
        </p:sp>
      </p:grpSp>
      <p:sp>
        <p:nvSpPr>
          <p:cNvPr id="85" name="Google Shape;85;g3e073069206_0_98"/>
          <p:cNvSpPr/>
          <p:nvPr/>
        </p:nvSpPr>
        <p:spPr>
          <a:xfrm>
            <a:off x="365760" y="502920"/>
            <a:ext cx="2286000" cy="36600"/>
          </a:xfrm>
          <a:prstGeom prst="rect">
            <a:avLst/>
          </a:prstGeom>
          <a:solidFill>
            <a:srgbClr val="00B4D8"/>
          </a:solidFill>
          <a:ln cap="flat" cmpd="sng" w="12700">
            <a:solidFill>
              <a:srgbClr val="00B4D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628"/>
        </a:solidFill>
      </p:bgPr>
    </p:bg>
    <p:spTree>
      <p:nvGrpSpPr>
        <p:cNvPr id="88" name="Shape 88"/>
        <p:cNvGrpSpPr/>
        <p:nvPr/>
      </p:nvGrpSpPr>
      <p:grpSpPr>
        <a:xfrm>
          <a:off x="0" y="0"/>
          <a:ext cx="0" cy="0"/>
          <a:chOff x="0" y="0"/>
          <a:chExt cx="0" cy="0"/>
        </a:xfrm>
      </p:grpSpPr>
      <p:sp>
        <p:nvSpPr>
          <p:cNvPr id="89" name="Google Shape;89;g3e073069206_0_60"/>
          <p:cNvSpPr/>
          <p:nvPr/>
        </p:nvSpPr>
        <p:spPr>
          <a:xfrm>
            <a:off x="0" y="0"/>
            <a:ext cx="9144000" cy="504900"/>
          </a:xfrm>
          <a:prstGeom prst="rect">
            <a:avLst/>
          </a:prstGeom>
          <a:solidFill>
            <a:srgbClr val="0D213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0" name="Google Shape;90;g3e073069206_0_60"/>
          <p:cNvSpPr txBox="1"/>
          <p:nvPr/>
        </p:nvSpPr>
        <p:spPr>
          <a:xfrm>
            <a:off x="361950" y="66675"/>
            <a:ext cx="8229600" cy="3621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200">
                <a:solidFill>
                  <a:srgbClr val="FFFFFF"/>
                </a:solidFill>
                <a:latin typeface="Calibri"/>
                <a:ea typeface="Calibri"/>
                <a:cs typeface="Calibri"/>
                <a:sym typeface="Calibri"/>
              </a:rPr>
              <a:t>Predictor Lifecycle: Allocation &amp; Rollback</a:t>
            </a:r>
            <a:endParaRPr b="1" sz="2200">
              <a:solidFill>
                <a:srgbClr val="FFFFFF"/>
              </a:solidFill>
              <a:latin typeface="Calibri"/>
              <a:ea typeface="Calibri"/>
              <a:cs typeface="Calibri"/>
              <a:sym typeface="Calibri"/>
            </a:endParaRPr>
          </a:p>
        </p:txBody>
      </p:sp>
      <p:grpSp>
        <p:nvGrpSpPr>
          <p:cNvPr id="91" name="Google Shape;91;g3e073069206_0_60"/>
          <p:cNvGrpSpPr/>
          <p:nvPr/>
        </p:nvGrpSpPr>
        <p:grpSpPr>
          <a:xfrm>
            <a:off x="285750" y="762000"/>
            <a:ext cx="4191000" cy="4095900"/>
            <a:chOff x="0" y="0"/>
            <a:chExt cx="4191000" cy="4095900"/>
          </a:xfrm>
        </p:grpSpPr>
        <p:sp>
          <p:nvSpPr>
            <p:cNvPr id="92" name="Google Shape;92;g3e073069206_0_60"/>
            <p:cNvSpPr/>
            <p:nvPr/>
          </p:nvSpPr>
          <p:spPr>
            <a:xfrm>
              <a:off x="0" y="0"/>
              <a:ext cx="4191000" cy="4095900"/>
            </a:xfrm>
            <a:prstGeom prst="roundRect">
              <a:avLst>
                <a:gd fmla="val 1860" name="adj"/>
              </a:avLst>
            </a:prstGeom>
            <a:solidFill>
              <a:srgbClr val="0D2137"/>
            </a:solidFill>
            <a:ln cap="flat" cmpd="sng" w="19050">
              <a:solidFill>
                <a:srgbClr val="06D6A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3" name="Google Shape;93;g3e073069206_0_60"/>
            <p:cNvSpPr/>
            <p:nvPr/>
          </p:nvSpPr>
          <p:spPr>
            <a:xfrm>
              <a:off x="0" y="0"/>
              <a:ext cx="4191000" cy="381000"/>
            </a:xfrm>
            <a:prstGeom prst="roundRect">
              <a:avLst>
                <a:gd fmla="val 20000" name="adj"/>
              </a:avLst>
            </a:prstGeom>
            <a:solidFill>
              <a:srgbClr val="06D6A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4" name="Google Shape;94;g3e073069206_0_60"/>
            <p:cNvSpPr txBox="1"/>
            <p:nvPr/>
          </p:nvSpPr>
          <p:spPr>
            <a:xfrm>
              <a:off x="142875" y="0"/>
              <a:ext cx="39054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400">
                  <a:solidFill>
                    <a:srgbClr val="0A1628"/>
                  </a:solidFill>
                  <a:latin typeface="Calibri"/>
                  <a:ea typeface="Calibri"/>
                  <a:cs typeface="Calibri"/>
                  <a:sym typeface="Calibri"/>
                </a:rPr>
                <a:t>Predictor Allocation Logic</a:t>
              </a:r>
              <a:endParaRPr b="1" sz="1400">
                <a:solidFill>
                  <a:srgbClr val="0A1628"/>
                </a:solidFill>
                <a:latin typeface="Calibri"/>
                <a:ea typeface="Calibri"/>
                <a:cs typeface="Calibri"/>
                <a:sym typeface="Calibri"/>
              </a:endParaRPr>
            </a:p>
          </p:txBody>
        </p:sp>
        <p:sp>
          <p:nvSpPr>
            <p:cNvPr id="95" name="Google Shape;95;g3e073069206_0_60"/>
            <p:cNvSpPr txBox="1"/>
            <p:nvPr/>
          </p:nvSpPr>
          <p:spPr>
            <a:xfrm>
              <a:off x="142875" y="523875"/>
              <a:ext cx="3905400" cy="3429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000">
                  <a:solidFill>
                    <a:srgbClr val="06D6A0"/>
                  </a:solidFill>
                  <a:latin typeface="Calibri"/>
                  <a:ea typeface="Calibri"/>
                  <a:cs typeface="Calibri"/>
                  <a:sym typeface="Calibri"/>
                </a:rPr>
                <a:t>WHEN DOES AN ENTRY ALLOCATE?</a:t>
              </a:r>
              <a:endParaRPr b="1" sz="1000">
                <a:solidFill>
                  <a:srgbClr val="06D6A0"/>
                </a:solidFill>
                <a:latin typeface="Calibri"/>
                <a:ea typeface="Calibri"/>
                <a:cs typeface="Calibri"/>
                <a:sym typeface="Calibri"/>
              </a:endParaRPr>
            </a:p>
            <a:p>
              <a:pPr indent="-292100" lvl="0" marL="457200" rtl="0" algn="l">
                <a:spcBef>
                  <a:spcPts val="750"/>
                </a:spcBef>
                <a:spcAft>
                  <a:spcPts val="0"/>
                </a:spcAft>
                <a:buClr>
                  <a:srgbClr val="E8F4FD"/>
                </a:buClr>
                <a:buSzPts val="1000"/>
                <a:buFont typeface="Calibri"/>
                <a:buChar char="●"/>
              </a:pPr>
              <a:r>
                <a:rPr b="0" lang="en-US" sz="1000">
                  <a:solidFill>
                    <a:srgbClr val="E8F4FD"/>
                  </a:solidFill>
                  <a:latin typeface="Calibri"/>
                  <a:ea typeface="Calibri"/>
                  <a:cs typeface="Calibri"/>
                  <a:sym typeface="Calibri"/>
                </a:rPr>
                <a:t>If SVP misses and no confident VTAGE provider exists.</a:t>
              </a:r>
              <a:endParaRPr b="0" sz="1000">
                <a:solidFill>
                  <a:srgbClr val="E8F4FD"/>
                </a:solidFill>
                <a:latin typeface="Calibri"/>
                <a:ea typeface="Calibri"/>
                <a:cs typeface="Calibri"/>
                <a:sym typeface="Calibri"/>
              </a:endParaRPr>
            </a:p>
            <a:p>
              <a:pPr indent="-292100" lvl="0" marL="457200" rtl="0" algn="l">
                <a:spcBef>
                  <a:spcPts val="450"/>
                </a:spcBef>
                <a:spcAft>
                  <a:spcPts val="0"/>
                </a:spcAft>
                <a:buClr>
                  <a:srgbClr val="E8F4FD"/>
                </a:buClr>
                <a:buSzPts val="1000"/>
                <a:buFont typeface="Calibri"/>
                <a:buChar char="●"/>
              </a:pPr>
              <a:r>
                <a:rPr b="0" lang="en-US" sz="1000">
                  <a:solidFill>
                    <a:srgbClr val="E8F4FD"/>
                  </a:solidFill>
                  <a:latin typeface="Calibri"/>
                  <a:ea typeface="Calibri"/>
                  <a:cs typeface="Calibri"/>
                  <a:sym typeface="Calibri"/>
                </a:rPr>
                <a:t>When VTAGE misses/mispredicts, it climbs to a longer history table. Shorter history tables have a large</a:t>
              </a:r>
              <a:r>
                <a:rPr lang="en-US" sz="1000">
                  <a:solidFill>
                    <a:srgbClr val="E8F4FD"/>
                  </a:solidFill>
                  <a:latin typeface="Calibri"/>
                  <a:ea typeface="Calibri"/>
                  <a:cs typeface="Calibri"/>
                  <a:sym typeface="Calibri"/>
                </a:rPr>
                <a:t>r chance of ‘winning’. </a:t>
              </a:r>
              <a:endParaRPr b="0" sz="1000">
                <a:solidFill>
                  <a:srgbClr val="E8F4FD"/>
                </a:solidFill>
                <a:latin typeface="Calibri"/>
                <a:ea typeface="Calibri"/>
                <a:cs typeface="Calibri"/>
                <a:sym typeface="Calibri"/>
              </a:endParaRPr>
            </a:p>
            <a:p>
              <a:pPr indent="-292100" lvl="0" marL="457200" rtl="0" algn="l">
                <a:spcBef>
                  <a:spcPts val="450"/>
                </a:spcBef>
                <a:spcAft>
                  <a:spcPts val="0"/>
                </a:spcAft>
                <a:buClr>
                  <a:srgbClr val="E8F4FD"/>
                </a:buClr>
                <a:buSzPts val="1000"/>
                <a:buFont typeface="Calibri"/>
                <a:buChar char="●"/>
              </a:pPr>
              <a:r>
                <a:rPr b="1" lang="en-US" sz="1000">
                  <a:solidFill>
                    <a:srgbClr val="E8F4FD"/>
                  </a:solidFill>
                  <a:latin typeface="Calibri"/>
                  <a:ea typeface="Calibri"/>
                  <a:cs typeface="Calibri"/>
                  <a:sym typeface="Calibri"/>
                </a:rPr>
                <a:t>Allocation Veto: </a:t>
              </a:r>
              <a:r>
                <a:rPr lang="en-US" sz="1000">
                  <a:solidFill>
                    <a:srgbClr val="E8F4FD"/>
                  </a:solidFill>
                  <a:latin typeface="Calibri"/>
                  <a:ea typeface="Calibri"/>
                  <a:cs typeface="Calibri"/>
                  <a:sym typeface="Calibri"/>
                </a:rPr>
                <a:t>New VTAGE entries are blocked from allocating if the Stride Predictor (Alternate) was correct.</a:t>
              </a:r>
              <a:endParaRPr b="0" sz="1000">
                <a:solidFill>
                  <a:srgbClr val="E8F4FD"/>
                </a:solidFill>
                <a:latin typeface="Calibri"/>
                <a:ea typeface="Calibri"/>
                <a:cs typeface="Calibri"/>
                <a:sym typeface="Calibri"/>
              </a:endParaRPr>
            </a:p>
            <a:p>
              <a:pPr indent="0" lvl="0" marL="0" rtl="0" algn="l">
                <a:spcBef>
                  <a:spcPts val="1125"/>
                </a:spcBef>
                <a:spcAft>
                  <a:spcPts val="0"/>
                </a:spcAft>
                <a:buNone/>
              </a:pPr>
              <a:r>
                <a:rPr b="1" lang="en-US" sz="1000">
                  <a:solidFill>
                    <a:srgbClr val="06D6A0"/>
                  </a:solidFill>
                  <a:latin typeface="Calibri"/>
                  <a:ea typeface="Calibri"/>
                  <a:cs typeface="Calibri"/>
                  <a:sym typeface="Calibri"/>
                </a:rPr>
                <a:t>RULES &amp; CAPACITY PROTECTION</a:t>
              </a:r>
              <a:endParaRPr b="1" sz="1000">
                <a:solidFill>
                  <a:srgbClr val="06D6A0"/>
                </a:solidFill>
                <a:latin typeface="Calibri"/>
                <a:ea typeface="Calibri"/>
                <a:cs typeface="Calibri"/>
                <a:sym typeface="Calibri"/>
              </a:endParaRPr>
            </a:p>
            <a:p>
              <a:pPr indent="-292100" lvl="0" marL="457200" rtl="0" algn="l">
                <a:spcBef>
                  <a:spcPts val="750"/>
                </a:spcBef>
                <a:spcAft>
                  <a:spcPts val="0"/>
                </a:spcAft>
                <a:buClr>
                  <a:srgbClr val="E8F4FD"/>
                </a:buClr>
                <a:buSzPts val="1000"/>
                <a:buFont typeface="Calibri"/>
                <a:buChar char="●"/>
              </a:pPr>
              <a:r>
                <a:rPr b="1" lang="en-US" sz="1000">
                  <a:solidFill>
                    <a:srgbClr val="E8F4FD"/>
                  </a:solidFill>
                  <a:latin typeface="Calibri"/>
                  <a:ea typeface="Calibri"/>
                  <a:cs typeface="Calibri"/>
                  <a:sym typeface="Calibri"/>
                </a:rPr>
                <a:t>Instruction-Type Priority: </a:t>
              </a:r>
              <a:r>
                <a:rPr lang="en-US" sz="1000">
                  <a:solidFill>
                    <a:srgbClr val="E8F4FD"/>
                  </a:solidFill>
                  <a:latin typeface="Calibri"/>
                  <a:ea typeface="Calibri"/>
                  <a:cs typeface="Calibri"/>
                  <a:sym typeface="Calibri"/>
                </a:rPr>
                <a:t>Loads and FP operations always allocate; Generic ALU is throttled 1-in-16 to preserve capacity.</a:t>
              </a:r>
              <a:endParaRPr b="0" sz="1000">
                <a:solidFill>
                  <a:srgbClr val="E8F4FD"/>
                </a:solidFill>
                <a:latin typeface="Calibri"/>
                <a:ea typeface="Calibri"/>
                <a:cs typeface="Calibri"/>
                <a:sym typeface="Calibri"/>
              </a:endParaRPr>
            </a:p>
            <a:p>
              <a:pPr indent="-292100" lvl="0" marL="457200" rtl="0" algn="l">
                <a:spcBef>
                  <a:spcPts val="450"/>
                </a:spcBef>
                <a:spcAft>
                  <a:spcPts val="0"/>
                </a:spcAft>
                <a:buClr>
                  <a:srgbClr val="E8F4FD"/>
                </a:buClr>
                <a:buSzPts val="1000"/>
                <a:buFont typeface="Calibri"/>
                <a:buChar char="●"/>
              </a:pPr>
              <a:r>
                <a:rPr b="1" lang="en-US" sz="1000">
                  <a:solidFill>
                    <a:srgbClr val="E8F4FD"/>
                  </a:solidFill>
                  <a:latin typeface="Calibri"/>
                  <a:ea typeface="Calibri"/>
                  <a:cs typeface="Calibri"/>
                  <a:sym typeface="Calibri"/>
                </a:rPr>
                <a:t>Useful Bits:</a:t>
              </a:r>
              <a:r>
                <a:rPr b="0" lang="en-US" sz="1000">
                  <a:solidFill>
                    <a:srgbClr val="E8F4FD"/>
                  </a:solidFill>
                  <a:latin typeface="Calibri"/>
                  <a:ea typeface="Calibri"/>
                  <a:cs typeface="Calibri"/>
                  <a:sym typeface="Calibri"/>
                </a:rPr>
                <a:t> Won't overwrite entries with high "useful" bits.</a:t>
              </a:r>
              <a:endParaRPr b="0" sz="1000">
                <a:solidFill>
                  <a:srgbClr val="E8F4FD"/>
                </a:solidFill>
                <a:latin typeface="Calibri"/>
                <a:ea typeface="Calibri"/>
                <a:cs typeface="Calibri"/>
                <a:sym typeface="Calibri"/>
              </a:endParaRPr>
            </a:p>
            <a:p>
              <a:pPr indent="-292100" lvl="0" marL="457200" rtl="0" algn="l">
                <a:spcBef>
                  <a:spcPts val="450"/>
                </a:spcBef>
                <a:spcAft>
                  <a:spcPts val="0"/>
                </a:spcAft>
                <a:buClr>
                  <a:srgbClr val="E8F4FD"/>
                </a:buClr>
                <a:buSzPts val="1000"/>
                <a:buFont typeface="Calibri"/>
                <a:buChar char="●"/>
              </a:pPr>
              <a:r>
                <a:rPr b="1" lang="en-US" sz="1000">
                  <a:solidFill>
                    <a:srgbClr val="E8F4FD"/>
                  </a:solidFill>
                  <a:latin typeface="Calibri"/>
                  <a:ea typeface="Calibri"/>
                  <a:cs typeface="Calibri"/>
                  <a:sym typeface="Calibri"/>
                </a:rPr>
                <a:t>TICK Counter:</a:t>
              </a:r>
              <a:r>
                <a:rPr b="0" lang="en-US" sz="1000">
                  <a:solidFill>
                    <a:srgbClr val="E8F4FD"/>
                  </a:solidFill>
                  <a:latin typeface="Calibri"/>
                  <a:ea typeface="Calibri"/>
                  <a:cs typeface="Calibri"/>
                  <a:sym typeface="Calibri"/>
                </a:rPr>
                <a:t> Periodically decays bits to evict stale entries. </a:t>
              </a:r>
              <a:r>
                <a:rPr lang="en-US" sz="1000">
                  <a:solidFill>
                    <a:srgbClr val="E8F4FD"/>
                  </a:solidFill>
                  <a:latin typeface="Calibri"/>
                  <a:ea typeface="Calibri"/>
                  <a:cs typeface="Calibri"/>
                  <a:sym typeface="Calibri"/>
                </a:rPr>
                <a:t>Max is 512 and it relieves pressure after allocation, otherwise, it adds pressure by number of unsuccessful allocation tables.</a:t>
              </a:r>
              <a:endParaRPr b="0" sz="1000">
                <a:solidFill>
                  <a:srgbClr val="E8F4FD"/>
                </a:solidFill>
                <a:latin typeface="Calibri"/>
                <a:ea typeface="Calibri"/>
                <a:cs typeface="Calibri"/>
                <a:sym typeface="Calibri"/>
              </a:endParaRPr>
            </a:p>
            <a:p>
              <a:pPr indent="-292100" lvl="0" marL="457200" rtl="0" algn="l">
                <a:spcBef>
                  <a:spcPts val="450"/>
                </a:spcBef>
                <a:spcAft>
                  <a:spcPts val="450"/>
                </a:spcAft>
                <a:buClr>
                  <a:srgbClr val="E8F4FD"/>
                </a:buClr>
                <a:buSzPts val="1000"/>
                <a:buFont typeface="Calibri"/>
                <a:buChar char="●"/>
              </a:pPr>
              <a:r>
                <a:rPr b="1" lang="en-US" sz="1000">
                  <a:solidFill>
                    <a:srgbClr val="E8F4FD"/>
                  </a:solidFill>
                  <a:latin typeface="Calibri"/>
                  <a:ea typeface="Calibri"/>
                  <a:cs typeface="Calibri"/>
                  <a:sym typeface="Calibri"/>
                </a:rPr>
                <a:t>Safe Start:</a:t>
              </a:r>
              <a:r>
                <a:rPr b="0" lang="en-US" sz="1000">
                  <a:solidFill>
                    <a:srgbClr val="E8F4FD"/>
                  </a:solidFill>
                  <a:latin typeface="Calibri"/>
                  <a:ea typeface="Calibri"/>
                  <a:cs typeface="Calibri"/>
                  <a:sym typeface="Calibri"/>
                </a:rPr>
                <a:t> New entries begin at half-confidence to filter noise.</a:t>
              </a:r>
              <a:endParaRPr b="0" sz="1000">
                <a:solidFill>
                  <a:srgbClr val="E8F4FD"/>
                </a:solidFill>
                <a:latin typeface="Calibri"/>
                <a:ea typeface="Calibri"/>
                <a:cs typeface="Calibri"/>
                <a:sym typeface="Calibri"/>
              </a:endParaRPr>
            </a:p>
          </p:txBody>
        </p:sp>
      </p:grpSp>
      <p:grpSp>
        <p:nvGrpSpPr>
          <p:cNvPr id="96" name="Google Shape;96;g3e073069206_0_60"/>
          <p:cNvGrpSpPr/>
          <p:nvPr/>
        </p:nvGrpSpPr>
        <p:grpSpPr>
          <a:xfrm>
            <a:off x="4667250" y="762000"/>
            <a:ext cx="4191000" cy="4095900"/>
            <a:chOff x="0" y="0"/>
            <a:chExt cx="4191000" cy="4095900"/>
          </a:xfrm>
        </p:grpSpPr>
        <p:sp>
          <p:nvSpPr>
            <p:cNvPr id="97" name="Google Shape;97;g3e073069206_0_60"/>
            <p:cNvSpPr/>
            <p:nvPr/>
          </p:nvSpPr>
          <p:spPr>
            <a:xfrm>
              <a:off x="0" y="0"/>
              <a:ext cx="4191000" cy="4095900"/>
            </a:xfrm>
            <a:prstGeom prst="roundRect">
              <a:avLst>
                <a:gd fmla="val 1860" name="adj"/>
              </a:avLst>
            </a:prstGeom>
            <a:solidFill>
              <a:srgbClr val="0D2137"/>
            </a:solidFill>
            <a:ln cap="flat" cmpd="sng" w="19050">
              <a:solidFill>
                <a:srgbClr val="EF476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8" name="Google Shape;98;g3e073069206_0_60"/>
            <p:cNvSpPr/>
            <p:nvPr/>
          </p:nvSpPr>
          <p:spPr>
            <a:xfrm>
              <a:off x="0" y="0"/>
              <a:ext cx="4191000" cy="381000"/>
            </a:xfrm>
            <a:prstGeom prst="roundRect">
              <a:avLst>
                <a:gd fmla="val 20000" name="adj"/>
              </a:avLst>
            </a:prstGeom>
            <a:solidFill>
              <a:schemeClr val="accent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9" name="Google Shape;99;g3e073069206_0_60"/>
            <p:cNvSpPr txBox="1"/>
            <p:nvPr/>
          </p:nvSpPr>
          <p:spPr>
            <a:xfrm>
              <a:off x="142875" y="0"/>
              <a:ext cx="39054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400">
                  <a:solidFill>
                    <a:srgbClr val="0A1628"/>
                  </a:solidFill>
                  <a:latin typeface="Calibri"/>
                  <a:ea typeface="Calibri"/>
                  <a:cs typeface="Calibri"/>
                  <a:sym typeface="Calibri"/>
                </a:rPr>
                <a:t>Rollback &amp; Recovery Process</a:t>
              </a:r>
              <a:endParaRPr b="1" sz="1400">
                <a:solidFill>
                  <a:srgbClr val="0A1628"/>
                </a:solidFill>
                <a:latin typeface="Calibri"/>
                <a:ea typeface="Calibri"/>
                <a:cs typeface="Calibri"/>
                <a:sym typeface="Calibri"/>
              </a:endParaRPr>
            </a:p>
          </p:txBody>
        </p:sp>
        <p:sp>
          <p:nvSpPr>
            <p:cNvPr id="100" name="Google Shape;100;g3e073069206_0_60"/>
            <p:cNvSpPr txBox="1"/>
            <p:nvPr/>
          </p:nvSpPr>
          <p:spPr>
            <a:xfrm>
              <a:off x="142875" y="523875"/>
              <a:ext cx="3905400" cy="1714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000">
                  <a:solidFill>
                    <a:schemeClr val="accent4"/>
                  </a:solidFill>
                  <a:latin typeface="Calibri"/>
                  <a:ea typeface="Calibri"/>
                  <a:cs typeface="Calibri"/>
                  <a:sym typeface="Calibri"/>
                </a:rPr>
                <a:t>THE RECOVERY SEQUENCE</a:t>
              </a:r>
              <a:endParaRPr b="1" sz="1000">
                <a:solidFill>
                  <a:schemeClr val="accent4"/>
                </a:solidFill>
                <a:latin typeface="Calibri"/>
                <a:ea typeface="Calibri"/>
                <a:cs typeface="Calibri"/>
                <a:sym typeface="Calibri"/>
              </a:endParaRPr>
            </a:p>
            <a:p>
              <a:pPr indent="-292100" lvl="0" marL="457200" rtl="0" algn="l">
                <a:spcBef>
                  <a:spcPts val="750"/>
                </a:spcBef>
                <a:spcAft>
                  <a:spcPts val="0"/>
                </a:spcAft>
                <a:buClr>
                  <a:srgbClr val="E8F4FD"/>
                </a:buClr>
                <a:buSzPts val="1000"/>
                <a:buFont typeface="Calibri"/>
                <a:buChar char="●"/>
              </a:pPr>
              <a:r>
                <a:rPr b="0" lang="en-US" sz="1000">
                  <a:solidFill>
                    <a:srgbClr val="E8F4FD"/>
                  </a:solidFill>
                  <a:latin typeface="Calibri"/>
                  <a:ea typeface="Calibri"/>
                  <a:cs typeface="Calibri"/>
                  <a:sym typeface="Calibri"/>
                </a:rPr>
                <a:t>Triggered when a high-confidence prediction is found incorrect.</a:t>
              </a:r>
              <a:endParaRPr b="0" sz="1000">
                <a:solidFill>
                  <a:srgbClr val="E8F4FD"/>
                </a:solidFill>
                <a:latin typeface="Calibri"/>
                <a:ea typeface="Calibri"/>
                <a:cs typeface="Calibri"/>
                <a:sym typeface="Calibri"/>
              </a:endParaRPr>
            </a:p>
            <a:p>
              <a:pPr indent="0" lvl="0" marL="0" rtl="0" algn="l">
                <a:spcBef>
                  <a:spcPts val="450"/>
                </a:spcBef>
                <a:spcAft>
                  <a:spcPts val="0"/>
                </a:spcAft>
                <a:buNone/>
              </a:pPr>
              <a:r>
                <a:rPr b="1" lang="en-US" sz="1000">
                  <a:solidFill>
                    <a:srgbClr val="E8F4FD"/>
                  </a:solidFill>
                  <a:latin typeface="Calibri"/>
                  <a:ea typeface="Calibri"/>
                  <a:cs typeface="Calibri"/>
                  <a:sym typeface="Calibri"/>
                </a:rPr>
                <a:t>FULL SQUASH: </a:t>
              </a:r>
              <a:endParaRPr b="1" sz="1000">
                <a:solidFill>
                  <a:srgbClr val="E8F4FD"/>
                </a:solidFill>
                <a:latin typeface="Calibri"/>
                <a:ea typeface="Calibri"/>
                <a:cs typeface="Calibri"/>
                <a:sym typeface="Calibri"/>
              </a:endParaRPr>
            </a:p>
            <a:p>
              <a:pPr indent="-292100" lvl="0" marL="457200" rtl="0" algn="l">
                <a:spcBef>
                  <a:spcPts val="450"/>
                </a:spcBef>
                <a:spcAft>
                  <a:spcPts val="0"/>
                </a:spcAft>
                <a:buClr>
                  <a:srgbClr val="E8F4FD"/>
                </a:buClr>
                <a:buSzPts val="1000"/>
                <a:buFont typeface="Calibri"/>
                <a:buChar char="●"/>
              </a:pPr>
              <a:r>
                <a:rPr b="1" lang="en-US" sz="1000">
                  <a:solidFill>
                    <a:srgbClr val="E8F4FD"/>
                  </a:solidFill>
                  <a:latin typeface="Calibri"/>
                  <a:ea typeface="Calibri"/>
                  <a:cs typeface="Calibri"/>
                  <a:sym typeface="Calibri"/>
                </a:rPr>
                <a:t>VPQ Wipe: </a:t>
              </a:r>
              <a:r>
                <a:rPr lang="en-US" sz="1000">
                  <a:solidFill>
                    <a:srgbClr val="E8F4FD"/>
                  </a:solidFill>
                  <a:latin typeface="Calibri"/>
                  <a:ea typeface="Calibri"/>
                  <a:cs typeface="Calibri"/>
                  <a:sym typeface="Calibri"/>
                </a:rPr>
                <a:t>Head pointer/phase = Tail Pointer/phase</a:t>
              </a:r>
              <a:endParaRPr sz="1000">
                <a:solidFill>
                  <a:srgbClr val="E8F4FD"/>
                </a:solidFill>
                <a:latin typeface="Calibri"/>
                <a:ea typeface="Calibri"/>
                <a:cs typeface="Calibri"/>
                <a:sym typeface="Calibri"/>
              </a:endParaRPr>
            </a:p>
            <a:p>
              <a:pPr indent="-292100" lvl="0" marL="457200" rtl="0" algn="l">
                <a:spcBef>
                  <a:spcPts val="0"/>
                </a:spcBef>
                <a:spcAft>
                  <a:spcPts val="0"/>
                </a:spcAft>
                <a:buClr>
                  <a:srgbClr val="E8F4FD"/>
                </a:buClr>
                <a:buSzPts val="1000"/>
                <a:buFont typeface="Calibri"/>
                <a:buChar char="●"/>
              </a:pPr>
              <a:r>
                <a:rPr b="1" lang="en-US" sz="1000">
                  <a:solidFill>
                    <a:srgbClr val="E8F4FD"/>
                  </a:solidFill>
                  <a:latin typeface="Calibri"/>
                  <a:ea typeface="Calibri"/>
                  <a:cs typeface="Calibri"/>
                  <a:sym typeface="Calibri"/>
                </a:rPr>
                <a:t>Instance Clear: </a:t>
              </a:r>
              <a:r>
                <a:rPr lang="en-US" sz="1000">
                  <a:solidFill>
                    <a:srgbClr val="E8F4FD"/>
                  </a:solidFill>
                  <a:latin typeface="Calibri"/>
                  <a:ea typeface="Calibri"/>
                  <a:cs typeface="Calibri"/>
                  <a:sym typeface="Calibri"/>
                </a:rPr>
                <a:t>SVP instance counters are erased</a:t>
              </a:r>
              <a:endParaRPr sz="1000">
                <a:solidFill>
                  <a:srgbClr val="E8F4FD"/>
                </a:solidFill>
                <a:latin typeface="Calibri"/>
                <a:ea typeface="Calibri"/>
                <a:cs typeface="Calibri"/>
                <a:sym typeface="Calibri"/>
              </a:endParaRPr>
            </a:p>
            <a:p>
              <a:pPr indent="-292100" lvl="0" marL="457200" rtl="0" algn="l">
                <a:spcBef>
                  <a:spcPts val="0"/>
                </a:spcBef>
                <a:spcAft>
                  <a:spcPts val="0"/>
                </a:spcAft>
                <a:buClr>
                  <a:srgbClr val="E8F4FD"/>
                </a:buClr>
                <a:buSzPts val="1000"/>
                <a:buFont typeface="Calibri"/>
                <a:buChar char="●"/>
              </a:pPr>
              <a:r>
                <a:rPr b="1" lang="en-US" sz="1000">
                  <a:solidFill>
                    <a:srgbClr val="E8F4FD"/>
                  </a:solidFill>
                  <a:latin typeface="Calibri"/>
                  <a:ea typeface="Calibri"/>
                  <a:cs typeface="Calibri"/>
                  <a:sym typeface="Calibri"/>
                </a:rPr>
                <a:t>Architectural GBHR: </a:t>
              </a:r>
              <a:r>
                <a:rPr lang="en-US" sz="1000">
                  <a:solidFill>
                    <a:srgbClr val="E8F4FD"/>
                  </a:solidFill>
                  <a:latin typeface="Calibri"/>
                  <a:ea typeface="Calibri"/>
                  <a:cs typeface="Calibri"/>
                  <a:sym typeface="Calibri"/>
                </a:rPr>
                <a:t>Global GBHR is restored to architectural GBHR which is only modified after retired instructions. </a:t>
              </a:r>
              <a:endParaRPr sz="1000">
                <a:solidFill>
                  <a:srgbClr val="E8F4FD"/>
                </a:solidFill>
                <a:latin typeface="Calibri"/>
                <a:ea typeface="Calibri"/>
                <a:cs typeface="Calibri"/>
                <a:sym typeface="Calibri"/>
              </a:endParaRPr>
            </a:p>
            <a:p>
              <a:pPr indent="0" lvl="0" marL="0" rtl="0" algn="l">
                <a:spcBef>
                  <a:spcPts val="450"/>
                </a:spcBef>
                <a:spcAft>
                  <a:spcPts val="0"/>
                </a:spcAft>
                <a:buNone/>
              </a:pPr>
              <a:r>
                <a:rPr b="1" lang="en-US" sz="1000">
                  <a:solidFill>
                    <a:srgbClr val="E8F4FD"/>
                  </a:solidFill>
                  <a:latin typeface="Calibri"/>
                  <a:ea typeface="Calibri"/>
                  <a:cs typeface="Calibri"/>
                  <a:sym typeface="Calibri"/>
                </a:rPr>
                <a:t>Partial Rollback</a:t>
              </a:r>
              <a:endParaRPr b="1" sz="1000">
                <a:solidFill>
                  <a:srgbClr val="E8F4FD"/>
                </a:solidFill>
                <a:latin typeface="Calibri"/>
                <a:ea typeface="Calibri"/>
                <a:cs typeface="Calibri"/>
                <a:sym typeface="Calibri"/>
              </a:endParaRPr>
            </a:p>
            <a:p>
              <a:pPr indent="-292100" lvl="0" marL="457200" rtl="0" algn="l">
                <a:spcBef>
                  <a:spcPts val="450"/>
                </a:spcBef>
                <a:spcAft>
                  <a:spcPts val="0"/>
                </a:spcAft>
                <a:buClr>
                  <a:srgbClr val="E8F4FD"/>
                </a:buClr>
                <a:buSzPts val="1000"/>
                <a:buFont typeface="Calibri"/>
                <a:buChar char="●"/>
              </a:pPr>
              <a:r>
                <a:rPr b="1" lang="en-US" sz="1000">
                  <a:solidFill>
                    <a:srgbClr val="E8F4FD"/>
                  </a:solidFill>
                  <a:latin typeface="Calibri"/>
                  <a:ea typeface="Calibri"/>
                  <a:cs typeface="Calibri"/>
                  <a:sym typeface="Calibri"/>
                </a:rPr>
                <a:t>VPQ Rewind:</a:t>
              </a:r>
              <a:r>
                <a:rPr b="0" lang="en-US" sz="1000">
                  <a:solidFill>
                    <a:srgbClr val="E8F4FD"/>
                  </a:solidFill>
                  <a:latin typeface="Calibri"/>
                  <a:ea typeface="Calibri"/>
                  <a:cs typeface="Calibri"/>
                  <a:sym typeface="Calibri"/>
                </a:rPr>
                <a:t> </a:t>
              </a:r>
              <a:r>
                <a:rPr lang="en-US" sz="1000">
                  <a:solidFill>
                    <a:srgbClr val="E8F4FD"/>
                  </a:solidFill>
                  <a:latin typeface="Calibri"/>
                  <a:ea typeface="Calibri"/>
                  <a:cs typeface="Calibri"/>
                  <a:sym typeface="Calibri"/>
                </a:rPr>
                <a:t>Current tail pointer is returned to checkpointed tail pointer/phase.</a:t>
              </a:r>
              <a:r>
                <a:rPr b="0" lang="en-US" sz="1000">
                  <a:solidFill>
                    <a:srgbClr val="E8F4FD"/>
                  </a:solidFill>
                  <a:latin typeface="Calibri"/>
                  <a:ea typeface="Calibri"/>
                  <a:cs typeface="Calibri"/>
                  <a:sym typeface="Calibri"/>
                </a:rPr>
                <a:t> SV</a:t>
              </a:r>
              <a:r>
                <a:rPr lang="en-US" sz="1000">
                  <a:solidFill>
                    <a:srgbClr val="E8F4FD"/>
                  </a:solidFill>
                  <a:latin typeface="Calibri"/>
                  <a:ea typeface="Calibri"/>
                  <a:cs typeface="Calibri"/>
                  <a:sym typeface="Calibri"/>
                </a:rPr>
                <a:t>P instance is decremented for each VPQ entry rewinded.</a:t>
              </a:r>
              <a:endParaRPr b="0" sz="1000">
                <a:solidFill>
                  <a:srgbClr val="E8F4FD"/>
                </a:solidFill>
                <a:latin typeface="Calibri"/>
                <a:ea typeface="Calibri"/>
                <a:cs typeface="Calibri"/>
                <a:sym typeface="Calibri"/>
              </a:endParaRPr>
            </a:p>
            <a:p>
              <a:pPr indent="-292100" lvl="0" marL="457200" rtl="0" algn="l">
                <a:spcBef>
                  <a:spcPts val="450"/>
                </a:spcBef>
                <a:spcAft>
                  <a:spcPts val="0"/>
                </a:spcAft>
                <a:buClr>
                  <a:srgbClr val="E8F4FD"/>
                </a:buClr>
                <a:buSzPts val="1000"/>
                <a:buFont typeface="Calibri"/>
                <a:buChar char="●"/>
              </a:pPr>
              <a:r>
                <a:rPr b="1" lang="en-US" sz="1000">
                  <a:solidFill>
                    <a:srgbClr val="E8F4FD"/>
                  </a:solidFill>
                  <a:latin typeface="Calibri"/>
                  <a:ea typeface="Calibri"/>
                  <a:cs typeface="Calibri"/>
                  <a:sym typeface="Calibri"/>
                </a:rPr>
                <a:t>State Correction:</a:t>
              </a:r>
              <a:r>
                <a:rPr b="0" lang="en-US" sz="1000">
                  <a:solidFill>
                    <a:srgbClr val="E8F4FD"/>
                  </a:solidFill>
                  <a:latin typeface="Calibri"/>
                  <a:ea typeface="Calibri"/>
                  <a:cs typeface="Calibri"/>
                  <a:sym typeface="Calibri"/>
                </a:rPr>
                <a:t> </a:t>
              </a:r>
              <a:r>
                <a:rPr lang="en-US" sz="1000">
                  <a:solidFill>
                    <a:srgbClr val="E8F4FD"/>
                  </a:solidFill>
                  <a:latin typeface="Calibri"/>
                  <a:ea typeface="Calibri"/>
                  <a:cs typeface="Calibri"/>
                  <a:sym typeface="Calibri"/>
                </a:rPr>
                <a:t>Restore Global GBHR to the checkpointed GBHR stored with conflicting instruction. </a:t>
              </a:r>
              <a:endParaRPr b="0" sz="1000">
                <a:solidFill>
                  <a:srgbClr val="E8F4FD"/>
                </a:solidFill>
                <a:latin typeface="Calibri"/>
                <a:ea typeface="Calibri"/>
                <a:cs typeface="Calibri"/>
                <a:sym typeface="Calibri"/>
              </a:endParaRPr>
            </a:p>
            <a:p>
              <a:pPr indent="0" lvl="0" marL="457200" rtl="0" algn="l">
                <a:spcBef>
                  <a:spcPts val="450"/>
                </a:spcBef>
                <a:spcAft>
                  <a:spcPts val="450"/>
                </a:spcAft>
                <a:buNone/>
              </a:pPr>
              <a:r>
                <a:t/>
              </a:r>
              <a:endParaRPr b="0" sz="1000">
                <a:solidFill>
                  <a:srgbClr val="E8F4FD"/>
                </a:solidFill>
                <a:latin typeface="Calibri"/>
                <a:ea typeface="Calibri"/>
                <a:cs typeface="Calibri"/>
                <a:sym typeface="Calibri"/>
              </a:endParaRPr>
            </a:p>
          </p:txBody>
        </p:sp>
      </p:grpSp>
      <p:sp>
        <p:nvSpPr>
          <p:cNvPr id="101" name="Google Shape;101;g3e073069206_0_60"/>
          <p:cNvSpPr/>
          <p:nvPr/>
        </p:nvSpPr>
        <p:spPr>
          <a:xfrm>
            <a:off x="365760" y="502920"/>
            <a:ext cx="2286000" cy="36600"/>
          </a:xfrm>
          <a:prstGeom prst="rect">
            <a:avLst/>
          </a:prstGeom>
          <a:solidFill>
            <a:srgbClr val="00B4D8"/>
          </a:solidFill>
          <a:ln cap="flat" cmpd="sng" w="12700">
            <a:solidFill>
              <a:srgbClr val="00B4D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628"/>
        </a:solidFill>
      </p:bgPr>
    </p:bg>
    <p:spTree>
      <p:nvGrpSpPr>
        <p:cNvPr id="106" name="Shape 106"/>
        <p:cNvGrpSpPr/>
        <p:nvPr/>
      </p:nvGrpSpPr>
      <p:grpSpPr>
        <a:xfrm>
          <a:off x="0" y="0"/>
          <a:ext cx="0" cy="0"/>
          <a:chOff x="0" y="0"/>
          <a:chExt cx="0" cy="0"/>
        </a:xfrm>
      </p:grpSpPr>
      <p:sp>
        <p:nvSpPr>
          <p:cNvPr id="107" name="Google Shape;107;p4"/>
          <p:cNvSpPr/>
          <p:nvPr/>
        </p:nvSpPr>
        <p:spPr>
          <a:xfrm>
            <a:off x="0" y="0"/>
            <a:ext cx="9144000" cy="502920"/>
          </a:xfrm>
          <a:prstGeom prst="rect">
            <a:avLst/>
          </a:prstGeom>
          <a:solidFill>
            <a:srgbClr val="0D2137"/>
          </a:solidFill>
          <a:ln cap="flat" cmpd="sng" w="12700">
            <a:solidFill>
              <a:srgbClr val="0D2137"/>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8" name="Google Shape;108;p4"/>
          <p:cNvSpPr/>
          <p:nvPr/>
        </p:nvSpPr>
        <p:spPr>
          <a:xfrm>
            <a:off x="365760" y="73152"/>
            <a:ext cx="82296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200"/>
              <a:buFont typeface="Calibri"/>
              <a:buNone/>
            </a:pPr>
            <a:r>
              <a:rPr b="1" lang="en-US" sz="2200">
                <a:solidFill>
                  <a:srgbClr val="FFFFFF"/>
                </a:solidFill>
                <a:latin typeface="Calibri"/>
                <a:ea typeface="Calibri"/>
                <a:cs typeface="Calibri"/>
                <a:sym typeface="Calibri"/>
              </a:rPr>
              <a:t>Hybrid Prediction Policies</a:t>
            </a:r>
            <a:endParaRPr sz="2200">
              <a:solidFill>
                <a:schemeClr val="dk1"/>
              </a:solidFill>
              <a:latin typeface="Calibri"/>
              <a:ea typeface="Calibri"/>
              <a:cs typeface="Calibri"/>
              <a:sym typeface="Calibri"/>
            </a:endParaRPr>
          </a:p>
        </p:txBody>
      </p:sp>
      <p:sp>
        <p:nvSpPr>
          <p:cNvPr id="109" name="Google Shape;109;p4"/>
          <p:cNvSpPr/>
          <p:nvPr/>
        </p:nvSpPr>
        <p:spPr>
          <a:xfrm>
            <a:off x="365760" y="594360"/>
            <a:ext cx="841248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EACC4"/>
              </a:buClr>
              <a:buSzPts val="1300"/>
              <a:buFont typeface="Calibri"/>
              <a:buNone/>
            </a:pPr>
            <a:r>
              <a:rPr i="1" lang="en-US" sz="1300">
                <a:solidFill>
                  <a:srgbClr val="8EACC4"/>
                </a:solidFill>
                <a:latin typeface="Calibri"/>
                <a:ea typeface="Calibri"/>
                <a:cs typeface="Calibri"/>
                <a:sym typeface="Calibri"/>
              </a:rPr>
              <a:t>The key architectural question: when SVP and VTAGE both have a prediction, which one fires?</a:t>
            </a:r>
            <a:endParaRPr sz="1300">
              <a:solidFill>
                <a:schemeClr val="dk1"/>
              </a:solidFill>
              <a:latin typeface="Calibri"/>
              <a:ea typeface="Calibri"/>
              <a:cs typeface="Calibri"/>
              <a:sym typeface="Calibri"/>
            </a:endParaRPr>
          </a:p>
        </p:txBody>
      </p:sp>
      <p:sp>
        <p:nvSpPr>
          <p:cNvPr id="110" name="Google Shape;110;p4"/>
          <p:cNvSpPr/>
          <p:nvPr/>
        </p:nvSpPr>
        <p:spPr>
          <a:xfrm>
            <a:off x="274320" y="1051560"/>
            <a:ext cx="4160520" cy="3931920"/>
          </a:xfrm>
          <a:prstGeom prst="rect">
            <a:avLst/>
          </a:prstGeom>
          <a:solidFill>
            <a:srgbClr val="0D2137"/>
          </a:solidFill>
          <a:ln cap="flat" cmpd="sng" w="25400">
            <a:solidFill>
              <a:srgbClr val="00B4D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1" name="Google Shape;111;p4"/>
          <p:cNvSpPr/>
          <p:nvPr/>
        </p:nvSpPr>
        <p:spPr>
          <a:xfrm>
            <a:off x="274320" y="1051560"/>
            <a:ext cx="4160520" cy="384048"/>
          </a:xfrm>
          <a:prstGeom prst="rect">
            <a:avLst/>
          </a:prstGeom>
          <a:solidFill>
            <a:srgbClr val="00B4D8"/>
          </a:solidFill>
          <a:ln cap="flat" cmpd="sng" w="12700">
            <a:solidFill>
              <a:srgbClr val="00B4D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2" name="Google Shape;112;p4"/>
          <p:cNvSpPr/>
          <p:nvPr/>
        </p:nvSpPr>
        <p:spPr>
          <a:xfrm>
            <a:off x="365760" y="1097280"/>
            <a:ext cx="397764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A1628"/>
              </a:buClr>
              <a:buSzPts val="1300"/>
              <a:buFont typeface="Calibri"/>
              <a:buNone/>
            </a:pPr>
            <a:r>
              <a:rPr b="1" lang="en-US" sz="1300">
                <a:solidFill>
                  <a:srgbClr val="0A1628"/>
                </a:solidFill>
                <a:latin typeface="Calibri"/>
                <a:ea typeface="Calibri"/>
                <a:cs typeface="Calibri"/>
                <a:sym typeface="Calibri"/>
              </a:rPr>
              <a:t>SVP Supremacy </a:t>
            </a:r>
            <a:endParaRPr sz="1300">
              <a:solidFill>
                <a:schemeClr val="dk1"/>
              </a:solidFill>
              <a:latin typeface="Calibri"/>
              <a:ea typeface="Calibri"/>
              <a:cs typeface="Calibri"/>
              <a:sym typeface="Calibri"/>
            </a:endParaRPr>
          </a:p>
        </p:txBody>
      </p:sp>
      <p:sp>
        <p:nvSpPr>
          <p:cNvPr id="113" name="Google Shape;113;p4"/>
          <p:cNvSpPr/>
          <p:nvPr/>
        </p:nvSpPr>
        <p:spPr>
          <a:xfrm>
            <a:off x="411480" y="1554480"/>
            <a:ext cx="38862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B4D8"/>
              </a:buClr>
              <a:buSzPts val="1100"/>
              <a:buFont typeface="Calibri"/>
              <a:buNone/>
            </a:pPr>
            <a:r>
              <a:rPr b="1" lang="en-US" sz="1100">
                <a:solidFill>
                  <a:srgbClr val="00B4D8"/>
                </a:solidFill>
                <a:latin typeface="Calibri"/>
                <a:ea typeface="Calibri"/>
                <a:cs typeface="Calibri"/>
                <a:sym typeface="Calibri"/>
              </a:rPr>
              <a:t>How it works</a:t>
            </a:r>
            <a:endParaRPr sz="1100">
              <a:solidFill>
                <a:schemeClr val="dk1"/>
              </a:solidFill>
              <a:latin typeface="Calibri"/>
              <a:ea typeface="Calibri"/>
              <a:cs typeface="Calibri"/>
              <a:sym typeface="Calibri"/>
            </a:endParaRPr>
          </a:p>
        </p:txBody>
      </p:sp>
      <p:sp>
        <p:nvSpPr>
          <p:cNvPr id="114" name="Google Shape;114;p4"/>
          <p:cNvSpPr/>
          <p:nvPr/>
        </p:nvSpPr>
        <p:spPr>
          <a:xfrm>
            <a:off x="411480" y="1783080"/>
            <a:ext cx="3886200" cy="9601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8F4FD"/>
              </a:buClr>
              <a:buSzPts val="1100"/>
              <a:buFont typeface="Calibri"/>
              <a:buNone/>
            </a:pPr>
            <a:r>
              <a:rPr lang="en-US" sz="1100">
                <a:solidFill>
                  <a:srgbClr val="E8F4FD"/>
                </a:solidFill>
                <a:latin typeface="Calibri"/>
                <a:ea typeface="Calibri"/>
                <a:cs typeface="Calibri"/>
                <a:sym typeface="Calibri"/>
              </a:rPr>
              <a:t>When SVP reaches maximum confidence, it overrides VTAGE entirely — regardless of VTAGE's confidence level. SVP is treated as the ground truth for stride-predictable instructions. SVP is listed as alternate for potential allocation blocking.</a:t>
            </a:r>
            <a:endParaRPr sz="1100">
              <a:solidFill>
                <a:schemeClr val="dk1"/>
              </a:solidFill>
              <a:latin typeface="Calibri"/>
              <a:ea typeface="Calibri"/>
              <a:cs typeface="Calibri"/>
              <a:sym typeface="Calibri"/>
            </a:endParaRPr>
          </a:p>
        </p:txBody>
      </p:sp>
      <p:sp>
        <p:nvSpPr>
          <p:cNvPr id="115" name="Google Shape;115;p4"/>
          <p:cNvSpPr/>
          <p:nvPr/>
        </p:nvSpPr>
        <p:spPr>
          <a:xfrm>
            <a:off x="411480" y="2834640"/>
            <a:ext cx="38862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6D6A0"/>
              </a:buClr>
              <a:buSzPts val="1100"/>
              <a:buFont typeface="Calibri"/>
              <a:buNone/>
            </a:pPr>
            <a:r>
              <a:rPr b="1" lang="en-US" sz="1100">
                <a:solidFill>
                  <a:srgbClr val="06D6A0"/>
                </a:solidFill>
                <a:latin typeface="Calibri"/>
                <a:ea typeface="Calibri"/>
                <a:cs typeface="Calibri"/>
                <a:sym typeface="Calibri"/>
              </a:rPr>
              <a:t>Why it makes sense</a:t>
            </a:r>
            <a:endParaRPr sz="1100">
              <a:solidFill>
                <a:schemeClr val="dk1"/>
              </a:solidFill>
              <a:latin typeface="Calibri"/>
              <a:ea typeface="Calibri"/>
              <a:cs typeface="Calibri"/>
              <a:sym typeface="Calibri"/>
            </a:endParaRPr>
          </a:p>
        </p:txBody>
      </p:sp>
      <p:sp>
        <p:nvSpPr>
          <p:cNvPr id="116" name="Google Shape;116;p4"/>
          <p:cNvSpPr/>
          <p:nvPr/>
        </p:nvSpPr>
        <p:spPr>
          <a:xfrm>
            <a:off x="411480" y="3063240"/>
            <a:ext cx="3886200" cy="914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8F4FD"/>
              </a:buClr>
              <a:buSzPts val="1100"/>
              <a:buFont typeface="Calibri"/>
              <a:buNone/>
            </a:pPr>
            <a:r>
              <a:rPr lang="en-US" sz="1100">
                <a:solidFill>
                  <a:srgbClr val="E8F4FD"/>
                </a:solidFill>
                <a:latin typeface="Calibri"/>
                <a:ea typeface="Calibri"/>
                <a:cs typeface="Calibri"/>
                <a:sym typeface="Calibri"/>
              </a:rPr>
              <a:t>SVP's mathematical model is deterministic and highly accurate on simple patterns. Letting it take precedence prevents VTAGE from corrupting clean stride predictions.</a:t>
            </a:r>
            <a:endParaRPr sz="1100">
              <a:solidFill>
                <a:schemeClr val="dk1"/>
              </a:solidFill>
              <a:latin typeface="Calibri"/>
              <a:ea typeface="Calibri"/>
              <a:cs typeface="Calibri"/>
              <a:sym typeface="Calibri"/>
            </a:endParaRPr>
          </a:p>
        </p:txBody>
      </p:sp>
      <p:sp>
        <p:nvSpPr>
          <p:cNvPr id="117" name="Google Shape;117;p4"/>
          <p:cNvSpPr/>
          <p:nvPr/>
        </p:nvSpPr>
        <p:spPr>
          <a:xfrm>
            <a:off x="411480" y="4050792"/>
            <a:ext cx="38862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6B35"/>
              </a:buClr>
              <a:buSzPts val="1100"/>
              <a:buFont typeface="Calibri"/>
              <a:buNone/>
            </a:pPr>
            <a:r>
              <a:rPr b="1" lang="en-US" sz="1100">
                <a:solidFill>
                  <a:srgbClr val="FF6B35"/>
                </a:solidFill>
                <a:latin typeface="Calibri"/>
                <a:ea typeface="Calibri"/>
                <a:cs typeface="Calibri"/>
                <a:sym typeface="Calibri"/>
              </a:rPr>
              <a:t>Trade-off</a:t>
            </a:r>
            <a:endParaRPr sz="1100">
              <a:solidFill>
                <a:schemeClr val="dk1"/>
              </a:solidFill>
              <a:latin typeface="Calibri"/>
              <a:ea typeface="Calibri"/>
              <a:cs typeface="Calibri"/>
              <a:sym typeface="Calibri"/>
            </a:endParaRPr>
          </a:p>
        </p:txBody>
      </p:sp>
      <p:sp>
        <p:nvSpPr>
          <p:cNvPr id="118" name="Google Shape;118;p4"/>
          <p:cNvSpPr/>
          <p:nvPr/>
        </p:nvSpPr>
        <p:spPr>
          <a:xfrm>
            <a:off x="411480" y="4270248"/>
            <a:ext cx="3886200" cy="5943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EACC4"/>
              </a:buClr>
              <a:buSzPts val="1050"/>
              <a:buFont typeface="Calibri"/>
              <a:buNone/>
            </a:pPr>
            <a:r>
              <a:rPr lang="en-US" sz="1050">
                <a:solidFill>
                  <a:srgbClr val="8EACC4"/>
                </a:solidFill>
                <a:latin typeface="Calibri"/>
                <a:ea typeface="Calibri"/>
                <a:cs typeface="Calibri"/>
                <a:sym typeface="Calibri"/>
              </a:rPr>
              <a:t>VTAGE entries that have spent 63 correct predictions proving themselves can still be overridden by SVP, wasting that learned state.</a:t>
            </a:r>
            <a:endParaRPr sz="1050">
              <a:solidFill>
                <a:schemeClr val="dk1"/>
              </a:solidFill>
              <a:latin typeface="Calibri"/>
              <a:ea typeface="Calibri"/>
              <a:cs typeface="Calibri"/>
              <a:sym typeface="Calibri"/>
            </a:endParaRPr>
          </a:p>
        </p:txBody>
      </p:sp>
      <p:sp>
        <p:nvSpPr>
          <p:cNvPr id="119" name="Google Shape;119;p4"/>
          <p:cNvSpPr/>
          <p:nvPr/>
        </p:nvSpPr>
        <p:spPr>
          <a:xfrm>
            <a:off x="4709160" y="1051560"/>
            <a:ext cx="4160520" cy="3931920"/>
          </a:xfrm>
          <a:prstGeom prst="rect">
            <a:avLst/>
          </a:prstGeom>
          <a:solidFill>
            <a:srgbClr val="0D2137"/>
          </a:solidFill>
          <a:ln cap="flat" cmpd="sng" w="25400">
            <a:solidFill>
              <a:srgbClr val="FFD16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0" name="Google Shape;120;p4"/>
          <p:cNvSpPr/>
          <p:nvPr/>
        </p:nvSpPr>
        <p:spPr>
          <a:xfrm>
            <a:off x="4709160" y="1051560"/>
            <a:ext cx="4160520" cy="384048"/>
          </a:xfrm>
          <a:prstGeom prst="rect">
            <a:avLst/>
          </a:prstGeom>
          <a:solidFill>
            <a:srgbClr val="FFD166"/>
          </a:solidFill>
          <a:ln cap="flat" cmpd="sng" w="12700">
            <a:solidFill>
              <a:srgbClr val="FFD16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1" name="Google Shape;121;p4"/>
          <p:cNvSpPr/>
          <p:nvPr/>
        </p:nvSpPr>
        <p:spPr>
          <a:xfrm>
            <a:off x="4800600" y="1097280"/>
            <a:ext cx="397764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A1628"/>
              </a:buClr>
              <a:buSzPts val="1300"/>
              <a:buFont typeface="Calibri"/>
              <a:buNone/>
            </a:pPr>
            <a:r>
              <a:rPr b="1" lang="en-US" sz="1300">
                <a:solidFill>
                  <a:srgbClr val="0A1628"/>
                </a:solidFill>
                <a:latin typeface="Calibri"/>
                <a:ea typeface="Calibri"/>
                <a:cs typeface="Calibri"/>
                <a:sym typeface="Calibri"/>
              </a:rPr>
              <a:t>Modified SVP Supremacy </a:t>
            </a:r>
            <a:endParaRPr sz="1300">
              <a:solidFill>
                <a:schemeClr val="dk1"/>
              </a:solidFill>
              <a:latin typeface="Calibri"/>
              <a:ea typeface="Calibri"/>
              <a:cs typeface="Calibri"/>
              <a:sym typeface="Calibri"/>
            </a:endParaRPr>
          </a:p>
        </p:txBody>
      </p:sp>
      <p:sp>
        <p:nvSpPr>
          <p:cNvPr id="122" name="Google Shape;122;p4"/>
          <p:cNvSpPr/>
          <p:nvPr/>
        </p:nvSpPr>
        <p:spPr>
          <a:xfrm>
            <a:off x="4846320" y="1554480"/>
            <a:ext cx="38862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D166"/>
              </a:buClr>
              <a:buSzPts val="1100"/>
              <a:buFont typeface="Calibri"/>
              <a:buNone/>
            </a:pPr>
            <a:r>
              <a:rPr b="1" lang="en-US" sz="1100">
                <a:solidFill>
                  <a:srgbClr val="FFD166"/>
                </a:solidFill>
                <a:latin typeface="Calibri"/>
                <a:ea typeface="Calibri"/>
                <a:cs typeface="Calibri"/>
                <a:sym typeface="Calibri"/>
              </a:rPr>
              <a:t>How it works</a:t>
            </a:r>
            <a:endParaRPr sz="1100">
              <a:solidFill>
                <a:schemeClr val="dk1"/>
              </a:solidFill>
              <a:latin typeface="Calibri"/>
              <a:ea typeface="Calibri"/>
              <a:cs typeface="Calibri"/>
              <a:sym typeface="Calibri"/>
            </a:endParaRPr>
          </a:p>
        </p:txBody>
      </p:sp>
      <p:sp>
        <p:nvSpPr>
          <p:cNvPr id="123" name="Google Shape;123;p4"/>
          <p:cNvSpPr/>
          <p:nvPr/>
        </p:nvSpPr>
        <p:spPr>
          <a:xfrm>
            <a:off x="4846320" y="1783080"/>
            <a:ext cx="3886200" cy="9601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8F4FD"/>
              </a:buClr>
              <a:buSzPts val="1100"/>
              <a:buFont typeface="Calibri"/>
              <a:buNone/>
            </a:pPr>
            <a:r>
              <a:rPr lang="en-US" sz="1100">
                <a:solidFill>
                  <a:srgbClr val="E8F4FD"/>
                </a:solidFill>
                <a:latin typeface="Calibri"/>
                <a:ea typeface="Calibri"/>
                <a:cs typeface="Calibri"/>
                <a:sym typeface="Calibri"/>
              </a:rPr>
              <a:t>SVP overrides VTAGE only when VTAGE has NOT yet reached its maximum confidence. Once VTAGE achieves full confidence (63 correct predictions), it wins — its deeply proven pattern takes priority over SVP. SVP can again block allocation regardless of if it wins.  </a:t>
            </a:r>
            <a:endParaRPr sz="1100">
              <a:solidFill>
                <a:schemeClr val="dk1"/>
              </a:solidFill>
              <a:latin typeface="Calibri"/>
              <a:ea typeface="Calibri"/>
              <a:cs typeface="Calibri"/>
              <a:sym typeface="Calibri"/>
            </a:endParaRPr>
          </a:p>
        </p:txBody>
      </p:sp>
      <p:sp>
        <p:nvSpPr>
          <p:cNvPr id="124" name="Google Shape;124;p4"/>
          <p:cNvSpPr/>
          <p:nvPr/>
        </p:nvSpPr>
        <p:spPr>
          <a:xfrm>
            <a:off x="4846320" y="2834640"/>
            <a:ext cx="38862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6D6A0"/>
              </a:buClr>
              <a:buSzPts val="1100"/>
              <a:buFont typeface="Calibri"/>
              <a:buNone/>
            </a:pPr>
            <a:r>
              <a:rPr b="1" lang="en-US" sz="1100">
                <a:solidFill>
                  <a:srgbClr val="06D6A0"/>
                </a:solidFill>
                <a:latin typeface="Calibri"/>
                <a:ea typeface="Calibri"/>
                <a:cs typeface="Calibri"/>
                <a:sym typeface="Calibri"/>
              </a:rPr>
              <a:t>Why it makes sense</a:t>
            </a:r>
            <a:endParaRPr sz="1100">
              <a:solidFill>
                <a:schemeClr val="dk1"/>
              </a:solidFill>
              <a:latin typeface="Calibri"/>
              <a:ea typeface="Calibri"/>
              <a:cs typeface="Calibri"/>
              <a:sym typeface="Calibri"/>
            </a:endParaRPr>
          </a:p>
        </p:txBody>
      </p:sp>
      <p:sp>
        <p:nvSpPr>
          <p:cNvPr id="125" name="Google Shape;125;p4"/>
          <p:cNvSpPr/>
          <p:nvPr/>
        </p:nvSpPr>
        <p:spPr>
          <a:xfrm>
            <a:off x="4846320" y="3063240"/>
            <a:ext cx="3886200" cy="914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8F4FD"/>
              </a:buClr>
              <a:buSzPts val="1100"/>
              <a:buFont typeface="Calibri"/>
              <a:buNone/>
            </a:pPr>
            <a:r>
              <a:rPr lang="en-US" sz="1100">
                <a:solidFill>
                  <a:srgbClr val="E8F4FD"/>
                </a:solidFill>
                <a:latin typeface="Calibri"/>
                <a:ea typeface="Calibri"/>
                <a:cs typeface="Calibri"/>
                <a:sym typeface="Calibri"/>
              </a:rPr>
              <a:t>A VTAGE entry at conf_max=63 has survived 63+ correct predictions under varying history conditions. This is a stronger proof of correctness than SVP's simpler stride match, especially for complex instructions. Furthermore, VTAGE has a more contextual prediction based on the GBHR. </a:t>
            </a:r>
            <a:endParaRPr sz="1100">
              <a:solidFill>
                <a:schemeClr val="dk1"/>
              </a:solidFill>
              <a:latin typeface="Calibri"/>
              <a:ea typeface="Calibri"/>
              <a:cs typeface="Calibri"/>
              <a:sym typeface="Calibri"/>
            </a:endParaRPr>
          </a:p>
        </p:txBody>
      </p:sp>
      <p:sp>
        <p:nvSpPr>
          <p:cNvPr id="126" name="Google Shape;126;p4"/>
          <p:cNvSpPr/>
          <p:nvPr/>
        </p:nvSpPr>
        <p:spPr>
          <a:xfrm>
            <a:off x="4846320" y="4050792"/>
            <a:ext cx="38862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6B35"/>
              </a:buClr>
              <a:buSzPts val="1100"/>
              <a:buFont typeface="Calibri"/>
              <a:buNone/>
            </a:pPr>
            <a:r>
              <a:rPr b="1" lang="en-US" sz="1100">
                <a:solidFill>
                  <a:srgbClr val="FF6B35"/>
                </a:solidFill>
                <a:latin typeface="Calibri"/>
                <a:ea typeface="Calibri"/>
                <a:cs typeface="Calibri"/>
                <a:sym typeface="Calibri"/>
              </a:rPr>
              <a:t>Trade-off</a:t>
            </a:r>
            <a:endParaRPr sz="1100">
              <a:solidFill>
                <a:schemeClr val="dk1"/>
              </a:solidFill>
              <a:latin typeface="Calibri"/>
              <a:ea typeface="Calibri"/>
              <a:cs typeface="Calibri"/>
              <a:sym typeface="Calibri"/>
            </a:endParaRPr>
          </a:p>
        </p:txBody>
      </p:sp>
      <p:sp>
        <p:nvSpPr>
          <p:cNvPr id="127" name="Google Shape;127;p4"/>
          <p:cNvSpPr/>
          <p:nvPr/>
        </p:nvSpPr>
        <p:spPr>
          <a:xfrm>
            <a:off x="4846320" y="4270248"/>
            <a:ext cx="3886200" cy="5943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EACC4"/>
              </a:buClr>
              <a:buSzPts val="1050"/>
              <a:buFont typeface="Calibri"/>
              <a:buNone/>
            </a:pPr>
            <a:r>
              <a:rPr lang="en-US" sz="1050">
                <a:solidFill>
                  <a:srgbClr val="8EACC4"/>
                </a:solidFill>
                <a:latin typeface="Calibri"/>
                <a:ea typeface="Calibri"/>
                <a:cs typeface="Calibri"/>
                <a:sym typeface="Calibri"/>
              </a:rPr>
              <a:t>Slightly more confident mispredictions from VTAGE on chaotic workloads, mitigated by the high confidence bar and asymmetric penalty.</a:t>
            </a:r>
            <a:endParaRPr sz="1050">
              <a:solidFill>
                <a:schemeClr val="dk1"/>
              </a:solidFill>
              <a:latin typeface="Calibri"/>
              <a:ea typeface="Calibri"/>
              <a:cs typeface="Calibri"/>
              <a:sym typeface="Calibri"/>
            </a:endParaRPr>
          </a:p>
        </p:txBody>
      </p:sp>
      <p:sp>
        <p:nvSpPr>
          <p:cNvPr id="128" name="Google Shape;128;p4"/>
          <p:cNvSpPr/>
          <p:nvPr/>
        </p:nvSpPr>
        <p:spPr>
          <a:xfrm>
            <a:off x="365760" y="502920"/>
            <a:ext cx="2286000" cy="36600"/>
          </a:xfrm>
          <a:prstGeom prst="rect">
            <a:avLst/>
          </a:prstGeom>
          <a:solidFill>
            <a:srgbClr val="00B4D8"/>
          </a:solidFill>
          <a:ln cap="flat" cmpd="sng" w="12700">
            <a:solidFill>
              <a:srgbClr val="00B4D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628"/>
        </a:solidFill>
      </p:bgPr>
    </p:bg>
    <p:spTree>
      <p:nvGrpSpPr>
        <p:cNvPr id="133" name="Shape 133"/>
        <p:cNvGrpSpPr/>
        <p:nvPr/>
      </p:nvGrpSpPr>
      <p:grpSpPr>
        <a:xfrm>
          <a:off x="0" y="0"/>
          <a:ext cx="0" cy="0"/>
          <a:chOff x="0" y="0"/>
          <a:chExt cx="0" cy="0"/>
        </a:xfrm>
      </p:grpSpPr>
      <p:sp>
        <p:nvSpPr>
          <p:cNvPr id="134" name="Google Shape;134;p5"/>
          <p:cNvSpPr/>
          <p:nvPr/>
        </p:nvSpPr>
        <p:spPr>
          <a:xfrm>
            <a:off x="0" y="0"/>
            <a:ext cx="9144000" cy="502800"/>
          </a:xfrm>
          <a:prstGeom prst="rect">
            <a:avLst/>
          </a:prstGeom>
          <a:solidFill>
            <a:srgbClr val="0D2137"/>
          </a:solidFill>
          <a:ln cap="flat" cmpd="sng" w="12700">
            <a:solidFill>
              <a:srgbClr val="0D2137"/>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5" name="Google Shape;135;p5"/>
          <p:cNvSpPr/>
          <p:nvPr/>
        </p:nvSpPr>
        <p:spPr>
          <a:xfrm>
            <a:off x="228600" y="54950"/>
            <a:ext cx="8429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200"/>
              <a:buFont typeface="Calibri"/>
              <a:buNone/>
            </a:pPr>
            <a:r>
              <a:rPr b="1" lang="en-US" sz="2200">
                <a:solidFill>
                  <a:srgbClr val="FFFFFF"/>
                </a:solidFill>
                <a:latin typeface="Calibri"/>
                <a:ea typeface="Calibri"/>
                <a:cs typeface="Calibri"/>
                <a:sym typeface="Calibri"/>
              </a:rPr>
              <a:t>Inspiration from Literature — What We Borrowed &amp; What We Changed</a:t>
            </a:r>
            <a:endParaRPr sz="2200">
              <a:solidFill>
                <a:schemeClr val="dk1"/>
              </a:solidFill>
              <a:latin typeface="Calibri"/>
              <a:ea typeface="Calibri"/>
              <a:cs typeface="Calibri"/>
              <a:sym typeface="Calibri"/>
            </a:endParaRPr>
          </a:p>
        </p:txBody>
      </p:sp>
      <p:sp>
        <p:nvSpPr>
          <p:cNvPr id="136" name="Google Shape;136;p5"/>
          <p:cNvSpPr/>
          <p:nvPr/>
        </p:nvSpPr>
        <p:spPr>
          <a:xfrm>
            <a:off x="228600" y="781050"/>
            <a:ext cx="2743200" cy="4134000"/>
          </a:xfrm>
          <a:prstGeom prst="rect">
            <a:avLst/>
          </a:prstGeom>
          <a:solidFill>
            <a:srgbClr val="0D4F8B"/>
          </a:solidFill>
          <a:ln cap="flat" cmpd="sng" w="19050">
            <a:solidFill>
              <a:srgbClr val="00B4D8"/>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37" name="Google Shape;137;p5"/>
          <p:cNvSpPr/>
          <p:nvPr/>
        </p:nvSpPr>
        <p:spPr>
          <a:xfrm>
            <a:off x="228600" y="781050"/>
            <a:ext cx="2743200" cy="342900"/>
          </a:xfrm>
          <a:prstGeom prst="rect">
            <a:avLst/>
          </a:prstGeom>
          <a:solidFill>
            <a:srgbClr val="00B4D8"/>
          </a:solidFill>
          <a:ln cap="flat" cmpd="sng" w="12700">
            <a:solidFill>
              <a:srgbClr val="00B4D8"/>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38" name="Google Shape;138;p5"/>
          <p:cNvSpPr/>
          <p:nvPr/>
        </p:nvSpPr>
        <p:spPr>
          <a:xfrm>
            <a:off x="228600" y="781050"/>
            <a:ext cx="2743200" cy="342900"/>
          </a:xfrm>
          <a:prstGeom prst="rect">
            <a:avLst/>
          </a:prstGeom>
          <a:solidFill>
            <a:srgbClr val="000000">
              <a:alpha val="0"/>
            </a:srgbClr>
          </a:solidFill>
          <a:ln>
            <a:noFill/>
          </a:ln>
        </p:spPr>
        <p:txBody>
          <a:bodyPr anchorCtr="0" anchor="ctr" bIns="0" lIns="95250" spcFirstLastPara="1" rIns="95250" wrap="square" tIns="0">
            <a:noAutofit/>
          </a:bodyPr>
          <a:lstStyle/>
          <a:p>
            <a:pPr indent="0" lvl="0" marL="0" rtl="0" algn="ctr">
              <a:spcBef>
                <a:spcPts val="0"/>
              </a:spcBef>
              <a:spcAft>
                <a:spcPts val="0"/>
              </a:spcAft>
              <a:buNone/>
            </a:pPr>
            <a:r>
              <a:rPr b="1" lang="en-US" sz="1150">
                <a:solidFill>
                  <a:srgbClr val="FFFFFF"/>
                </a:solidFill>
                <a:latin typeface="Calibri"/>
                <a:ea typeface="Calibri"/>
                <a:cs typeface="Calibri"/>
                <a:sym typeface="Calibri"/>
              </a:rPr>
              <a:t>Borrowed from Literature</a:t>
            </a:r>
            <a:endParaRPr b="1" sz="1150">
              <a:solidFill>
                <a:srgbClr val="FFFFFF"/>
              </a:solidFill>
              <a:latin typeface="Calibri"/>
              <a:ea typeface="Calibri"/>
              <a:cs typeface="Calibri"/>
              <a:sym typeface="Calibri"/>
            </a:endParaRPr>
          </a:p>
        </p:txBody>
      </p:sp>
      <p:sp>
        <p:nvSpPr>
          <p:cNvPr id="139" name="Google Shape;139;p5"/>
          <p:cNvSpPr/>
          <p:nvPr/>
        </p:nvSpPr>
        <p:spPr>
          <a:xfrm>
            <a:off x="3200400" y="781050"/>
            <a:ext cx="2743200" cy="4134000"/>
          </a:xfrm>
          <a:prstGeom prst="rect">
            <a:avLst/>
          </a:prstGeom>
          <a:solidFill>
            <a:srgbClr val="0D2E1A"/>
          </a:solidFill>
          <a:ln cap="flat" cmpd="sng" w="19050">
            <a:solidFill>
              <a:srgbClr val="06D6A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40" name="Google Shape;140;p5"/>
          <p:cNvSpPr/>
          <p:nvPr/>
        </p:nvSpPr>
        <p:spPr>
          <a:xfrm>
            <a:off x="3200400" y="781050"/>
            <a:ext cx="2743200" cy="342900"/>
          </a:xfrm>
          <a:prstGeom prst="rect">
            <a:avLst/>
          </a:prstGeom>
          <a:solidFill>
            <a:srgbClr val="06D6A0"/>
          </a:solidFill>
          <a:ln cap="flat" cmpd="sng" w="12700">
            <a:solidFill>
              <a:srgbClr val="06D6A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41" name="Google Shape;141;p5"/>
          <p:cNvSpPr/>
          <p:nvPr/>
        </p:nvSpPr>
        <p:spPr>
          <a:xfrm>
            <a:off x="3200400" y="781050"/>
            <a:ext cx="2743200" cy="342900"/>
          </a:xfrm>
          <a:prstGeom prst="rect">
            <a:avLst/>
          </a:prstGeom>
          <a:solidFill>
            <a:srgbClr val="000000">
              <a:alpha val="0"/>
            </a:srgbClr>
          </a:solidFill>
          <a:ln>
            <a:noFill/>
          </a:ln>
        </p:spPr>
        <p:txBody>
          <a:bodyPr anchorCtr="0" anchor="ctr" bIns="0" lIns="95250" spcFirstLastPara="1" rIns="95250" wrap="square" tIns="0">
            <a:noAutofit/>
          </a:bodyPr>
          <a:lstStyle/>
          <a:p>
            <a:pPr indent="0" lvl="0" marL="0" rtl="0" algn="ctr">
              <a:spcBef>
                <a:spcPts val="0"/>
              </a:spcBef>
              <a:spcAft>
                <a:spcPts val="0"/>
              </a:spcAft>
              <a:buNone/>
            </a:pPr>
            <a:r>
              <a:rPr b="1" lang="en-US" sz="1150">
                <a:solidFill>
                  <a:srgbClr val="0A1628"/>
                </a:solidFill>
                <a:latin typeface="Calibri"/>
                <a:ea typeface="Calibri"/>
                <a:cs typeface="Calibri"/>
                <a:sym typeface="Calibri"/>
              </a:rPr>
              <a:t>Our Divergences &amp; Innovations</a:t>
            </a:r>
            <a:endParaRPr b="1" sz="1150">
              <a:solidFill>
                <a:srgbClr val="0A1628"/>
              </a:solidFill>
              <a:latin typeface="Calibri"/>
              <a:ea typeface="Calibri"/>
              <a:cs typeface="Calibri"/>
              <a:sym typeface="Calibri"/>
            </a:endParaRPr>
          </a:p>
        </p:txBody>
      </p:sp>
      <p:sp>
        <p:nvSpPr>
          <p:cNvPr id="142" name="Google Shape;142;p5"/>
          <p:cNvSpPr/>
          <p:nvPr/>
        </p:nvSpPr>
        <p:spPr>
          <a:xfrm>
            <a:off x="6172200" y="781050"/>
            <a:ext cx="2743200" cy="4134000"/>
          </a:xfrm>
          <a:prstGeom prst="rect">
            <a:avLst/>
          </a:prstGeom>
          <a:solidFill>
            <a:srgbClr val="2A1A0A"/>
          </a:solidFill>
          <a:ln cap="flat" cmpd="sng" w="19050">
            <a:solidFill>
              <a:srgbClr val="FFD166"/>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43" name="Google Shape;143;p5"/>
          <p:cNvSpPr/>
          <p:nvPr/>
        </p:nvSpPr>
        <p:spPr>
          <a:xfrm>
            <a:off x="6172200" y="781050"/>
            <a:ext cx="2743200" cy="342900"/>
          </a:xfrm>
          <a:prstGeom prst="rect">
            <a:avLst/>
          </a:prstGeom>
          <a:solidFill>
            <a:srgbClr val="FFD166"/>
          </a:solidFill>
          <a:ln cap="flat" cmpd="sng" w="12700">
            <a:solidFill>
              <a:srgbClr val="FFD166"/>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44" name="Google Shape;144;p5"/>
          <p:cNvSpPr/>
          <p:nvPr/>
        </p:nvSpPr>
        <p:spPr>
          <a:xfrm>
            <a:off x="6172200" y="781050"/>
            <a:ext cx="2743200" cy="342900"/>
          </a:xfrm>
          <a:prstGeom prst="rect">
            <a:avLst/>
          </a:prstGeom>
          <a:solidFill>
            <a:srgbClr val="000000">
              <a:alpha val="0"/>
            </a:srgbClr>
          </a:solidFill>
          <a:ln>
            <a:noFill/>
          </a:ln>
        </p:spPr>
        <p:txBody>
          <a:bodyPr anchorCtr="0" anchor="ctr" bIns="0" lIns="95250" spcFirstLastPara="1" rIns="95250" wrap="square" tIns="0">
            <a:noAutofit/>
          </a:bodyPr>
          <a:lstStyle/>
          <a:p>
            <a:pPr indent="0" lvl="0" marL="0" rtl="0" algn="ctr">
              <a:spcBef>
                <a:spcPts val="0"/>
              </a:spcBef>
              <a:spcAft>
                <a:spcPts val="0"/>
              </a:spcAft>
              <a:buNone/>
            </a:pPr>
            <a:r>
              <a:rPr b="1" lang="en-US" sz="1150">
                <a:solidFill>
                  <a:srgbClr val="0A1628"/>
                </a:solidFill>
                <a:latin typeface="Calibri"/>
                <a:ea typeface="Calibri"/>
                <a:cs typeface="Calibri"/>
                <a:sym typeface="Calibri"/>
              </a:rPr>
              <a:t>Configuration Innovations</a:t>
            </a:r>
            <a:endParaRPr b="1" sz="1150">
              <a:solidFill>
                <a:srgbClr val="0A1628"/>
              </a:solidFill>
              <a:latin typeface="Calibri"/>
              <a:ea typeface="Calibri"/>
              <a:cs typeface="Calibri"/>
              <a:sym typeface="Calibri"/>
            </a:endParaRPr>
          </a:p>
        </p:txBody>
      </p:sp>
      <p:sp>
        <p:nvSpPr>
          <p:cNvPr id="145" name="Google Shape;145;p5"/>
          <p:cNvSpPr/>
          <p:nvPr/>
        </p:nvSpPr>
        <p:spPr>
          <a:xfrm>
            <a:off x="365760" y="502920"/>
            <a:ext cx="2286000" cy="36600"/>
          </a:xfrm>
          <a:prstGeom prst="rect">
            <a:avLst/>
          </a:prstGeom>
          <a:solidFill>
            <a:srgbClr val="00B4D8"/>
          </a:solidFill>
          <a:ln cap="flat" cmpd="sng" w="12700">
            <a:solidFill>
              <a:srgbClr val="00B4D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6" name="Google Shape;146;p5"/>
          <p:cNvSpPr txBox="1"/>
          <p:nvPr/>
        </p:nvSpPr>
        <p:spPr>
          <a:xfrm>
            <a:off x="323850" y="1190625"/>
            <a:ext cx="2552700" cy="3619500"/>
          </a:xfrm>
          <a:prstGeom prst="rect">
            <a:avLst/>
          </a:prstGeom>
          <a:solidFill>
            <a:srgbClr val="000000">
              <a:alpha val="0"/>
            </a:srgbClr>
          </a:solidFill>
          <a:ln>
            <a:noFill/>
          </a:ln>
        </p:spPr>
        <p:txBody>
          <a:bodyPr anchorCtr="0" anchor="t" bIns="0" lIns="0" spcFirstLastPara="1" rIns="0" wrap="square" tIns="47625">
            <a:noAutofit/>
          </a:bodyPr>
          <a:lstStyle/>
          <a:p>
            <a:pPr indent="0" lvl="0" marL="0" rtl="0" algn="l">
              <a:spcBef>
                <a:spcPts val="0"/>
              </a:spcBef>
              <a:spcAft>
                <a:spcPts val="0"/>
              </a:spcAft>
              <a:buNone/>
            </a:pPr>
            <a:r>
              <a:rPr b="1" lang="en-US" sz="900">
                <a:solidFill>
                  <a:srgbClr val="00B4D8"/>
                </a:solidFill>
                <a:latin typeface="Calibri"/>
                <a:ea typeface="Calibri"/>
                <a:cs typeface="Calibri"/>
                <a:sym typeface="Calibri"/>
              </a:rPr>
              <a:t>Stochastic Confidence Training:</a:t>
            </a:r>
            <a:endParaRPr b="1" sz="900">
              <a:solidFill>
                <a:srgbClr val="00B4D8"/>
              </a:solidFill>
              <a:latin typeface="Calibri"/>
              <a:ea typeface="Calibri"/>
              <a:cs typeface="Calibri"/>
              <a:sym typeface="Calibri"/>
            </a:endParaRPr>
          </a:p>
          <a:p>
            <a:pPr indent="0" lvl="0" marL="0" rtl="0" algn="l">
              <a:spcBef>
                <a:spcPts val="150"/>
              </a:spcBef>
              <a:spcAft>
                <a:spcPts val="0"/>
              </a:spcAft>
              <a:buNone/>
            </a:pPr>
            <a:r>
              <a:rPr b="0" lang="en-US" sz="850">
                <a:solidFill>
                  <a:srgbClr val="E8F4FD"/>
                </a:solidFill>
                <a:latin typeface="Calibri"/>
                <a:ea typeface="Calibri"/>
                <a:cs typeface="Calibri"/>
                <a:sym typeface="Calibri"/>
              </a:rPr>
              <a:t>Confidence increases randomly after correct predictions (Loads/FP 1-in-2, ALU 1-in-8), requiring proof of long-term stability.</a:t>
            </a:r>
            <a:endParaRPr b="0" sz="850">
              <a:solidFill>
                <a:srgbClr val="E8F4FD"/>
              </a:solidFill>
              <a:latin typeface="Calibri"/>
              <a:ea typeface="Calibri"/>
              <a:cs typeface="Calibri"/>
              <a:sym typeface="Calibri"/>
            </a:endParaRPr>
          </a:p>
          <a:p>
            <a:pPr indent="0" lvl="0" marL="0" rtl="0" algn="l">
              <a:spcBef>
                <a:spcPts val="525"/>
              </a:spcBef>
              <a:spcAft>
                <a:spcPts val="0"/>
              </a:spcAft>
              <a:buNone/>
            </a:pPr>
            <a:r>
              <a:rPr b="1" lang="en-US" sz="900">
                <a:solidFill>
                  <a:srgbClr val="00B4D8"/>
                </a:solidFill>
                <a:latin typeface="Calibri"/>
                <a:ea typeface="Calibri"/>
                <a:cs typeface="Calibri"/>
                <a:sym typeface="Calibri"/>
              </a:rPr>
              <a:t>TAGE "Useful-Bit" Economics</a:t>
            </a:r>
            <a:endParaRPr b="1" sz="900">
              <a:solidFill>
                <a:srgbClr val="00B4D8"/>
              </a:solidFill>
              <a:latin typeface="Calibri"/>
              <a:ea typeface="Calibri"/>
              <a:cs typeface="Calibri"/>
              <a:sym typeface="Calibri"/>
            </a:endParaRPr>
          </a:p>
          <a:p>
            <a:pPr indent="0" lvl="0" marL="0" rtl="0" algn="l">
              <a:spcBef>
                <a:spcPts val="150"/>
              </a:spcBef>
              <a:spcAft>
                <a:spcPts val="0"/>
              </a:spcAft>
              <a:buNone/>
            </a:pPr>
            <a:r>
              <a:rPr b="0" lang="en-US" sz="850">
                <a:solidFill>
                  <a:srgbClr val="E8F4FD"/>
                </a:solidFill>
                <a:latin typeface="Calibri"/>
                <a:ea typeface="Calibri"/>
                <a:cs typeface="Calibri"/>
                <a:sym typeface="Calibri"/>
              </a:rPr>
              <a:t>Entries only gain/lose "usefulness" if uniquely correct/incorrect, preserving valuable data (from TAGE paper).</a:t>
            </a:r>
            <a:endParaRPr b="0" sz="850">
              <a:solidFill>
                <a:srgbClr val="E8F4FD"/>
              </a:solidFill>
              <a:latin typeface="Calibri"/>
              <a:ea typeface="Calibri"/>
              <a:cs typeface="Calibri"/>
              <a:sym typeface="Calibri"/>
            </a:endParaRPr>
          </a:p>
          <a:p>
            <a:pPr indent="0" lvl="0" marL="0" rtl="0" algn="l">
              <a:spcBef>
                <a:spcPts val="525"/>
              </a:spcBef>
              <a:spcAft>
                <a:spcPts val="0"/>
              </a:spcAft>
              <a:buNone/>
            </a:pPr>
            <a:r>
              <a:rPr b="1" lang="en-US" sz="900">
                <a:solidFill>
                  <a:srgbClr val="00B4D8"/>
                </a:solidFill>
                <a:latin typeface="Calibri"/>
                <a:ea typeface="Calibri"/>
                <a:cs typeface="Calibri"/>
                <a:sym typeface="Calibri"/>
              </a:rPr>
              <a:t>Instruction-Type-Aware Allocation</a:t>
            </a:r>
            <a:endParaRPr b="1" sz="900">
              <a:solidFill>
                <a:srgbClr val="00B4D8"/>
              </a:solidFill>
              <a:latin typeface="Calibri"/>
              <a:ea typeface="Calibri"/>
              <a:cs typeface="Calibri"/>
              <a:sym typeface="Calibri"/>
            </a:endParaRPr>
          </a:p>
          <a:p>
            <a:pPr indent="0" lvl="0" marL="0" rtl="0" algn="l">
              <a:spcBef>
                <a:spcPts val="150"/>
              </a:spcBef>
              <a:spcAft>
                <a:spcPts val="0"/>
              </a:spcAft>
              <a:buNone/>
            </a:pPr>
            <a:r>
              <a:rPr b="0" lang="en-US" sz="850">
                <a:solidFill>
                  <a:srgbClr val="E8F4FD"/>
                </a:solidFill>
                <a:latin typeface="Calibri"/>
                <a:ea typeface="Calibri"/>
                <a:cs typeface="Calibri"/>
                <a:sym typeface="Calibri"/>
              </a:rPr>
              <a:t>Priority allocation for Loads/FP; generic ALU heavily throttled.</a:t>
            </a:r>
            <a:endParaRPr b="0" sz="850">
              <a:solidFill>
                <a:srgbClr val="E8F4FD"/>
              </a:solidFill>
              <a:latin typeface="Calibri"/>
              <a:ea typeface="Calibri"/>
              <a:cs typeface="Calibri"/>
              <a:sym typeface="Calibri"/>
            </a:endParaRPr>
          </a:p>
          <a:p>
            <a:pPr indent="0" lvl="0" marL="0" rtl="0" algn="l">
              <a:spcBef>
                <a:spcPts val="525"/>
              </a:spcBef>
              <a:spcAft>
                <a:spcPts val="0"/>
              </a:spcAft>
              <a:buNone/>
            </a:pPr>
            <a:r>
              <a:rPr b="1" lang="en-US" sz="900">
                <a:solidFill>
                  <a:srgbClr val="00B4D8"/>
                </a:solidFill>
                <a:latin typeface="Calibri"/>
                <a:ea typeface="Calibri"/>
                <a:cs typeface="Calibri"/>
                <a:sym typeface="Calibri"/>
              </a:rPr>
              <a:t>TICK-Based Usefulness Decay</a:t>
            </a:r>
            <a:endParaRPr b="1" sz="900">
              <a:solidFill>
                <a:srgbClr val="00B4D8"/>
              </a:solidFill>
              <a:latin typeface="Calibri"/>
              <a:ea typeface="Calibri"/>
              <a:cs typeface="Calibri"/>
              <a:sym typeface="Calibri"/>
            </a:endParaRPr>
          </a:p>
          <a:p>
            <a:pPr indent="0" lvl="0" marL="0" rtl="0" algn="l">
              <a:spcBef>
                <a:spcPts val="150"/>
              </a:spcBef>
              <a:spcAft>
                <a:spcPts val="0"/>
              </a:spcAft>
              <a:buNone/>
            </a:pPr>
            <a:r>
              <a:rPr b="0" lang="en-US" sz="850">
                <a:solidFill>
                  <a:srgbClr val="E8F4FD"/>
                </a:solidFill>
                <a:latin typeface="Calibri"/>
                <a:ea typeface="Calibri"/>
                <a:cs typeface="Calibri"/>
                <a:sym typeface="Calibri"/>
              </a:rPr>
              <a:t>Global counter periodically decrements usefulness bits to evict stale entries.</a:t>
            </a:r>
            <a:endParaRPr b="0" sz="850">
              <a:solidFill>
                <a:srgbClr val="E8F4FD"/>
              </a:solidFill>
              <a:latin typeface="Calibri"/>
              <a:ea typeface="Calibri"/>
              <a:cs typeface="Calibri"/>
              <a:sym typeface="Calibri"/>
            </a:endParaRPr>
          </a:p>
          <a:p>
            <a:pPr indent="0" lvl="0" marL="0" rtl="0" algn="l">
              <a:spcBef>
                <a:spcPts val="525"/>
              </a:spcBef>
              <a:spcAft>
                <a:spcPts val="0"/>
              </a:spcAft>
              <a:buNone/>
            </a:pPr>
            <a:r>
              <a:rPr b="1" lang="en-US" sz="900">
                <a:solidFill>
                  <a:srgbClr val="00B4D8"/>
                </a:solidFill>
                <a:latin typeface="Calibri"/>
                <a:ea typeface="Calibri"/>
                <a:cs typeface="Calibri"/>
                <a:sym typeface="Calibri"/>
              </a:rPr>
              <a:t>Geometric History Lengths</a:t>
            </a:r>
            <a:endParaRPr b="1" sz="900">
              <a:solidFill>
                <a:srgbClr val="00B4D8"/>
              </a:solidFill>
              <a:latin typeface="Calibri"/>
              <a:ea typeface="Calibri"/>
              <a:cs typeface="Calibri"/>
              <a:sym typeface="Calibri"/>
            </a:endParaRPr>
          </a:p>
          <a:p>
            <a:pPr indent="0" lvl="0" marL="0" rtl="0" algn="l">
              <a:spcBef>
                <a:spcPts val="150"/>
              </a:spcBef>
              <a:spcAft>
                <a:spcPts val="0"/>
              </a:spcAft>
              <a:buNone/>
            </a:pPr>
            <a:r>
              <a:rPr b="0" lang="en-US" sz="850">
                <a:solidFill>
                  <a:srgbClr val="E8F4FD"/>
                </a:solidFill>
                <a:latin typeface="Calibri"/>
                <a:ea typeface="Calibri"/>
                <a:cs typeface="Calibri"/>
                <a:sym typeface="Calibri"/>
              </a:rPr>
              <a:t>History lengths across tables use geometric interpolation between min and max (a TAGE technique for pattern coverage efficiency).</a:t>
            </a:r>
            <a:endParaRPr b="0" sz="850">
              <a:solidFill>
                <a:srgbClr val="E8F4FD"/>
              </a:solidFill>
              <a:latin typeface="Calibri"/>
              <a:ea typeface="Calibri"/>
              <a:cs typeface="Calibri"/>
              <a:sym typeface="Calibri"/>
            </a:endParaRPr>
          </a:p>
          <a:p>
            <a:pPr indent="0" lvl="0" marL="0" rtl="0" algn="l">
              <a:spcBef>
                <a:spcPts val="525"/>
              </a:spcBef>
              <a:spcAft>
                <a:spcPts val="0"/>
              </a:spcAft>
              <a:buNone/>
            </a:pPr>
            <a:r>
              <a:rPr b="1" lang="en-US" sz="900">
                <a:solidFill>
                  <a:srgbClr val="00B4D8"/>
                </a:solidFill>
                <a:latin typeface="Calibri"/>
                <a:ea typeface="Calibri"/>
                <a:cs typeface="Calibri"/>
                <a:sym typeface="Calibri"/>
              </a:rPr>
              <a:t>VTAGE Supremacy Over Base</a:t>
            </a:r>
            <a:endParaRPr b="1" sz="900">
              <a:solidFill>
                <a:srgbClr val="00B4D8"/>
              </a:solidFill>
              <a:latin typeface="Calibri"/>
              <a:ea typeface="Calibri"/>
              <a:cs typeface="Calibri"/>
              <a:sym typeface="Calibri"/>
            </a:endParaRPr>
          </a:p>
          <a:p>
            <a:pPr indent="0" lvl="0" marL="0" rtl="0" algn="l">
              <a:spcBef>
                <a:spcPts val="150"/>
              </a:spcBef>
              <a:spcAft>
                <a:spcPts val="0"/>
              </a:spcAft>
              <a:buNone/>
            </a:pPr>
            <a:r>
              <a:rPr b="0" lang="en-US" sz="850">
                <a:solidFill>
                  <a:srgbClr val="E8F4FD"/>
                </a:solidFill>
                <a:latin typeface="Calibri"/>
                <a:ea typeface="Calibri"/>
                <a:cs typeface="Calibri"/>
                <a:sym typeface="Calibri"/>
              </a:rPr>
              <a:t>If one predictor is confident, it predicts. If both are confident, VTAGE takes priority over SVP, favoring history-based proof over stride math.</a:t>
            </a:r>
            <a:endParaRPr b="0" sz="850">
              <a:solidFill>
                <a:srgbClr val="E8F4FD"/>
              </a:solidFill>
              <a:latin typeface="Calibri"/>
              <a:ea typeface="Calibri"/>
              <a:cs typeface="Calibri"/>
              <a:sym typeface="Calibri"/>
            </a:endParaRPr>
          </a:p>
        </p:txBody>
      </p:sp>
      <p:sp>
        <p:nvSpPr>
          <p:cNvPr id="147" name="Google Shape;147;p5"/>
          <p:cNvSpPr txBox="1"/>
          <p:nvPr/>
        </p:nvSpPr>
        <p:spPr>
          <a:xfrm>
            <a:off x="3295650" y="1190625"/>
            <a:ext cx="2552700" cy="3619500"/>
          </a:xfrm>
          <a:prstGeom prst="rect">
            <a:avLst/>
          </a:prstGeom>
          <a:solidFill>
            <a:srgbClr val="000000">
              <a:alpha val="0"/>
            </a:srgbClr>
          </a:solidFill>
          <a:ln>
            <a:noFill/>
          </a:ln>
        </p:spPr>
        <p:txBody>
          <a:bodyPr anchorCtr="0" anchor="t" bIns="0" lIns="0" spcFirstLastPara="1" rIns="0" wrap="square" tIns="47625">
            <a:noAutofit/>
          </a:bodyPr>
          <a:lstStyle/>
          <a:p>
            <a:pPr indent="0" lvl="0" marL="0" rtl="0" algn="l">
              <a:spcBef>
                <a:spcPts val="0"/>
              </a:spcBef>
              <a:spcAft>
                <a:spcPts val="0"/>
              </a:spcAft>
              <a:buNone/>
            </a:pPr>
            <a:r>
              <a:rPr b="1" lang="en-US" sz="900">
                <a:solidFill>
                  <a:srgbClr val="06D6A0"/>
                </a:solidFill>
                <a:latin typeface="Calibri"/>
                <a:ea typeface="Calibri"/>
                <a:cs typeface="Calibri"/>
                <a:sym typeface="Calibri"/>
              </a:rPr>
              <a:t>No Last Value Predictor</a:t>
            </a:r>
            <a:endParaRPr b="1" sz="900">
              <a:solidFill>
                <a:srgbClr val="06D6A0"/>
              </a:solidFill>
              <a:latin typeface="Calibri"/>
              <a:ea typeface="Calibri"/>
              <a:cs typeface="Calibri"/>
              <a:sym typeface="Calibri"/>
            </a:endParaRPr>
          </a:p>
          <a:p>
            <a:pPr indent="0" lvl="0" marL="0" rtl="0" algn="l">
              <a:spcBef>
                <a:spcPts val="150"/>
              </a:spcBef>
              <a:spcAft>
                <a:spcPts val="0"/>
              </a:spcAft>
              <a:buNone/>
            </a:pPr>
            <a:r>
              <a:rPr b="0" lang="en-US" sz="850">
                <a:solidFill>
                  <a:srgbClr val="E8F4FD"/>
                </a:solidFill>
                <a:latin typeface="Calibri"/>
                <a:ea typeface="Calibri"/>
                <a:cs typeface="Calibri"/>
                <a:sym typeface="Calibri"/>
              </a:rPr>
              <a:t>Typical last value predictor replaced as VTAGE base with the more influential SVP.</a:t>
            </a:r>
            <a:endParaRPr b="0" sz="850">
              <a:solidFill>
                <a:srgbClr val="E8F4FD"/>
              </a:solidFill>
              <a:latin typeface="Calibri"/>
              <a:ea typeface="Calibri"/>
              <a:cs typeface="Calibri"/>
              <a:sym typeface="Calibri"/>
            </a:endParaRPr>
          </a:p>
          <a:p>
            <a:pPr indent="0" lvl="0" marL="0" rtl="0" algn="l">
              <a:spcBef>
                <a:spcPts val="675"/>
              </a:spcBef>
              <a:spcAft>
                <a:spcPts val="0"/>
              </a:spcAft>
              <a:buNone/>
            </a:pPr>
            <a:r>
              <a:rPr b="1" lang="en-US" sz="900">
                <a:solidFill>
                  <a:srgbClr val="06D6A0"/>
                </a:solidFill>
                <a:latin typeface="Calibri"/>
                <a:ea typeface="Calibri"/>
                <a:cs typeface="Calibri"/>
                <a:sym typeface="Calibri"/>
              </a:rPr>
              <a:t>Provider/Alternate Architecture</a:t>
            </a:r>
            <a:endParaRPr b="1" sz="900">
              <a:solidFill>
                <a:srgbClr val="06D6A0"/>
              </a:solidFill>
              <a:latin typeface="Calibri"/>
              <a:ea typeface="Calibri"/>
              <a:cs typeface="Calibri"/>
              <a:sym typeface="Calibri"/>
            </a:endParaRPr>
          </a:p>
          <a:p>
            <a:pPr indent="0" lvl="0" marL="0" rtl="0" algn="l">
              <a:spcBef>
                <a:spcPts val="150"/>
              </a:spcBef>
              <a:spcAft>
                <a:spcPts val="0"/>
              </a:spcAft>
              <a:buNone/>
            </a:pPr>
            <a:r>
              <a:rPr b="0" lang="en-US" sz="850">
                <a:solidFill>
                  <a:srgbClr val="E8F4FD"/>
                </a:solidFill>
                <a:latin typeface="Calibri"/>
                <a:ea typeface="Calibri"/>
                <a:cs typeface="Calibri"/>
                <a:sym typeface="Calibri"/>
              </a:rPr>
              <a:t>When VTAGE hits, the longest history is the provider; the alternate is a shorter VTAGE match or base SVP. Innovation: If SVP is the correct alternate, it hard-vetoes VTAGE allocation, preventing redundancy.</a:t>
            </a:r>
            <a:endParaRPr b="0" sz="850">
              <a:solidFill>
                <a:srgbClr val="E8F4FD"/>
              </a:solidFill>
              <a:latin typeface="Calibri"/>
              <a:ea typeface="Calibri"/>
              <a:cs typeface="Calibri"/>
              <a:sym typeface="Calibri"/>
            </a:endParaRPr>
          </a:p>
          <a:p>
            <a:pPr indent="0" lvl="0" marL="0" rtl="0" algn="l">
              <a:spcBef>
                <a:spcPts val="675"/>
              </a:spcBef>
              <a:spcAft>
                <a:spcPts val="0"/>
              </a:spcAft>
              <a:buNone/>
            </a:pPr>
            <a:r>
              <a:rPr b="1" lang="en-US" sz="900">
                <a:solidFill>
                  <a:srgbClr val="06D6A0"/>
                </a:solidFill>
                <a:latin typeface="Calibri"/>
                <a:ea typeface="Calibri"/>
                <a:cs typeface="Calibri"/>
                <a:sym typeface="Calibri"/>
              </a:rPr>
              <a:t>Anti-Aliasing SVP Shield</a:t>
            </a:r>
            <a:endParaRPr b="1" sz="900">
              <a:solidFill>
                <a:srgbClr val="06D6A0"/>
              </a:solidFill>
              <a:latin typeface="Calibri"/>
              <a:ea typeface="Calibri"/>
              <a:cs typeface="Calibri"/>
              <a:sym typeface="Calibri"/>
            </a:endParaRPr>
          </a:p>
          <a:p>
            <a:pPr indent="0" lvl="0" marL="0" rtl="0" algn="l">
              <a:spcBef>
                <a:spcPts val="150"/>
              </a:spcBef>
              <a:spcAft>
                <a:spcPts val="0"/>
              </a:spcAft>
              <a:buNone/>
            </a:pPr>
            <a:r>
              <a:rPr b="0" lang="en-US" sz="850">
                <a:solidFill>
                  <a:srgbClr val="E8F4FD"/>
                </a:solidFill>
                <a:latin typeface="Calibri"/>
                <a:ea typeface="Calibri"/>
                <a:cs typeface="Calibri"/>
                <a:sym typeface="Calibri"/>
              </a:rPr>
              <a:t>If VTAGE correctly predicts a PC at max confidence upon retirement, it blocks new PCs from evicting established SVP entries.</a:t>
            </a:r>
            <a:endParaRPr b="0" sz="850">
              <a:solidFill>
                <a:srgbClr val="E8F4FD"/>
              </a:solidFill>
              <a:latin typeface="Calibri"/>
              <a:ea typeface="Calibri"/>
              <a:cs typeface="Calibri"/>
              <a:sym typeface="Calibri"/>
            </a:endParaRPr>
          </a:p>
          <a:p>
            <a:pPr indent="0" lvl="0" marL="0" rtl="0" algn="l">
              <a:spcBef>
                <a:spcPts val="675"/>
              </a:spcBef>
              <a:spcAft>
                <a:spcPts val="0"/>
              </a:spcAft>
              <a:buNone/>
            </a:pPr>
            <a:r>
              <a:rPr b="1" lang="en-US" sz="900">
                <a:solidFill>
                  <a:srgbClr val="06D6A0"/>
                </a:solidFill>
                <a:latin typeface="Calibri"/>
                <a:ea typeface="Calibri"/>
                <a:cs typeface="Calibri"/>
                <a:sym typeface="Calibri"/>
              </a:rPr>
              <a:t>Conditional-Branch-Only History</a:t>
            </a:r>
            <a:endParaRPr b="1" sz="900">
              <a:solidFill>
                <a:srgbClr val="06D6A0"/>
              </a:solidFill>
              <a:latin typeface="Calibri"/>
              <a:ea typeface="Calibri"/>
              <a:cs typeface="Calibri"/>
              <a:sym typeface="Calibri"/>
            </a:endParaRPr>
          </a:p>
          <a:p>
            <a:pPr indent="0" lvl="0" marL="0" rtl="0" algn="l">
              <a:spcBef>
                <a:spcPts val="150"/>
              </a:spcBef>
              <a:spcAft>
                <a:spcPts val="0"/>
              </a:spcAft>
              <a:buNone/>
            </a:pPr>
            <a:r>
              <a:rPr lang="en-US" sz="850">
                <a:solidFill>
                  <a:srgbClr val="E8F4FD"/>
                </a:solidFill>
                <a:latin typeface="Calibri"/>
                <a:ea typeface="Calibri"/>
                <a:cs typeface="Calibri"/>
                <a:sym typeface="Calibri"/>
              </a:rPr>
              <a:t> Global branch history register (GBHR) shifts only on conditional branches, using taken/not-taken outcomes; unconditional branches and non-branches are excluded.</a:t>
            </a:r>
            <a:endParaRPr b="0" sz="850">
              <a:solidFill>
                <a:srgbClr val="E8F4FD"/>
              </a:solidFill>
              <a:latin typeface="Calibri"/>
              <a:ea typeface="Calibri"/>
              <a:cs typeface="Calibri"/>
              <a:sym typeface="Calibri"/>
            </a:endParaRPr>
          </a:p>
          <a:p>
            <a:pPr indent="0" lvl="0" marL="0" rtl="0" algn="l">
              <a:spcBef>
                <a:spcPts val="675"/>
              </a:spcBef>
              <a:spcAft>
                <a:spcPts val="0"/>
              </a:spcAft>
              <a:buNone/>
            </a:pPr>
            <a:r>
              <a:rPr b="1" lang="en-US" sz="900">
                <a:solidFill>
                  <a:srgbClr val="06D6A0"/>
                </a:solidFill>
                <a:latin typeface="Calibri"/>
                <a:ea typeface="Calibri"/>
                <a:cs typeface="Calibri"/>
                <a:sym typeface="Calibri"/>
              </a:rPr>
              <a:t>Asymmetric Penalty by Instruction Type</a:t>
            </a:r>
            <a:endParaRPr b="1" sz="900">
              <a:solidFill>
                <a:srgbClr val="06D6A0"/>
              </a:solidFill>
              <a:latin typeface="Calibri"/>
              <a:ea typeface="Calibri"/>
              <a:cs typeface="Calibri"/>
              <a:sym typeface="Calibri"/>
            </a:endParaRPr>
          </a:p>
          <a:p>
            <a:pPr indent="0" lvl="0" marL="0" rtl="0" algn="l">
              <a:spcBef>
                <a:spcPts val="150"/>
              </a:spcBef>
              <a:spcAft>
                <a:spcPts val="0"/>
              </a:spcAft>
              <a:buNone/>
            </a:pPr>
            <a:r>
              <a:rPr lang="en-US" sz="850">
                <a:solidFill>
                  <a:srgbClr val="E8F4FD"/>
                </a:solidFill>
                <a:latin typeface="Calibri"/>
                <a:ea typeface="Calibri"/>
                <a:cs typeface="Calibri"/>
                <a:sym typeface="Calibri"/>
              </a:rPr>
              <a:t>Mispredicted ALU instructions reset to zero. Memory/FP receive a soft fractional penalty because their patterns tend to reappear.</a:t>
            </a:r>
            <a:endParaRPr b="0" sz="850">
              <a:solidFill>
                <a:srgbClr val="E8F4FD"/>
              </a:solidFill>
              <a:latin typeface="Calibri"/>
              <a:ea typeface="Calibri"/>
              <a:cs typeface="Calibri"/>
              <a:sym typeface="Calibri"/>
            </a:endParaRPr>
          </a:p>
        </p:txBody>
      </p:sp>
      <p:sp>
        <p:nvSpPr>
          <p:cNvPr id="148" name="Google Shape;148;p5"/>
          <p:cNvSpPr txBox="1"/>
          <p:nvPr/>
        </p:nvSpPr>
        <p:spPr>
          <a:xfrm>
            <a:off x="6267450" y="1190625"/>
            <a:ext cx="2552700" cy="3619500"/>
          </a:xfrm>
          <a:prstGeom prst="rect">
            <a:avLst/>
          </a:prstGeom>
          <a:solidFill>
            <a:srgbClr val="000000">
              <a:alpha val="0"/>
            </a:srgbClr>
          </a:solidFill>
          <a:ln>
            <a:noFill/>
          </a:ln>
        </p:spPr>
        <p:txBody>
          <a:bodyPr anchorCtr="0" anchor="t" bIns="0" lIns="0" spcFirstLastPara="1" rIns="0" wrap="square" tIns="47625">
            <a:noAutofit/>
          </a:bodyPr>
          <a:lstStyle/>
          <a:p>
            <a:pPr indent="0" lvl="0" marL="0" rtl="0" algn="l">
              <a:spcBef>
                <a:spcPts val="0"/>
              </a:spcBef>
              <a:spcAft>
                <a:spcPts val="0"/>
              </a:spcAft>
              <a:buNone/>
            </a:pPr>
            <a:r>
              <a:rPr b="1" lang="en-US" sz="850">
                <a:solidFill>
                  <a:schemeClr val="accent4"/>
                </a:solidFill>
                <a:latin typeface="Calibri"/>
                <a:ea typeface="Calibri"/>
                <a:cs typeface="Calibri"/>
                <a:sym typeface="Calibri"/>
              </a:rPr>
              <a:t>Decoupled Confidence Ceilings</a:t>
            </a:r>
            <a:endParaRPr b="1" sz="850">
              <a:solidFill>
                <a:schemeClr val="accent4"/>
              </a:solidFill>
              <a:latin typeface="Calibri"/>
              <a:ea typeface="Calibri"/>
              <a:cs typeface="Calibri"/>
              <a:sym typeface="Calibri"/>
            </a:endParaRPr>
          </a:p>
          <a:p>
            <a:pPr indent="0" lvl="0" marL="0" rtl="0" algn="l">
              <a:spcBef>
                <a:spcPts val="0"/>
              </a:spcBef>
              <a:spcAft>
                <a:spcPts val="0"/>
              </a:spcAft>
              <a:buNone/>
            </a:pPr>
            <a:r>
              <a:rPr lang="en-US" sz="850">
                <a:solidFill>
                  <a:srgbClr val="E8F4FD"/>
                </a:solidFill>
                <a:latin typeface="Calibri"/>
                <a:ea typeface="Calibri"/>
                <a:cs typeface="Calibri"/>
                <a:sym typeface="Calibri"/>
              </a:rPr>
              <a:t>SVP predicts quickly (max 47). VTAGE requires more validation (max 63) before overriding, suppressing noise.</a:t>
            </a:r>
            <a:endParaRPr sz="850">
              <a:solidFill>
                <a:srgbClr val="E8F4FD"/>
              </a:solidFill>
              <a:latin typeface="Calibri"/>
              <a:ea typeface="Calibri"/>
              <a:cs typeface="Calibri"/>
              <a:sym typeface="Calibri"/>
            </a:endParaRPr>
          </a:p>
          <a:p>
            <a:pPr indent="0" lvl="0" marL="0" rtl="0" algn="l">
              <a:spcBef>
                <a:spcPts val="0"/>
              </a:spcBef>
              <a:spcAft>
                <a:spcPts val="0"/>
              </a:spcAft>
              <a:buNone/>
            </a:pPr>
            <a:r>
              <a:t/>
            </a:r>
            <a:endParaRPr sz="850">
              <a:solidFill>
                <a:srgbClr val="E8F4FD"/>
              </a:solidFill>
              <a:latin typeface="Calibri"/>
              <a:ea typeface="Calibri"/>
              <a:cs typeface="Calibri"/>
              <a:sym typeface="Calibri"/>
            </a:endParaRPr>
          </a:p>
          <a:p>
            <a:pPr indent="0" lvl="0" marL="0" rtl="0" algn="l">
              <a:spcBef>
                <a:spcPts val="0"/>
              </a:spcBef>
              <a:spcAft>
                <a:spcPts val="0"/>
              </a:spcAft>
              <a:buNone/>
            </a:pPr>
            <a:r>
              <a:rPr b="1" lang="en-US" sz="850">
                <a:solidFill>
                  <a:srgbClr val="FFD166"/>
                </a:solidFill>
                <a:latin typeface="Calibri"/>
                <a:ea typeface="Calibri"/>
                <a:cs typeface="Calibri"/>
                <a:sym typeface="Calibri"/>
              </a:rPr>
              <a:t>5-Table History Sweep (3–54 branches)</a:t>
            </a:r>
            <a:endParaRPr b="1" sz="850">
              <a:solidFill>
                <a:srgbClr val="FFD166"/>
              </a:solidFill>
              <a:latin typeface="Calibri"/>
              <a:ea typeface="Calibri"/>
              <a:cs typeface="Calibri"/>
              <a:sym typeface="Calibri"/>
            </a:endParaRPr>
          </a:p>
          <a:p>
            <a:pPr indent="0" lvl="0" marL="0" rtl="0" algn="l">
              <a:spcBef>
                <a:spcPts val="0"/>
              </a:spcBef>
              <a:spcAft>
                <a:spcPts val="0"/>
              </a:spcAft>
              <a:buNone/>
            </a:pPr>
            <a:r>
              <a:rPr lang="en-US" sz="850">
                <a:solidFill>
                  <a:srgbClr val="E8F4FD"/>
                </a:solidFill>
                <a:latin typeface="Calibri"/>
                <a:ea typeface="Calibri"/>
                <a:cs typeface="Calibri"/>
                <a:sym typeface="Calibri"/>
              </a:rPr>
              <a:t>Five tables geometrically sweep history lengths from 3 to 54 branches, optimized for short loops to longer cross-function patterns within the 32KB budget.</a:t>
            </a:r>
            <a:endParaRPr sz="850">
              <a:solidFill>
                <a:srgbClr val="E8F4FD"/>
              </a:solidFill>
              <a:latin typeface="Calibri"/>
              <a:ea typeface="Calibri"/>
              <a:cs typeface="Calibri"/>
              <a:sym typeface="Calibri"/>
            </a:endParaRPr>
          </a:p>
          <a:p>
            <a:pPr indent="0" lvl="0" marL="0" rtl="0" algn="l">
              <a:spcBef>
                <a:spcPts val="0"/>
              </a:spcBef>
              <a:spcAft>
                <a:spcPts val="0"/>
              </a:spcAft>
              <a:buNone/>
            </a:pPr>
            <a:r>
              <a:t/>
            </a:r>
            <a:endParaRPr sz="850">
              <a:solidFill>
                <a:srgbClr val="E8F4FD"/>
              </a:solidFill>
              <a:latin typeface="Calibri"/>
              <a:ea typeface="Calibri"/>
              <a:cs typeface="Calibri"/>
              <a:sym typeface="Calibri"/>
            </a:endParaRPr>
          </a:p>
          <a:p>
            <a:pPr indent="0" lvl="0" marL="0" rtl="0" algn="l">
              <a:spcBef>
                <a:spcPts val="0"/>
              </a:spcBef>
              <a:spcAft>
                <a:spcPts val="0"/>
              </a:spcAft>
              <a:buNone/>
            </a:pPr>
            <a:r>
              <a:rPr b="1" lang="en-US" sz="850">
                <a:solidFill>
                  <a:srgbClr val="FFD166"/>
                </a:solidFill>
                <a:latin typeface="Calibri"/>
                <a:ea typeface="Calibri"/>
                <a:cs typeface="Calibri"/>
                <a:sym typeface="Calibri"/>
              </a:rPr>
              <a:t>32KB Capacity Allocation</a:t>
            </a:r>
            <a:endParaRPr b="1" sz="850">
              <a:solidFill>
                <a:srgbClr val="FFD166"/>
              </a:solidFill>
              <a:latin typeface="Calibri"/>
              <a:ea typeface="Calibri"/>
              <a:cs typeface="Calibri"/>
              <a:sym typeface="Calibri"/>
            </a:endParaRPr>
          </a:p>
          <a:p>
            <a:pPr indent="0" lvl="0" marL="0" rtl="0" algn="l">
              <a:spcBef>
                <a:spcPts val="0"/>
              </a:spcBef>
              <a:spcAft>
                <a:spcPts val="0"/>
              </a:spcAft>
              <a:buNone/>
            </a:pPr>
            <a:r>
              <a:rPr lang="en-US" sz="850">
                <a:solidFill>
                  <a:srgbClr val="E8F4FD"/>
                </a:solidFill>
                <a:latin typeface="Calibri"/>
                <a:ea typeface="Calibri"/>
                <a:cs typeface="Calibri"/>
                <a:sym typeface="Calibri"/>
              </a:rPr>
              <a:t>SVP uses 19kb  for stride prediction. Five VTAGE tables use the remaining 13kb or complex history.</a:t>
            </a:r>
            <a:endParaRPr sz="850">
              <a:solidFill>
                <a:srgbClr val="E8F4FD"/>
              </a:solidFill>
              <a:latin typeface="Calibri"/>
              <a:ea typeface="Calibri"/>
              <a:cs typeface="Calibri"/>
              <a:sym typeface="Calibri"/>
            </a:endParaRPr>
          </a:p>
          <a:p>
            <a:pPr indent="0" lvl="0" marL="0" rtl="0" algn="l">
              <a:spcBef>
                <a:spcPts val="0"/>
              </a:spcBef>
              <a:spcAft>
                <a:spcPts val="0"/>
              </a:spcAft>
              <a:buNone/>
            </a:pPr>
            <a:r>
              <a:t/>
            </a:r>
            <a:endParaRPr sz="850">
              <a:solidFill>
                <a:srgbClr val="E8F4FD"/>
              </a:solidFill>
              <a:latin typeface="Calibri"/>
              <a:ea typeface="Calibri"/>
              <a:cs typeface="Calibri"/>
              <a:sym typeface="Calibri"/>
            </a:endParaRPr>
          </a:p>
          <a:p>
            <a:pPr indent="0" lvl="0" marL="0" rtl="0" algn="l">
              <a:spcBef>
                <a:spcPts val="0"/>
              </a:spcBef>
              <a:spcAft>
                <a:spcPts val="0"/>
              </a:spcAft>
              <a:buNone/>
            </a:pPr>
            <a:r>
              <a:rPr b="1" lang="en-US" sz="850">
                <a:solidFill>
                  <a:srgbClr val="FFD166"/>
                </a:solidFill>
                <a:latin typeface="Calibri"/>
                <a:ea typeface="Calibri"/>
                <a:cs typeface="Calibri"/>
                <a:sym typeface="Calibri"/>
              </a:rPr>
              <a:t>VPQ Capacity Optimization</a:t>
            </a:r>
            <a:endParaRPr b="1" sz="850">
              <a:solidFill>
                <a:srgbClr val="FFD166"/>
              </a:solidFill>
              <a:latin typeface="Calibri"/>
              <a:ea typeface="Calibri"/>
              <a:cs typeface="Calibri"/>
              <a:sym typeface="Calibri"/>
            </a:endParaRPr>
          </a:p>
          <a:p>
            <a:pPr indent="0" lvl="0" marL="0" rtl="0" algn="l">
              <a:spcBef>
                <a:spcPts val="0"/>
              </a:spcBef>
              <a:spcAft>
                <a:spcPts val="0"/>
              </a:spcAft>
              <a:buNone/>
            </a:pPr>
            <a:r>
              <a:rPr lang="en-US" sz="850">
                <a:solidFill>
                  <a:srgbClr val="E8F4FD"/>
                </a:solidFill>
                <a:latin typeface="Calibri"/>
                <a:ea typeface="Calibri"/>
                <a:cs typeface="Calibri"/>
                <a:sym typeface="Calibri"/>
              </a:rPr>
              <a:t>The Value Prediction Queue (VPQ) is locked at 256 entries. Increasing to 300 entries showed minimal IPC gains, so capacity was capped and reallocated to VTAGE tables.</a:t>
            </a:r>
            <a:endParaRPr sz="850">
              <a:solidFill>
                <a:srgbClr val="E8F4FD"/>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628"/>
        </a:solidFill>
      </p:bgPr>
    </p:bg>
    <p:spTree>
      <p:nvGrpSpPr>
        <p:cNvPr id="153" name="Shape 153"/>
        <p:cNvGrpSpPr/>
        <p:nvPr/>
      </p:nvGrpSpPr>
      <p:grpSpPr>
        <a:xfrm>
          <a:off x="0" y="0"/>
          <a:ext cx="0" cy="0"/>
          <a:chOff x="0" y="0"/>
          <a:chExt cx="0" cy="0"/>
        </a:xfrm>
      </p:grpSpPr>
      <p:sp>
        <p:nvSpPr>
          <p:cNvPr id="154" name="Google Shape;154;p6"/>
          <p:cNvSpPr/>
          <p:nvPr/>
        </p:nvSpPr>
        <p:spPr>
          <a:xfrm>
            <a:off x="0" y="0"/>
            <a:ext cx="9144000" cy="502920"/>
          </a:xfrm>
          <a:prstGeom prst="rect">
            <a:avLst/>
          </a:prstGeom>
          <a:solidFill>
            <a:srgbClr val="0D2137"/>
          </a:solidFill>
          <a:ln cap="flat" cmpd="sng" w="12700">
            <a:solidFill>
              <a:srgbClr val="0D2137"/>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5" name="Google Shape;155;p6"/>
          <p:cNvSpPr/>
          <p:nvPr/>
        </p:nvSpPr>
        <p:spPr>
          <a:xfrm>
            <a:off x="365760" y="73152"/>
            <a:ext cx="82296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200"/>
              <a:buFont typeface="Calibri"/>
              <a:buNone/>
            </a:pPr>
            <a:r>
              <a:rPr b="1" lang="en-US" sz="2200">
                <a:solidFill>
                  <a:srgbClr val="FFFFFF"/>
                </a:solidFill>
                <a:latin typeface="Calibri"/>
                <a:ea typeface="Calibri"/>
                <a:cs typeface="Calibri"/>
                <a:sym typeface="Calibri"/>
              </a:rPr>
              <a:t>Championship Configuration</a:t>
            </a:r>
            <a:endParaRPr sz="2200">
              <a:solidFill>
                <a:schemeClr val="dk1"/>
              </a:solidFill>
              <a:latin typeface="Calibri"/>
              <a:ea typeface="Calibri"/>
              <a:cs typeface="Calibri"/>
              <a:sym typeface="Calibri"/>
            </a:endParaRPr>
          </a:p>
        </p:txBody>
      </p:sp>
      <p:sp>
        <p:nvSpPr>
          <p:cNvPr id="156" name="Google Shape;156;p6"/>
          <p:cNvSpPr/>
          <p:nvPr/>
        </p:nvSpPr>
        <p:spPr>
          <a:xfrm>
            <a:off x="274320" y="621792"/>
            <a:ext cx="8595360" cy="548640"/>
          </a:xfrm>
          <a:prstGeom prst="rect">
            <a:avLst/>
          </a:prstGeom>
          <a:solidFill>
            <a:srgbClr val="0A0F1A"/>
          </a:solidFill>
          <a:ln cap="flat" cmpd="sng" w="12700">
            <a:solidFill>
              <a:srgbClr val="00B4D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7" name="Google Shape;157;p6"/>
          <p:cNvSpPr/>
          <p:nvPr/>
        </p:nvSpPr>
        <p:spPr>
          <a:xfrm>
            <a:off x="365760" y="649224"/>
            <a:ext cx="841248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F5D4"/>
              </a:buClr>
              <a:buSzPts val="1600"/>
              <a:buFont typeface="Consolas"/>
              <a:buNone/>
            </a:pPr>
            <a:r>
              <a:rPr b="1" lang="en-US" sz="1600">
                <a:solidFill>
                  <a:srgbClr val="00F5D4"/>
                </a:solidFill>
                <a:latin typeface="Consolas"/>
                <a:ea typeface="Consolas"/>
                <a:cs typeface="Consolas"/>
                <a:sym typeface="Consolas"/>
              </a:rPr>
              <a:t>--vp-vtage=256,10,10,47,5,3,54,63,8,11,1</a:t>
            </a:r>
            <a:endParaRPr sz="1600">
              <a:solidFill>
                <a:schemeClr val="dk1"/>
              </a:solidFill>
              <a:latin typeface="Calibri"/>
              <a:ea typeface="Calibri"/>
              <a:cs typeface="Calibri"/>
              <a:sym typeface="Calibri"/>
            </a:endParaRPr>
          </a:p>
        </p:txBody>
      </p:sp>
      <p:sp>
        <p:nvSpPr>
          <p:cNvPr id="158" name="Google Shape;158;p6"/>
          <p:cNvSpPr/>
          <p:nvPr/>
        </p:nvSpPr>
        <p:spPr>
          <a:xfrm>
            <a:off x="274320" y="1261872"/>
            <a:ext cx="4160520" cy="502920"/>
          </a:xfrm>
          <a:prstGeom prst="rect">
            <a:avLst/>
          </a:prstGeom>
          <a:solidFill>
            <a:srgbClr val="0D2137"/>
          </a:solidFill>
          <a:ln cap="flat" cmpd="sng" w="9525">
            <a:solidFill>
              <a:srgbClr val="1A2A3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9" name="Google Shape;159;p6"/>
          <p:cNvSpPr/>
          <p:nvPr/>
        </p:nvSpPr>
        <p:spPr>
          <a:xfrm>
            <a:off x="365760" y="1335024"/>
            <a:ext cx="137160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B4D8"/>
              </a:buClr>
              <a:buSzPts val="1050"/>
              <a:buFont typeface="Calibri"/>
              <a:buNone/>
            </a:pPr>
            <a:r>
              <a:rPr b="1" lang="en-US" sz="1050">
                <a:solidFill>
                  <a:srgbClr val="00B4D8"/>
                </a:solidFill>
                <a:latin typeface="Calibri"/>
                <a:ea typeface="Calibri"/>
                <a:cs typeface="Calibri"/>
                <a:sym typeface="Calibri"/>
              </a:rPr>
              <a:t>VPQ Size</a:t>
            </a:r>
            <a:endParaRPr sz="1050">
              <a:solidFill>
                <a:schemeClr val="dk1"/>
              </a:solidFill>
              <a:latin typeface="Calibri"/>
              <a:ea typeface="Calibri"/>
              <a:cs typeface="Calibri"/>
              <a:sym typeface="Calibri"/>
            </a:endParaRPr>
          </a:p>
        </p:txBody>
      </p:sp>
      <p:sp>
        <p:nvSpPr>
          <p:cNvPr id="160" name="Google Shape;160;p6"/>
          <p:cNvSpPr/>
          <p:nvPr/>
        </p:nvSpPr>
        <p:spPr>
          <a:xfrm>
            <a:off x="1737360" y="1335024"/>
            <a:ext cx="64008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D166"/>
              </a:buClr>
              <a:buSzPts val="1300"/>
              <a:buFont typeface="Consolas"/>
              <a:buNone/>
            </a:pPr>
            <a:r>
              <a:rPr b="1" lang="en-US" sz="1300">
                <a:solidFill>
                  <a:srgbClr val="FFD166"/>
                </a:solidFill>
                <a:latin typeface="Consolas"/>
                <a:ea typeface="Consolas"/>
                <a:cs typeface="Consolas"/>
                <a:sym typeface="Consolas"/>
              </a:rPr>
              <a:t>256</a:t>
            </a:r>
            <a:endParaRPr sz="1300">
              <a:solidFill>
                <a:schemeClr val="dk1"/>
              </a:solidFill>
              <a:latin typeface="Calibri"/>
              <a:ea typeface="Calibri"/>
              <a:cs typeface="Calibri"/>
              <a:sym typeface="Calibri"/>
            </a:endParaRPr>
          </a:p>
        </p:txBody>
      </p:sp>
      <p:sp>
        <p:nvSpPr>
          <p:cNvPr id="161" name="Google Shape;161;p6"/>
          <p:cNvSpPr/>
          <p:nvPr/>
        </p:nvSpPr>
        <p:spPr>
          <a:xfrm>
            <a:off x="2377440" y="1353312"/>
            <a:ext cx="201168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EACC4"/>
              </a:buClr>
              <a:buSzPts val="950"/>
              <a:buFont typeface="Calibri"/>
              <a:buNone/>
            </a:pPr>
            <a:r>
              <a:rPr lang="en-US" sz="950">
                <a:solidFill>
                  <a:srgbClr val="8EACC4"/>
                </a:solidFill>
                <a:latin typeface="Calibri"/>
                <a:ea typeface="Calibri"/>
                <a:cs typeface="Calibri"/>
                <a:sym typeface="Calibri"/>
              </a:rPr>
              <a:t>256 in-flight prediction slots</a:t>
            </a:r>
            <a:endParaRPr sz="950">
              <a:solidFill>
                <a:schemeClr val="dk1"/>
              </a:solidFill>
              <a:latin typeface="Calibri"/>
              <a:ea typeface="Calibri"/>
              <a:cs typeface="Calibri"/>
              <a:sym typeface="Calibri"/>
            </a:endParaRPr>
          </a:p>
        </p:txBody>
      </p:sp>
      <p:sp>
        <p:nvSpPr>
          <p:cNvPr id="162" name="Google Shape;162;p6"/>
          <p:cNvSpPr/>
          <p:nvPr/>
        </p:nvSpPr>
        <p:spPr>
          <a:xfrm>
            <a:off x="274320" y="1837944"/>
            <a:ext cx="4160520" cy="502920"/>
          </a:xfrm>
          <a:prstGeom prst="rect">
            <a:avLst/>
          </a:prstGeom>
          <a:solidFill>
            <a:srgbClr val="0A1628"/>
          </a:solidFill>
          <a:ln cap="flat" cmpd="sng" w="9525">
            <a:solidFill>
              <a:srgbClr val="1A2A3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3" name="Google Shape;163;p6"/>
          <p:cNvSpPr/>
          <p:nvPr/>
        </p:nvSpPr>
        <p:spPr>
          <a:xfrm>
            <a:off x="365760" y="1911096"/>
            <a:ext cx="137160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B4D8"/>
              </a:buClr>
              <a:buSzPts val="1050"/>
              <a:buFont typeface="Calibri"/>
              <a:buNone/>
            </a:pPr>
            <a:r>
              <a:rPr b="1" lang="en-US" sz="1050">
                <a:solidFill>
                  <a:srgbClr val="00B4D8"/>
                </a:solidFill>
                <a:latin typeface="Calibri"/>
                <a:ea typeface="Calibri"/>
                <a:cs typeface="Calibri"/>
                <a:sym typeface="Calibri"/>
              </a:rPr>
              <a:t>SVP Index Bits</a:t>
            </a:r>
            <a:endParaRPr sz="1050">
              <a:solidFill>
                <a:schemeClr val="dk1"/>
              </a:solidFill>
              <a:latin typeface="Calibri"/>
              <a:ea typeface="Calibri"/>
              <a:cs typeface="Calibri"/>
              <a:sym typeface="Calibri"/>
            </a:endParaRPr>
          </a:p>
        </p:txBody>
      </p:sp>
      <p:sp>
        <p:nvSpPr>
          <p:cNvPr id="164" name="Google Shape;164;p6"/>
          <p:cNvSpPr/>
          <p:nvPr/>
        </p:nvSpPr>
        <p:spPr>
          <a:xfrm>
            <a:off x="1737360" y="1911096"/>
            <a:ext cx="64008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D166"/>
              </a:buClr>
              <a:buSzPts val="1300"/>
              <a:buFont typeface="Consolas"/>
              <a:buNone/>
            </a:pPr>
            <a:r>
              <a:rPr b="1" lang="en-US" sz="1300">
                <a:solidFill>
                  <a:srgbClr val="FFD166"/>
                </a:solidFill>
                <a:latin typeface="Consolas"/>
                <a:ea typeface="Consolas"/>
                <a:cs typeface="Consolas"/>
                <a:sym typeface="Consolas"/>
              </a:rPr>
              <a:t>10</a:t>
            </a:r>
            <a:endParaRPr sz="1300">
              <a:solidFill>
                <a:schemeClr val="dk1"/>
              </a:solidFill>
              <a:latin typeface="Calibri"/>
              <a:ea typeface="Calibri"/>
              <a:cs typeface="Calibri"/>
              <a:sym typeface="Calibri"/>
            </a:endParaRPr>
          </a:p>
        </p:txBody>
      </p:sp>
      <p:sp>
        <p:nvSpPr>
          <p:cNvPr id="165" name="Google Shape;165;p6"/>
          <p:cNvSpPr/>
          <p:nvPr/>
        </p:nvSpPr>
        <p:spPr>
          <a:xfrm>
            <a:off x="2377440" y="1929384"/>
            <a:ext cx="201168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EACC4"/>
              </a:buClr>
              <a:buSzPts val="950"/>
              <a:buFont typeface="Calibri"/>
              <a:buNone/>
            </a:pPr>
            <a:r>
              <a:rPr lang="en-US" sz="950">
                <a:solidFill>
                  <a:srgbClr val="8EACC4"/>
                </a:solidFill>
                <a:latin typeface="Calibri"/>
                <a:ea typeface="Calibri"/>
                <a:cs typeface="Calibri"/>
                <a:sym typeface="Calibri"/>
              </a:rPr>
              <a:t>1,024 SVP table entries</a:t>
            </a:r>
            <a:endParaRPr sz="950">
              <a:solidFill>
                <a:schemeClr val="dk1"/>
              </a:solidFill>
              <a:latin typeface="Calibri"/>
              <a:ea typeface="Calibri"/>
              <a:cs typeface="Calibri"/>
              <a:sym typeface="Calibri"/>
            </a:endParaRPr>
          </a:p>
        </p:txBody>
      </p:sp>
      <p:sp>
        <p:nvSpPr>
          <p:cNvPr id="166" name="Google Shape;166;p6"/>
          <p:cNvSpPr/>
          <p:nvPr/>
        </p:nvSpPr>
        <p:spPr>
          <a:xfrm>
            <a:off x="274320" y="2414016"/>
            <a:ext cx="4160520" cy="502920"/>
          </a:xfrm>
          <a:prstGeom prst="rect">
            <a:avLst/>
          </a:prstGeom>
          <a:solidFill>
            <a:srgbClr val="0D2137"/>
          </a:solidFill>
          <a:ln cap="flat" cmpd="sng" w="9525">
            <a:solidFill>
              <a:srgbClr val="1A2A3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7" name="Google Shape;167;p6"/>
          <p:cNvSpPr/>
          <p:nvPr/>
        </p:nvSpPr>
        <p:spPr>
          <a:xfrm>
            <a:off x="365760" y="2487168"/>
            <a:ext cx="137160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B4D8"/>
              </a:buClr>
              <a:buSzPts val="1050"/>
              <a:buFont typeface="Calibri"/>
              <a:buNone/>
            </a:pPr>
            <a:r>
              <a:rPr b="1" lang="en-US" sz="1050">
                <a:solidFill>
                  <a:srgbClr val="00B4D8"/>
                </a:solidFill>
                <a:latin typeface="Calibri"/>
                <a:ea typeface="Calibri"/>
                <a:cs typeface="Calibri"/>
                <a:sym typeface="Calibri"/>
              </a:rPr>
              <a:t>SVP Tag Bits</a:t>
            </a:r>
            <a:endParaRPr sz="1050">
              <a:solidFill>
                <a:schemeClr val="dk1"/>
              </a:solidFill>
              <a:latin typeface="Calibri"/>
              <a:ea typeface="Calibri"/>
              <a:cs typeface="Calibri"/>
              <a:sym typeface="Calibri"/>
            </a:endParaRPr>
          </a:p>
        </p:txBody>
      </p:sp>
      <p:sp>
        <p:nvSpPr>
          <p:cNvPr id="168" name="Google Shape;168;p6"/>
          <p:cNvSpPr/>
          <p:nvPr/>
        </p:nvSpPr>
        <p:spPr>
          <a:xfrm>
            <a:off x="1737360" y="2487168"/>
            <a:ext cx="64008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D166"/>
              </a:buClr>
              <a:buSzPts val="1300"/>
              <a:buFont typeface="Consolas"/>
              <a:buNone/>
            </a:pPr>
            <a:r>
              <a:rPr b="1" lang="en-US" sz="1300">
                <a:solidFill>
                  <a:srgbClr val="FFD166"/>
                </a:solidFill>
                <a:latin typeface="Consolas"/>
                <a:ea typeface="Consolas"/>
                <a:cs typeface="Consolas"/>
                <a:sym typeface="Consolas"/>
              </a:rPr>
              <a:t>10</a:t>
            </a:r>
            <a:endParaRPr sz="1300">
              <a:solidFill>
                <a:schemeClr val="dk1"/>
              </a:solidFill>
              <a:latin typeface="Calibri"/>
              <a:ea typeface="Calibri"/>
              <a:cs typeface="Calibri"/>
              <a:sym typeface="Calibri"/>
            </a:endParaRPr>
          </a:p>
        </p:txBody>
      </p:sp>
      <p:sp>
        <p:nvSpPr>
          <p:cNvPr id="169" name="Google Shape;169;p6"/>
          <p:cNvSpPr/>
          <p:nvPr/>
        </p:nvSpPr>
        <p:spPr>
          <a:xfrm>
            <a:off x="2377440" y="2505456"/>
            <a:ext cx="201168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EACC4"/>
              </a:buClr>
              <a:buSzPts val="950"/>
              <a:buFont typeface="Calibri"/>
              <a:buNone/>
            </a:pPr>
            <a:r>
              <a:rPr lang="en-US" sz="950">
                <a:solidFill>
                  <a:srgbClr val="8EACC4"/>
                </a:solidFill>
                <a:latin typeface="Calibri"/>
                <a:ea typeface="Calibri"/>
                <a:cs typeface="Calibri"/>
                <a:sym typeface="Calibri"/>
              </a:rPr>
              <a:t>Tag precision for SVP lookup</a:t>
            </a:r>
            <a:endParaRPr sz="950">
              <a:solidFill>
                <a:schemeClr val="dk1"/>
              </a:solidFill>
              <a:latin typeface="Calibri"/>
              <a:ea typeface="Calibri"/>
              <a:cs typeface="Calibri"/>
              <a:sym typeface="Calibri"/>
            </a:endParaRPr>
          </a:p>
        </p:txBody>
      </p:sp>
      <p:sp>
        <p:nvSpPr>
          <p:cNvPr id="170" name="Google Shape;170;p6"/>
          <p:cNvSpPr/>
          <p:nvPr/>
        </p:nvSpPr>
        <p:spPr>
          <a:xfrm>
            <a:off x="274320" y="2990088"/>
            <a:ext cx="4160520" cy="502920"/>
          </a:xfrm>
          <a:prstGeom prst="rect">
            <a:avLst/>
          </a:prstGeom>
          <a:solidFill>
            <a:srgbClr val="0A1628"/>
          </a:solidFill>
          <a:ln cap="flat" cmpd="sng" w="9525">
            <a:solidFill>
              <a:srgbClr val="1A2A3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1" name="Google Shape;171;p6"/>
          <p:cNvSpPr/>
          <p:nvPr/>
        </p:nvSpPr>
        <p:spPr>
          <a:xfrm>
            <a:off x="365760" y="3063240"/>
            <a:ext cx="137160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B4D8"/>
              </a:buClr>
              <a:buSzPts val="1050"/>
              <a:buFont typeface="Calibri"/>
              <a:buNone/>
            </a:pPr>
            <a:r>
              <a:rPr b="1" lang="en-US" sz="1050">
                <a:solidFill>
                  <a:srgbClr val="00B4D8"/>
                </a:solidFill>
                <a:latin typeface="Calibri"/>
                <a:ea typeface="Calibri"/>
                <a:cs typeface="Calibri"/>
                <a:sym typeface="Calibri"/>
              </a:rPr>
              <a:t>SVP Conf Max</a:t>
            </a:r>
            <a:endParaRPr sz="1050">
              <a:solidFill>
                <a:schemeClr val="dk1"/>
              </a:solidFill>
              <a:latin typeface="Calibri"/>
              <a:ea typeface="Calibri"/>
              <a:cs typeface="Calibri"/>
              <a:sym typeface="Calibri"/>
            </a:endParaRPr>
          </a:p>
        </p:txBody>
      </p:sp>
      <p:sp>
        <p:nvSpPr>
          <p:cNvPr id="172" name="Google Shape;172;p6"/>
          <p:cNvSpPr/>
          <p:nvPr/>
        </p:nvSpPr>
        <p:spPr>
          <a:xfrm>
            <a:off x="1737360" y="3063240"/>
            <a:ext cx="64008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D166"/>
              </a:buClr>
              <a:buSzPts val="1300"/>
              <a:buFont typeface="Consolas"/>
              <a:buNone/>
            </a:pPr>
            <a:r>
              <a:rPr b="1" lang="en-US" sz="1300">
                <a:solidFill>
                  <a:srgbClr val="FFD166"/>
                </a:solidFill>
                <a:latin typeface="Consolas"/>
                <a:ea typeface="Consolas"/>
                <a:cs typeface="Consolas"/>
                <a:sym typeface="Consolas"/>
              </a:rPr>
              <a:t>47</a:t>
            </a:r>
            <a:endParaRPr sz="1300">
              <a:solidFill>
                <a:schemeClr val="dk1"/>
              </a:solidFill>
              <a:latin typeface="Calibri"/>
              <a:ea typeface="Calibri"/>
              <a:cs typeface="Calibri"/>
              <a:sym typeface="Calibri"/>
            </a:endParaRPr>
          </a:p>
        </p:txBody>
      </p:sp>
      <p:sp>
        <p:nvSpPr>
          <p:cNvPr id="173" name="Google Shape;173;p6"/>
          <p:cNvSpPr/>
          <p:nvPr/>
        </p:nvSpPr>
        <p:spPr>
          <a:xfrm>
            <a:off x="2377440" y="3081528"/>
            <a:ext cx="201168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EACC4"/>
              </a:buClr>
              <a:buSzPts val="950"/>
              <a:buFont typeface="Calibri"/>
              <a:buNone/>
            </a:pPr>
            <a:r>
              <a:rPr lang="en-US" sz="950">
                <a:solidFill>
                  <a:srgbClr val="8EACC4"/>
                </a:solidFill>
                <a:latin typeface="Calibri"/>
                <a:ea typeface="Calibri"/>
                <a:cs typeface="Calibri"/>
                <a:sym typeface="Calibri"/>
              </a:rPr>
              <a:t>SVP fires sooner — helps structured workloads like perlbench &amp; h264ref</a:t>
            </a:r>
            <a:endParaRPr sz="950">
              <a:solidFill>
                <a:schemeClr val="dk1"/>
              </a:solidFill>
              <a:latin typeface="Calibri"/>
              <a:ea typeface="Calibri"/>
              <a:cs typeface="Calibri"/>
              <a:sym typeface="Calibri"/>
            </a:endParaRPr>
          </a:p>
        </p:txBody>
      </p:sp>
      <p:sp>
        <p:nvSpPr>
          <p:cNvPr id="174" name="Google Shape;174;p6"/>
          <p:cNvSpPr/>
          <p:nvPr/>
        </p:nvSpPr>
        <p:spPr>
          <a:xfrm>
            <a:off x="274320" y="3566160"/>
            <a:ext cx="4160520" cy="502920"/>
          </a:xfrm>
          <a:prstGeom prst="rect">
            <a:avLst/>
          </a:prstGeom>
          <a:solidFill>
            <a:srgbClr val="0D2137"/>
          </a:solidFill>
          <a:ln cap="flat" cmpd="sng" w="9525">
            <a:solidFill>
              <a:srgbClr val="1A2A3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5" name="Google Shape;175;p6"/>
          <p:cNvSpPr/>
          <p:nvPr/>
        </p:nvSpPr>
        <p:spPr>
          <a:xfrm>
            <a:off x="365760" y="3639312"/>
            <a:ext cx="137160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B4D8"/>
              </a:buClr>
              <a:buSzPts val="1050"/>
              <a:buFont typeface="Calibri"/>
              <a:buNone/>
            </a:pPr>
            <a:r>
              <a:rPr b="1" lang="en-US" sz="1050">
                <a:solidFill>
                  <a:srgbClr val="00B4D8"/>
                </a:solidFill>
                <a:latin typeface="Calibri"/>
                <a:ea typeface="Calibri"/>
                <a:cs typeface="Calibri"/>
                <a:sym typeface="Calibri"/>
              </a:rPr>
              <a:t>VTAGE Tables (N)</a:t>
            </a:r>
            <a:endParaRPr sz="1050">
              <a:solidFill>
                <a:schemeClr val="dk1"/>
              </a:solidFill>
              <a:latin typeface="Calibri"/>
              <a:ea typeface="Calibri"/>
              <a:cs typeface="Calibri"/>
              <a:sym typeface="Calibri"/>
            </a:endParaRPr>
          </a:p>
        </p:txBody>
      </p:sp>
      <p:sp>
        <p:nvSpPr>
          <p:cNvPr id="176" name="Google Shape;176;p6"/>
          <p:cNvSpPr/>
          <p:nvPr/>
        </p:nvSpPr>
        <p:spPr>
          <a:xfrm>
            <a:off x="1737360" y="3639312"/>
            <a:ext cx="64008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D166"/>
              </a:buClr>
              <a:buSzPts val="1300"/>
              <a:buFont typeface="Consolas"/>
              <a:buNone/>
            </a:pPr>
            <a:r>
              <a:rPr b="1" lang="en-US" sz="1300">
                <a:solidFill>
                  <a:srgbClr val="FFD166"/>
                </a:solidFill>
                <a:latin typeface="Consolas"/>
                <a:ea typeface="Consolas"/>
                <a:cs typeface="Consolas"/>
                <a:sym typeface="Consolas"/>
              </a:rPr>
              <a:t>5</a:t>
            </a:r>
            <a:endParaRPr sz="1300">
              <a:solidFill>
                <a:schemeClr val="dk1"/>
              </a:solidFill>
              <a:latin typeface="Calibri"/>
              <a:ea typeface="Calibri"/>
              <a:cs typeface="Calibri"/>
              <a:sym typeface="Calibri"/>
            </a:endParaRPr>
          </a:p>
        </p:txBody>
      </p:sp>
      <p:sp>
        <p:nvSpPr>
          <p:cNvPr id="177" name="Google Shape;177;p6"/>
          <p:cNvSpPr/>
          <p:nvPr/>
        </p:nvSpPr>
        <p:spPr>
          <a:xfrm>
            <a:off x="2377440" y="3657600"/>
            <a:ext cx="201168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EACC4"/>
              </a:buClr>
              <a:buSzPts val="950"/>
              <a:buFont typeface="Calibri"/>
              <a:buNone/>
            </a:pPr>
            <a:r>
              <a:rPr lang="en-US" sz="950">
                <a:solidFill>
                  <a:srgbClr val="8EACC4"/>
                </a:solidFill>
                <a:latin typeface="Calibri"/>
                <a:ea typeface="Calibri"/>
                <a:cs typeface="Calibri"/>
                <a:sym typeface="Calibri"/>
              </a:rPr>
              <a:t>Five tables with geometrically spaced history lengths</a:t>
            </a:r>
            <a:endParaRPr sz="950">
              <a:solidFill>
                <a:schemeClr val="dk1"/>
              </a:solidFill>
              <a:latin typeface="Calibri"/>
              <a:ea typeface="Calibri"/>
              <a:cs typeface="Calibri"/>
              <a:sym typeface="Calibri"/>
            </a:endParaRPr>
          </a:p>
        </p:txBody>
      </p:sp>
      <p:sp>
        <p:nvSpPr>
          <p:cNvPr id="178" name="Google Shape;178;p6"/>
          <p:cNvSpPr/>
          <p:nvPr/>
        </p:nvSpPr>
        <p:spPr>
          <a:xfrm>
            <a:off x="274320" y="4142232"/>
            <a:ext cx="4160520" cy="502920"/>
          </a:xfrm>
          <a:prstGeom prst="rect">
            <a:avLst/>
          </a:prstGeom>
          <a:solidFill>
            <a:srgbClr val="0A1628"/>
          </a:solidFill>
          <a:ln cap="flat" cmpd="sng" w="9525">
            <a:solidFill>
              <a:srgbClr val="1A2A3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9" name="Google Shape;179;p6"/>
          <p:cNvSpPr/>
          <p:nvPr/>
        </p:nvSpPr>
        <p:spPr>
          <a:xfrm>
            <a:off x="365760" y="4215384"/>
            <a:ext cx="137160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B4D8"/>
              </a:buClr>
              <a:buSzPts val="1050"/>
              <a:buFont typeface="Calibri"/>
              <a:buNone/>
            </a:pPr>
            <a:r>
              <a:rPr b="1" lang="en-US" sz="1050">
                <a:solidFill>
                  <a:srgbClr val="00B4D8"/>
                </a:solidFill>
                <a:latin typeface="Calibri"/>
                <a:ea typeface="Calibri"/>
                <a:cs typeface="Calibri"/>
                <a:sym typeface="Calibri"/>
              </a:rPr>
              <a:t>Min History</a:t>
            </a:r>
            <a:endParaRPr sz="1050">
              <a:solidFill>
                <a:schemeClr val="dk1"/>
              </a:solidFill>
              <a:latin typeface="Calibri"/>
              <a:ea typeface="Calibri"/>
              <a:cs typeface="Calibri"/>
              <a:sym typeface="Calibri"/>
            </a:endParaRPr>
          </a:p>
        </p:txBody>
      </p:sp>
      <p:sp>
        <p:nvSpPr>
          <p:cNvPr id="180" name="Google Shape;180;p6"/>
          <p:cNvSpPr/>
          <p:nvPr/>
        </p:nvSpPr>
        <p:spPr>
          <a:xfrm>
            <a:off x="1737360" y="4215384"/>
            <a:ext cx="64008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D166"/>
              </a:buClr>
              <a:buSzPts val="1300"/>
              <a:buFont typeface="Consolas"/>
              <a:buNone/>
            </a:pPr>
            <a:r>
              <a:rPr b="1" lang="en-US" sz="1300">
                <a:solidFill>
                  <a:srgbClr val="FFD166"/>
                </a:solidFill>
                <a:latin typeface="Consolas"/>
                <a:ea typeface="Consolas"/>
                <a:cs typeface="Consolas"/>
                <a:sym typeface="Consolas"/>
              </a:rPr>
              <a:t>3</a:t>
            </a:r>
            <a:endParaRPr sz="1300">
              <a:solidFill>
                <a:schemeClr val="dk1"/>
              </a:solidFill>
              <a:latin typeface="Calibri"/>
              <a:ea typeface="Calibri"/>
              <a:cs typeface="Calibri"/>
              <a:sym typeface="Calibri"/>
            </a:endParaRPr>
          </a:p>
        </p:txBody>
      </p:sp>
      <p:sp>
        <p:nvSpPr>
          <p:cNvPr id="181" name="Google Shape;181;p6"/>
          <p:cNvSpPr/>
          <p:nvPr/>
        </p:nvSpPr>
        <p:spPr>
          <a:xfrm>
            <a:off x="2377440" y="4233672"/>
            <a:ext cx="201168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EACC4"/>
              </a:buClr>
              <a:buSzPts val="950"/>
              <a:buFont typeface="Calibri"/>
              <a:buNone/>
            </a:pPr>
            <a:r>
              <a:rPr lang="en-US" sz="950">
                <a:solidFill>
                  <a:srgbClr val="8EACC4"/>
                </a:solidFill>
                <a:latin typeface="Calibri"/>
                <a:ea typeface="Calibri"/>
                <a:cs typeface="Calibri"/>
                <a:sym typeface="Calibri"/>
              </a:rPr>
              <a:t>Shortest history: captures innermost loops</a:t>
            </a:r>
            <a:endParaRPr sz="950">
              <a:solidFill>
                <a:schemeClr val="dk1"/>
              </a:solidFill>
              <a:latin typeface="Calibri"/>
              <a:ea typeface="Calibri"/>
              <a:cs typeface="Calibri"/>
              <a:sym typeface="Calibri"/>
            </a:endParaRPr>
          </a:p>
        </p:txBody>
      </p:sp>
      <p:sp>
        <p:nvSpPr>
          <p:cNvPr id="182" name="Google Shape;182;p6"/>
          <p:cNvSpPr/>
          <p:nvPr/>
        </p:nvSpPr>
        <p:spPr>
          <a:xfrm>
            <a:off x="4663440" y="1261872"/>
            <a:ext cx="4160520" cy="502920"/>
          </a:xfrm>
          <a:prstGeom prst="rect">
            <a:avLst/>
          </a:prstGeom>
          <a:solidFill>
            <a:srgbClr val="0D2137"/>
          </a:solidFill>
          <a:ln cap="flat" cmpd="sng" w="9525">
            <a:solidFill>
              <a:srgbClr val="1A2A3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3" name="Google Shape;183;p6"/>
          <p:cNvSpPr/>
          <p:nvPr/>
        </p:nvSpPr>
        <p:spPr>
          <a:xfrm>
            <a:off x="4754880" y="1335024"/>
            <a:ext cx="137160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B4D8"/>
              </a:buClr>
              <a:buSzPts val="1050"/>
              <a:buFont typeface="Calibri"/>
              <a:buNone/>
            </a:pPr>
            <a:r>
              <a:rPr b="1" lang="en-US" sz="1050">
                <a:solidFill>
                  <a:srgbClr val="00B4D8"/>
                </a:solidFill>
                <a:latin typeface="Calibri"/>
                <a:ea typeface="Calibri"/>
                <a:cs typeface="Calibri"/>
                <a:sym typeface="Calibri"/>
              </a:rPr>
              <a:t>Max History</a:t>
            </a:r>
            <a:endParaRPr sz="1050">
              <a:solidFill>
                <a:schemeClr val="dk1"/>
              </a:solidFill>
              <a:latin typeface="Calibri"/>
              <a:ea typeface="Calibri"/>
              <a:cs typeface="Calibri"/>
              <a:sym typeface="Calibri"/>
            </a:endParaRPr>
          </a:p>
        </p:txBody>
      </p:sp>
      <p:sp>
        <p:nvSpPr>
          <p:cNvPr id="184" name="Google Shape;184;p6"/>
          <p:cNvSpPr/>
          <p:nvPr/>
        </p:nvSpPr>
        <p:spPr>
          <a:xfrm>
            <a:off x="6126480" y="1335024"/>
            <a:ext cx="64008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D166"/>
              </a:buClr>
              <a:buSzPts val="1300"/>
              <a:buFont typeface="Consolas"/>
              <a:buNone/>
            </a:pPr>
            <a:r>
              <a:rPr b="1" lang="en-US" sz="1300">
                <a:solidFill>
                  <a:srgbClr val="FFD166"/>
                </a:solidFill>
                <a:latin typeface="Consolas"/>
                <a:ea typeface="Consolas"/>
                <a:cs typeface="Consolas"/>
                <a:sym typeface="Consolas"/>
              </a:rPr>
              <a:t>54</a:t>
            </a:r>
            <a:endParaRPr sz="1300">
              <a:solidFill>
                <a:schemeClr val="dk1"/>
              </a:solidFill>
              <a:latin typeface="Calibri"/>
              <a:ea typeface="Calibri"/>
              <a:cs typeface="Calibri"/>
              <a:sym typeface="Calibri"/>
            </a:endParaRPr>
          </a:p>
        </p:txBody>
      </p:sp>
      <p:sp>
        <p:nvSpPr>
          <p:cNvPr id="185" name="Google Shape;185;p6"/>
          <p:cNvSpPr/>
          <p:nvPr/>
        </p:nvSpPr>
        <p:spPr>
          <a:xfrm>
            <a:off x="6766560" y="1353312"/>
            <a:ext cx="201168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EACC4"/>
              </a:buClr>
              <a:buSzPts val="950"/>
              <a:buFont typeface="Calibri"/>
              <a:buNone/>
            </a:pPr>
            <a:r>
              <a:rPr lang="en-US" sz="950">
                <a:solidFill>
                  <a:srgbClr val="8EACC4"/>
                </a:solidFill>
                <a:latin typeface="Calibri"/>
                <a:ea typeface="Calibri"/>
                <a:cs typeface="Calibri"/>
                <a:sym typeface="Calibri"/>
              </a:rPr>
              <a:t>Longest history: captures function-level context</a:t>
            </a:r>
            <a:endParaRPr sz="950">
              <a:solidFill>
                <a:schemeClr val="dk1"/>
              </a:solidFill>
              <a:latin typeface="Calibri"/>
              <a:ea typeface="Calibri"/>
              <a:cs typeface="Calibri"/>
              <a:sym typeface="Calibri"/>
            </a:endParaRPr>
          </a:p>
        </p:txBody>
      </p:sp>
      <p:sp>
        <p:nvSpPr>
          <p:cNvPr id="186" name="Google Shape;186;p6"/>
          <p:cNvSpPr/>
          <p:nvPr/>
        </p:nvSpPr>
        <p:spPr>
          <a:xfrm>
            <a:off x="4663440" y="1837944"/>
            <a:ext cx="4160520" cy="502920"/>
          </a:xfrm>
          <a:prstGeom prst="rect">
            <a:avLst/>
          </a:prstGeom>
          <a:solidFill>
            <a:srgbClr val="0A1628"/>
          </a:solidFill>
          <a:ln cap="flat" cmpd="sng" w="9525">
            <a:solidFill>
              <a:srgbClr val="1A2A3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7" name="Google Shape;187;p6"/>
          <p:cNvSpPr/>
          <p:nvPr/>
        </p:nvSpPr>
        <p:spPr>
          <a:xfrm>
            <a:off x="4754880" y="1911096"/>
            <a:ext cx="137160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B4D8"/>
              </a:buClr>
              <a:buSzPts val="1050"/>
              <a:buFont typeface="Calibri"/>
              <a:buNone/>
            </a:pPr>
            <a:r>
              <a:rPr b="1" lang="en-US" sz="1050">
                <a:solidFill>
                  <a:srgbClr val="00B4D8"/>
                </a:solidFill>
                <a:latin typeface="Calibri"/>
                <a:ea typeface="Calibri"/>
                <a:cs typeface="Calibri"/>
                <a:sym typeface="Calibri"/>
              </a:rPr>
              <a:t>VTAGE Conf Max</a:t>
            </a:r>
            <a:endParaRPr sz="1050">
              <a:solidFill>
                <a:schemeClr val="dk1"/>
              </a:solidFill>
              <a:latin typeface="Calibri"/>
              <a:ea typeface="Calibri"/>
              <a:cs typeface="Calibri"/>
              <a:sym typeface="Calibri"/>
            </a:endParaRPr>
          </a:p>
        </p:txBody>
      </p:sp>
      <p:sp>
        <p:nvSpPr>
          <p:cNvPr id="188" name="Google Shape;188;p6"/>
          <p:cNvSpPr/>
          <p:nvPr/>
        </p:nvSpPr>
        <p:spPr>
          <a:xfrm>
            <a:off x="6126480" y="1911096"/>
            <a:ext cx="64008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D166"/>
              </a:buClr>
              <a:buSzPts val="1300"/>
              <a:buFont typeface="Consolas"/>
              <a:buNone/>
            </a:pPr>
            <a:r>
              <a:rPr b="1" lang="en-US" sz="1300">
                <a:solidFill>
                  <a:srgbClr val="FFD166"/>
                </a:solidFill>
                <a:latin typeface="Consolas"/>
                <a:ea typeface="Consolas"/>
                <a:cs typeface="Consolas"/>
                <a:sym typeface="Consolas"/>
              </a:rPr>
              <a:t>63</a:t>
            </a:r>
            <a:endParaRPr sz="1300">
              <a:solidFill>
                <a:schemeClr val="dk1"/>
              </a:solidFill>
              <a:latin typeface="Calibri"/>
              <a:ea typeface="Calibri"/>
              <a:cs typeface="Calibri"/>
              <a:sym typeface="Calibri"/>
            </a:endParaRPr>
          </a:p>
        </p:txBody>
      </p:sp>
      <p:sp>
        <p:nvSpPr>
          <p:cNvPr id="189" name="Google Shape;189;p6"/>
          <p:cNvSpPr/>
          <p:nvPr/>
        </p:nvSpPr>
        <p:spPr>
          <a:xfrm>
            <a:off x="6766560" y="1929384"/>
            <a:ext cx="201168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EACC4"/>
              </a:buClr>
              <a:buSzPts val="950"/>
              <a:buFont typeface="Calibri"/>
              <a:buNone/>
            </a:pPr>
            <a:r>
              <a:rPr lang="en-US" sz="950">
                <a:solidFill>
                  <a:srgbClr val="8EACC4"/>
                </a:solidFill>
                <a:latin typeface="Calibri"/>
                <a:ea typeface="Calibri"/>
                <a:cs typeface="Calibri"/>
                <a:sym typeface="Calibri"/>
              </a:rPr>
              <a:t>High confidence bar — entries must prove themselves 63+ times</a:t>
            </a:r>
            <a:endParaRPr sz="950">
              <a:solidFill>
                <a:schemeClr val="dk1"/>
              </a:solidFill>
              <a:latin typeface="Calibri"/>
              <a:ea typeface="Calibri"/>
              <a:cs typeface="Calibri"/>
              <a:sym typeface="Calibri"/>
            </a:endParaRPr>
          </a:p>
        </p:txBody>
      </p:sp>
      <p:sp>
        <p:nvSpPr>
          <p:cNvPr id="190" name="Google Shape;190;p6"/>
          <p:cNvSpPr/>
          <p:nvPr/>
        </p:nvSpPr>
        <p:spPr>
          <a:xfrm>
            <a:off x="4663440" y="2414016"/>
            <a:ext cx="4160520" cy="502920"/>
          </a:xfrm>
          <a:prstGeom prst="rect">
            <a:avLst/>
          </a:prstGeom>
          <a:solidFill>
            <a:srgbClr val="0D2137"/>
          </a:solidFill>
          <a:ln cap="flat" cmpd="sng" w="9525">
            <a:solidFill>
              <a:srgbClr val="1A2A3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1" name="Google Shape;191;p6"/>
          <p:cNvSpPr/>
          <p:nvPr/>
        </p:nvSpPr>
        <p:spPr>
          <a:xfrm>
            <a:off x="4754880" y="2487168"/>
            <a:ext cx="137160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B4D8"/>
              </a:buClr>
              <a:buSzPts val="1050"/>
              <a:buFont typeface="Calibri"/>
              <a:buNone/>
            </a:pPr>
            <a:r>
              <a:rPr b="1" lang="en-US" sz="1050">
                <a:solidFill>
                  <a:srgbClr val="00B4D8"/>
                </a:solidFill>
                <a:latin typeface="Calibri"/>
                <a:ea typeface="Calibri"/>
                <a:cs typeface="Calibri"/>
                <a:sym typeface="Calibri"/>
              </a:rPr>
              <a:t>VTAGE Index Bits</a:t>
            </a:r>
            <a:endParaRPr sz="1050">
              <a:solidFill>
                <a:schemeClr val="dk1"/>
              </a:solidFill>
              <a:latin typeface="Calibri"/>
              <a:ea typeface="Calibri"/>
              <a:cs typeface="Calibri"/>
              <a:sym typeface="Calibri"/>
            </a:endParaRPr>
          </a:p>
        </p:txBody>
      </p:sp>
      <p:sp>
        <p:nvSpPr>
          <p:cNvPr id="192" name="Google Shape;192;p6"/>
          <p:cNvSpPr/>
          <p:nvPr/>
        </p:nvSpPr>
        <p:spPr>
          <a:xfrm>
            <a:off x="6126480" y="2487168"/>
            <a:ext cx="64008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D166"/>
              </a:buClr>
              <a:buSzPts val="1300"/>
              <a:buFont typeface="Consolas"/>
              <a:buNone/>
            </a:pPr>
            <a:r>
              <a:rPr b="1" lang="en-US" sz="1300">
                <a:solidFill>
                  <a:srgbClr val="FFD166"/>
                </a:solidFill>
                <a:latin typeface="Consolas"/>
                <a:ea typeface="Consolas"/>
                <a:cs typeface="Consolas"/>
                <a:sym typeface="Consolas"/>
              </a:rPr>
              <a:t>8</a:t>
            </a:r>
            <a:endParaRPr sz="1300">
              <a:solidFill>
                <a:schemeClr val="dk1"/>
              </a:solidFill>
              <a:latin typeface="Calibri"/>
              <a:ea typeface="Calibri"/>
              <a:cs typeface="Calibri"/>
              <a:sym typeface="Calibri"/>
            </a:endParaRPr>
          </a:p>
        </p:txBody>
      </p:sp>
      <p:sp>
        <p:nvSpPr>
          <p:cNvPr id="193" name="Google Shape;193;p6"/>
          <p:cNvSpPr/>
          <p:nvPr/>
        </p:nvSpPr>
        <p:spPr>
          <a:xfrm>
            <a:off x="6766560" y="2505456"/>
            <a:ext cx="201168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EACC4"/>
              </a:buClr>
              <a:buSzPts val="950"/>
              <a:buFont typeface="Calibri"/>
              <a:buNone/>
            </a:pPr>
            <a:r>
              <a:rPr lang="en-US" sz="950">
                <a:solidFill>
                  <a:srgbClr val="8EACC4"/>
                </a:solidFill>
                <a:latin typeface="Calibri"/>
                <a:ea typeface="Calibri"/>
                <a:cs typeface="Calibri"/>
                <a:sym typeface="Calibri"/>
              </a:rPr>
              <a:t>256 entries per VTAGE table</a:t>
            </a:r>
            <a:endParaRPr sz="950">
              <a:solidFill>
                <a:schemeClr val="dk1"/>
              </a:solidFill>
              <a:latin typeface="Calibri"/>
              <a:ea typeface="Calibri"/>
              <a:cs typeface="Calibri"/>
              <a:sym typeface="Calibri"/>
            </a:endParaRPr>
          </a:p>
        </p:txBody>
      </p:sp>
      <p:sp>
        <p:nvSpPr>
          <p:cNvPr id="194" name="Google Shape;194;p6"/>
          <p:cNvSpPr/>
          <p:nvPr/>
        </p:nvSpPr>
        <p:spPr>
          <a:xfrm>
            <a:off x="4663440" y="2990088"/>
            <a:ext cx="4160520" cy="502920"/>
          </a:xfrm>
          <a:prstGeom prst="rect">
            <a:avLst/>
          </a:prstGeom>
          <a:solidFill>
            <a:srgbClr val="0A1628"/>
          </a:solidFill>
          <a:ln cap="flat" cmpd="sng" w="9525">
            <a:solidFill>
              <a:srgbClr val="1A2A3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5" name="Google Shape;195;p6"/>
          <p:cNvSpPr/>
          <p:nvPr/>
        </p:nvSpPr>
        <p:spPr>
          <a:xfrm>
            <a:off x="4754880" y="3063240"/>
            <a:ext cx="137160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B4D8"/>
              </a:buClr>
              <a:buSzPts val="1050"/>
              <a:buFont typeface="Calibri"/>
              <a:buNone/>
            </a:pPr>
            <a:r>
              <a:rPr b="1" lang="en-US" sz="1050">
                <a:solidFill>
                  <a:srgbClr val="00B4D8"/>
                </a:solidFill>
                <a:latin typeface="Calibri"/>
                <a:ea typeface="Calibri"/>
                <a:cs typeface="Calibri"/>
                <a:sym typeface="Calibri"/>
              </a:rPr>
              <a:t>VTAGE Tag Bits</a:t>
            </a:r>
            <a:endParaRPr sz="1050">
              <a:solidFill>
                <a:schemeClr val="dk1"/>
              </a:solidFill>
              <a:latin typeface="Calibri"/>
              <a:ea typeface="Calibri"/>
              <a:cs typeface="Calibri"/>
              <a:sym typeface="Calibri"/>
            </a:endParaRPr>
          </a:p>
        </p:txBody>
      </p:sp>
      <p:sp>
        <p:nvSpPr>
          <p:cNvPr id="196" name="Google Shape;196;p6"/>
          <p:cNvSpPr/>
          <p:nvPr/>
        </p:nvSpPr>
        <p:spPr>
          <a:xfrm>
            <a:off x="6126480" y="3063240"/>
            <a:ext cx="64008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D166"/>
              </a:buClr>
              <a:buSzPts val="1300"/>
              <a:buFont typeface="Consolas"/>
              <a:buNone/>
            </a:pPr>
            <a:r>
              <a:rPr b="1" lang="en-US" sz="1300">
                <a:solidFill>
                  <a:srgbClr val="FFD166"/>
                </a:solidFill>
                <a:latin typeface="Consolas"/>
                <a:ea typeface="Consolas"/>
                <a:cs typeface="Consolas"/>
                <a:sym typeface="Consolas"/>
              </a:rPr>
              <a:t>11</a:t>
            </a:r>
            <a:endParaRPr sz="1300">
              <a:solidFill>
                <a:schemeClr val="dk1"/>
              </a:solidFill>
              <a:latin typeface="Calibri"/>
              <a:ea typeface="Calibri"/>
              <a:cs typeface="Calibri"/>
              <a:sym typeface="Calibri"/>
            </a:endParaRPr>
          </a:p>
        </p:txBody>
      </p:sp>
      <p:sp>
        <p:nvSpPr>
          <p:cNvPr id="197" name="Google Shape;197;p6"/>
          <p:cNvSpPr/>
          <p:nvPr/>
        </p:nvSpPr>
        <p:spPr>
          <a:xfrm>
            <a:off x="6766560" y="3081528"/>
            <a:ext cx="201168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EACC4"/>
              </a:buClr>
              <a:buSzPts val="950"/>
              <a:buFont typeface="Calibri"/>
              <a:buNone/>
            </a:pPr>
            <a:r>
              <a:rPr lang="en-US" sz="950">
                <a:solidFill>
                  <a:srgbClr val="8EACC4"/>
                </a:solidFill>
                <a:latin typeface="Calibri"/>
                <a:ea typeface="Calibri"/>
                <a:cs typeface="Calibri"/>
                <a:sym typeface="Calibri"/>
              </a:rPr>
              <a:t>Precise tag matching — reduces aliasing</a:t>
            </a:r>
            <a:endParaRPr sz="950">
              <a:solidFill>
                <a:schemeClr val="dk1"/>
              </a:solidFill>
              <a:latin typeface="Calibri"/>
              <a:ea typeface="Calibri"/>
              <a:cs typeface="Calibri"/>
              <a:sym typeface="Calibri"/>
            </a:endParaRPr>
          </a:p>
        </p:txBody>
      </p:sp>
      <p:sp>
        <p:nvSpPr>
          <p:cNvPr id="198" name="Google Shape;198;p6"/>
          <p:cNvSpPr/>
          <p:nvPr/>
        </p:nvSpPr>
        <p:spPr>
          <a:xfrm>
            <a:off x="4663440" y="3566160"/>
            <a:ext cx="4160520" cy="502920"/>
          </a:xfrm>
          <a:prstGeom prst="rect">
            <a:avLst/>
          </a:prstGeom>
          <a:solidFill>
            <a:srgbClr val="0D2137"/>
          </a:solidFill>
          <a:ln cap="flat" cmpd="sng" w="9525">
            <a:solidFill>
              <a:srgbClr val="1A2A3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9" name="Google Shape;199;p6"/>
          <p:cNvSpPr/>
          <p:nvPr/>
        </p:nvSpPr>
        <p:spPr>
          <a:xfrm>
            <a:off x="4754880" y="3639312"/>
            <a:ext cx="137160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B4D8"/>
              </a:buClr>
              <a:buSzPts val="1050"/>
              <a:buFont typeface="Calibri"/>
              <a:buNone/>
            </a:pPr>
            <a:r>
              <a:rPr b="1" lang="en-US" sz="1050">
                <a:solidFill>
                  <a:srgbClr val="00B4D8"/>
                </a:solidFill>
                <a:latin typeface="Calibri"/>
                <a:ea typeface="Calibri"/>
                <a:cs typeface="Calibri"/>
                <a:sym typeface="Calibri"/>
              </a:rPr>
              <a:t>e_mode</a:t>
            </a:r>
            <a:endParaRPr sz="1050">
              <a:solidFill>
                <a:schemeClr val="dk1"/>
              </a:solidFill>
              <a:latin typeface="Calibri"/>
              <a:ea typeface="Calibri"/>
              <a:cs typeface="Calibri"/>
              <a:sym typeface="Calibri"/>
            </a:endParaRPr>
          </a:p>
        </p:txBody>
      </p:sp>
      <p:sp>
        <p:nvSpPr>
          <p:cNvPr id="200" name="Google Shape;200;p6"/>
          <p:cNvSpPr/>
          <p:nvPr/>
        </p:nvSpPr>
        <p:spPr>
          <a:xfrm>
            <a:off x="6126480" y="3639312"/>
            <a:ext cx="64008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D166"/>
              </a:buClr>
              <a:buSzPts val="1300"/>
              <a:buFont typeface="Consolas"/>
              <a:buNone/>
            </a:pPr>
            <a:r>
              <a:rPr b="1" lang="en-US" sz="1300">
                <a:solidFill>
                  <a:srgbClr val="FFD166"/>
                </a:solidFill>
                <a:latin typeface="Consolas"/>
                <a:ea typeface="Consolas"/>
                <a:cs typeface="Consolas"/>
                <a:sym typeface="Consolas"/>
              </a:rPr>
              <a:t>ON</a:t>
            </a:r>
            <a:endParaRPr sz="1300">
              <a:solidFill>
                <a:schemeClr val="dk1"/>
              </a:solidFill>
              <a:latin typeface="Calibri"/>
              <a:ea typeface="Calibri"/>
              <a:cs typeface="Calibri"/>
              <a:sym typeface="Calibri"/>
            </a:endParaRPr>
          </a:p>
        </p:txBody>
      </p:sp>
      <p:sp>
        <p:nvSpPr>
          <p:cNvPr id="201" name="Google Shape;201;p6"/>
          <p:cNvSpPr/>
          <p:nvPr/>
        </p:nvSpPr>
        <p:spPr>
          <a:xfrm>
            <a:off x="6766560" y="3657600"/>
            <a:ext cx="201168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EACC4"/>
              </a:buClr>
              <a:buSzPts val="950"/>
              <a:buFont typeface="Calibri"/>
              <a:buNone/>
            </a:pPr>
            <a:r>
              <a:rPr lang="en-US" sz="950">
                <a:solidFill>
                  <a:srgbClr val="8EACC4"/>
                </a:solidFill>
                <a:latin typeface="Calibri"/>
                <a:ea typeface="Calibri"/>
                <a:cs typeface="Calibri"/>
                <a:sym typeface="Calibri"/>
              </a:rPr>
              <a:t>Instruction-type-aware training rates enabled</a:t>
            </a:r>
            <a:endParaRPr sz="950">
              <a:solidFill>
                <a:schemeClr val="dk1"/>
              </a:solidFill>
              <a:latin typeface="Calibri"/>
              <a:ea typeface="Calibri"/>
              <a:cs typeface="Calibri"/>
              <a:sym typeface="Calibri"/>
            </a:endParaRPr>
          </a:p>
        </p:txBody>
      </p:sp>
      <p:sp>
        <p:nvSpPr>
          <p:cNvPr id="202" name="Google Shape;202;p6"/>
          <p:cNvSpPr/>
          <p:nvPr/>
        </p:nvSpPr>
        <p:spPr>
          <a:xfrm>
            <a:off x="274320" y="4690872"/>
            <a:ext cx="8595360" cy="347472"/>
          </a:xfrm>
          <a:prstGeom prst="rect">
            <a:avLst/>
          </a:prstGeom>
          <a:solidFill>
            <a:srgbClr val="0A1A0A"/>
          </a:solidFill>
          <a:ln cap="flat" cmpd="sng" w="19050">
            <a:solidFill>
              <a:srgbClr val="06D6A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3" name="Google Shape;203;p6"/>
          <p:cNvSpPr/>
          <p:nvPr/>
        </p:nvSpPr>
        <p:spPr>
          <a:xfrm>
            <a:off x="365760" y="4727448"/>
            <a:ext cx="841248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6D6A0"/>
              </a:buClr>
              <a:buSzPts val="1200"/>
              <a:buFont typeface="Calibri"/>
              <a:buNone/>
            </a:pPr>
            <a:r>
              <a:rPr b="1" lang="en-US" sz="1200">
                <a:solidFill>
                  <a:srgbClr val="06D6A0"/>
                </a:solidFill>
                <a:latin typeface="Calibri"/>
                <a:ea typeface="Calibri"/>
                <a:cs typeface="Calibri"/>
                <a:sym typeface="Calibri"/>
              </a:rPr>
              <a:t>Storage Budget: SVP = 19.07 KB  |  VTAGE = 12.97 KB  |  TOTAL = 31.97 KB  ✓ Under 32 KB</a:t>
            </a:r>
            <a:endParaRPr sz="1200">
              <a:solidFill>
                <a:schemeClr val="dk1"/>
              </a:solidFill>
              <a:latin typeface="Calibri"/>
              <a:ea typeface="Calibri"/>
              <a:cs typeface="Calibri"/>
              <a:sym typeface="Calibri"/>
            </a:endParaRPr>
          </a:p>
        </p:txBody>
      </p:sp>
      <p:sp>
        <p:nvSpPr>
          <p:cNvPr id="204" name="Google Shape;204;p6"/>
          <p:cNvSpPr/>
          <p:nvPr/>
        </p:nvSpPr>
        <p:spPr>
          <a:xfrm>
            <a:off x="365760" y="502920"/>
            <a:ext cx="2286000" cy="36600"/>
          </a:xfrm>
          <a:prstGeom prst="rect">
            <a:avLst/>
          </a:prstGeom>
          <a:solidFill>
            <a:srgbClr val="00B4D8"/>
          </a:solidFill>
          <a:ln cap="flat" cmpd="sng" w="12700">
            <a:solidFill>
              <a:srgbClr val="00B4D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628"/>
        </a:solidFill>
      </p:bgPr>
    </p:bg>
    <p:spTree>
      <p:nvGrpSpPr>
        <p:cNvPr id="209" name="Shape 209"/>
        <p:cNvGrpSpPr/>
        <p:nvPr/>
      </p:nvGrpSpPr>
      <p:grpSpPr>
        <a:xfrm>
          <a:off x="0" y="0"/>
          <a:ext cx="0" cy="0"/>
          <a:chOff x="0" y="0"/>
          <a:chExt cx="0" cy="0"/>
        </a:xfrm>
      </p:grpSpPr>
      <p:sp>
        <p:nvSpPr>
          <p:cNvPr id="210" name="Google Shape;210;p7"/>
          <p:cNvSpPr/>
          <p:nvPr/>
        </p:nvSpPr>
        <p:spPr>
          <a:xfrm>
            <a:off x="0" y="0"/>
            <a:ext cx="9144000" cy="502920"/>
          </a:xfrm>
          <a:prstGeom prst="rect">
            <a:avLst/>
          </a:prstGeom>
          <a:solidFill>
            <a:srgbClr val="0D2137"/>
          </a:solidFill>
          <a:ln cap="flat" cmpd="sng" w="12700">
            <a:solidFill>
              <a:srgbClr val="0D2137"/>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1" name="Google Shape;211;p7"/>
          <p:cNvSpPr/>
          <p:nvPr/>
        </p:nvSpPr>
        <p:spPr>
          <a:xfrm>
            <a:off x="365760" y="73152"/>
            <a:ext cx="82296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200"/>
              <a:buFont typeface="Calibri"/>
              <a:buNone/>
            </a:pPr>
            <a:r>
              <a:rPr b="1" lang="en-US" sz="2200">
                <a:solidFill>
                  <a:srgbClr val="FFFFFF"/>
                </a:solidFill>
                <a:latin typeface="Calibri"/>
                <a:ea typeface="Calibri"/>
                <a:cs typeface="Calibri"/>
                <a:sym typeface="Calibri"/>
              </a:rPr>
              <a:t>IPC Results — Championship Run</a:t>
            </a:r>
            <a:endParaRPr sz="2200">
              <a:solidFill>
                <a:schemeClr val="dk1"/>
              </a:solidFill>
              <a:latin typeface="Calibri"/>
              <a:ea typeface="Calibri"/>
              <a:cs typeface="Calibri"/>
              <a:sym typeface="Calibri"/>
            </a:endParaRPr>
          </a:p>
        </p:txBody>
      </p:sp>
      <p:sp>
        <p:nvSpPr>
          <p:cNvPr id="212" name="Google Shape;212;p7"/>
          <p:cNvSpPr/>
          <p:nvPr/>
        </p:nvSpPr>
        <p:spPr>
          <a:xfrm>
            <a:off x="6309360" y="658368"/>
            <a:ext cx="2606040" cy="960120"/>
          </a:xfrm>
          <a:prstGeom prst="rect">
            <a:avLst/>
          </a:prstGeom>
          <a:solidFill>
            <a:srgbClr val="0D2137"/>
          </a:solidFill>
          <a:ln cap="flat" cmpd="sng" w="19050">
            <a:solidFill>
              <a:srgbClr val="00F5D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3" name="Google Shape;213;p7"/>
          <p:cNvSpPr/>
          <p:nvPr/>
        </p:nvSpPr>
        <p:spPr>
          <a:xfrm>
            <a:off x="6309360" y="694944"/>
            <a:ext cx="260604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F5D4"/>
              </a:buClr>
              <a:buSzPts val="2200"/>
              <a:buFont typeface="Calibri"/>
              <a:buNone/>
            </a:pPr>
            <a:r>
              <a:rPr b="1" lang="en-US" sz="2200">
                <a:solidFill>
                  <a:srgbClr val="00F5D4"/>
                </a:solidFill>
                <a:latin typeface="Calibri"/>
                <a:ea typeface="Calibri"/>
                <a:cs typeface="Calibri"/>
                <a:sym typeface="Calibri"/>
              </a:rPr>
              <a:t>2.054</a:t>
            </a:r>
            <a:endParaRPr sz="2200">
              <a:solidFill>
                <a:schemeClr val="dk1"/>
              </a:solidFill>
              <a:latin typeface="Calibri"/>
              <a:ea typeface="Calibri"/>
              <a:cs typeface="Calibri"/>
              <a:sym typeface="Calibri"/>
            </a:endParaRPr>
          </a:p>
        </p:txBody>
      </p:sp>
      <p:sp>
        <p:nvSpPr>
          <p:cNvPr id="214" name="Google Shape;214;p7"/>
          <p:cNvSpPr/>
          <p:nvPr/>
        </p:nvSpPr>
        <p:spPr>
          <a:xfrm>
            <a:off x="6309360" y="1133856"/>
            <a:ext cx="2606040" cy="24688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Calibri"/>
              <a:buNone/>
            </a:pPr>
            <a:r>
              <a:rPr b="1" lang="en-US" sz="1100">
                <a:solidFill>
                  <a:srgbClr val="FFFFFF"/>
                </a:solidFill>
                <a:latin typeface="Calibri"/>
                <a:ea typeface="Calibri"/>
                <a:cs typeface="Calibri"/>
                <a:sym typeface="Calibri"/>
              </a:rPr>
              <a:t>Harmonic Mean</a:t>
            </a:r>
            <a:endParaRPr sz="1100">
              <a:solidFill>
                <a:schemeClr val="dk1"/>
              </a:solidFill>
              <a:latin typeface="Calibri"/>
              <a:ea typeface="Calibri"/>
              <a:cs typeface="Calibri"/>
              <a:sym typeface="Calibri"/>
            </a:endParaRPr>
          </a:p>
        </p:txBody>
      </p:sp>
      <p:sp>
        <p:nvSpPr>
          <p:cNvPr id="215" name="Google Shape;215;p7"/>
          <p:cNvSpPr/>
          <p:nvPr/>
        </p:nvSpPr>
        <p:spPr>
          <a:xfrm>
            <a:off x="6309360" y="1362456"/>
            <a:ext cx="2606040" cy="21031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8EACC4"/>
              </a:buClr>
              <a:buSzPts val="1000"/>
              <a:buFont typeface="Calibri"/>
              <a:buNone/>
            </a:pPr>
            <a:r>
              <a:rPr lang="en-US" sz="1000">
                <a:solidFill>
                  <a:srgbClr val="8EACC4"/>
                </a:solidFill>
                <a:latin typeface="Calibri"/>
                <a:ea typeface="Calibri"/>
                <a:cs typeface="Calibri"/>
                <a:sym typeface="Calibri"/>
              </a:rPr>
              <a:t>vs 1.66 baseline</a:t>
            </a:r>
            <a:endParaRPr sz="1000">
              <a:solidFill>
                <a:schemeClr val="dk1"/>
              </a:solidFill>
              <a:latin typeface="Calibri"/>
              <a:ea typeface="Calibri"/>
              <a:cs typeface="Calibri"/>
              <a:sym typeface="Calibri"/>
            </a:endParaRPr>
          </a:p>
        </p:txBody>
      </p:sp>
      <p:sp>
        <p:nvSpPr>
          <p:cNvPr id="216" name="Google Shape;216;p7"/>
          <p:cNvSpPr/>
          <p:nvPr/>
        </p:nvSpPr>
        <p:spPr>
          <a:xfrm>
            <a:off x="6309360" y="1709928"/>
            <a:ext cx="2606040" cy="960120"/>
          </a:xfrm>
          <a:prstGeom prst="rect">
            <a:avLst/>
          </a:prstGeom>
          <a:solidFill>
            <a:srgbClr val="0D2137"/>
          </a:solidFill>
          <a:ln cap="flat" cmpd="sng" w="19050">
            <a:solidFill>
              <a:srgbClr val="00B4D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7" name="Google Shape;217;p7"/>
          <p:cNvSpPr/>
          <p:nvPr/>
        </p:nvSpPr>
        <p:spPr>
          <a:xfrm>
            <a:off x="6309360" y="1746504"/>
            <a:ext cx="260604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B4D8"/>
              </a:buClr>
              <a:buSzPts val="2200"/>
              <a:buFont typeface="Calibri"/>
              <a:buNone/>
            </a:pPr>
            <a:r>
              <a:rPr b="1" lang="en-US" sz="2200">
                <a:solidFill>
                  <a:srgbClr val="00B4D8"/>
                </a:solidFill>
                <a:latin typeface="Calibri"/>
                <a:ea typeface="Calibri"/>
                <a:cs typeface="Calibri"/>
                <a:sym typeface="Calibri"/>
              </a:rPr>
              <a:t>+12.4%</a:t>
            </a:r>
            <a:endParaRPr sz="2200">
              <a:solidFill>
                <a:schemeClr val="dk1"/>
              </a:solidFill>
              <a:latin typeface="Calibri"/>
              <a:ea typeface="Calibri"/>
              <a:cs typeface="Calibri"/>
              <a:sym typeface="Calibri"/>
            </a:endParaRPr>
          </a:p>
        </p:txBody>
      </p:sp>
      <p:sp>
        <p:nvSpPr>
          <p:cNvPr id="218" name="Google Shape;218;p7"/>
          <p:cNvSpPr/>
          <p:nvPr/>
        </p:nvSpPr>
        <p:spPr>
          <a:xfrm>
            <a:off x="6309360" y="2185416"/>
            <a:ext cx="2606040" cy="24688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Calibri"/>
              <a:buNone/>
            </a:pPr>
            <a:r>
              <a:rPr b="1" lang="en-US" sz="1100">
                <a:solidFill>
                  <a:srgbClr val="FFFFFF"/>
                </a:solidFill>
                <a:latin typeface="Calibri"/>
                <a:ea typeface="Calibri"/>
                <a:cs typeface="Calibri"/>
                <a:sym typeface="Calibri"/>
              </a:rPr>
              <a:t>perlbench</a:t>
            </a:r>
            <a:endParaRPr sz="1100">
              <a:solidFill>
                <a:schemeClr val="dk1"/>
              </a:solidFill>
              <a:latin typeface="Calibri"/>
              <a:ea typeface="Calibri"/>
              <a:cs typeface="Calibri"/>
              <a:sym typeface="Calibri"/>
            </a:endParaRPr>
          </a:p>
        </p:txBody>
      </p:sp>
      <p:sp>
        <p:nvSpPr>
          <p:cNvPr id="219" name="Google Shape;219;p7"/>
          <p:cNvSpPr/>
          <p:nvPr/>
        </p:nvSpPr>
        <p:spPr>
          <a:xfrm>
            <a:off x="6309360" y="2414016"/>
            <a:ext cx="2606040" cy="21031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8EACC4"/>
              </a:buClr>
              <a:buSzPts val="1000"/>
              <a:buFont typeface="Calibri"/>
              <a:buNone/>
            </a:pPr>
            <a:r>
              <a:rPr lang="en-US" sz="1000">
                <a:solidFill>
                  <a:srgbClr val="8EACC4"/>
                </a:solidFill>
                <a:latin typeface="Calibri"/>
                <a:ea typeface="Calibri"/>
                <a:cs typeface="Calibri"/>
                <a:sym typeface="Calibri"/>
              </a:rPr>
              <a:t>5.01 → 5.63 IPC</a:t>
            </a:r>
            <a:endParaRPr sz="1000">
              <a:solidFill>
                <a:schemeClr val="dk1"/>
              </a:solidFill>
              <a:latin typeface="Calibri"/>
              <a:ea typeface="Calibri"/>
              <a:cs typeface="Calibri"/>
              <a:sym typeface="Calibri"/>
            </a:endParaRPr>
          </a:p>
        </p:txBody>
      </p:sp>
      <p:sp>
        <p:nvSpPr>
          <p:cNvPr id="220" name="Google Shape;220;p7"/>
          <p:cNvSpPr/>
          <p:nvPr/>
        </p:nvSpPr>
        <p:spPr>
          <a:xfrm>
            <a:off x="6309360" y="2761488"/>
            <a:ext cx="2606040" cy="960120"/>
          </a:xfrm>
          <a:prstGeom prst="rect">
            <a:avLst/>
          </a:prstGeom>
          <a:solidFill>
            <a:srgbClr val="0D2137"/>
          </a:solidFill>
          <a:ln cap="flat" cmpd="sng" w="19050">
            <a:solidFill>
              <a:srgbClr val="FFD16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1" name="Google Shape;221;p7"/>
          <p:cNvSpPr/>
          <p:nvPr/>
        </p:nvSpPr>
        <p:spPr>
          <a:xfrm>
            <a:off x="6309360" y="2798064"/>
            <a:ext cx="260604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D166"/>
              </a:buClr>
              <a:buSzPts val="2200"/>
              <a:buFont typeface="Calibri"/>
              <a:buNone/>
            </a:pPr>
            <a:r>
              <a:rPr b="1" lang="en-US" sz="2200">
                <a:solidFill>
                  <a:srgbClr val="FFD166"/>
                </a:solidFill>
                <a:latin typeface="Calibri"/>
                <a:ea typeface="Calibri"/>
                <a:cs typeface="Calibri"/>
                <a:sym typeface="Calibri"/>
              </a:rPr>
              <a:t>+0</a:t>
            </a:r>
            <a:r>
              <a:rPr b="1" lang="en-US" sz="2200">
                <a:solidFill>
                  <a:srgbClr val="FFD166"/>
                </a:solidFill>
                <a:latin typeface="Calibri"/>
                <a:ea typeface="Calibri"/>
                <a:cs typeface="Calibri"/>
                <a:sym typeface="Calibri"/>
              </a:rPr>
              <a:t>%</a:t>
            </a:r>
            <a:endParaRPr sz="2200">
              <a:solidFill>
                <a:schemeClr val="dk1"/>
              </a:solidFill>
              <a:latin typeface="Calibri"/>
              <a:ea typeface="Calibri"/>
              <a:cs typeface="Calibri"/>
              <a:sym typeface="Calibri"/>
            </a:endParaRPr>
          </a:p>
        </p:txBody>
      </p:sp>
      <p:sp>
        <p:nvSpPr>
          <p:cNvPr id="222" name="Google Shape;222;p7"/>
          <p:cNvSpPr/>
          <p:nvPr/>
        </p:nvSpPr>
        <p:spPr>
          <a:xfrm>
            <a:off x="6309360" y="3236976"/>
            <a:ext cx="2606040" cy="24688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Calibri"/>
              <a:buNone/>
            </a:pPr>
            <a:r>
              <a:rPr b="1" lang="en-US" sz="1100">
                <a:solidFill>
                  <a:srgbClr val="FFFFFF"/>
                </a:solidFill>
                <a:latin typeface="Calibri"/>
                <a:ea typeface="Calibri"/>
                <a:cs typeface="Calibri"/>
                <a:sym typeface="Calibri"/>
              </a:rPr>
              <a:t>sjeng / povray</a:t>
            </a:r>
            <a:endParaRPr sz="1100">
              <a:solidFill>
                <a:schemeClr val="dk1"/>
              </a:solidFill>
              <a:latin typeface="Calibri"/>
              <a:ea typeface="Calibri"/>
              <a:cs typeface="Calibri"/>
              <a:sym typeface="Calibri"/>
            </a:endParaRPr>
          </a:p>
        </p:txBody>
      </p:sp>
      <p:sp>
        <p:nvSpPr>
          <p:cNvPr id="223" name="Google Shape;223;p7"/>
          <p:cNvSpPr/>
          <p:nvPr/>
        </p:nvSpPr>
        <p:spPr>
          <a:xfrm>
            <a:off x="6309360" y="3465576"/>
            <a:ext cx="2606040" cy="21031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8EACC4"/>
              </a:buClr>
              <a:buSzPts val="1000"/>
              <a:buFont typeface="Calibri"/>
              <a:buNone/>
            </a:pPr>
            <a:r>
              <a:rPr lang="en-US" sz="1000">
                <a:solidFill>
                  <a:srgbClr val="8EACC4"/>
                </a:solidFill>
                <a:latin typeface="Calibri"/>
                <a:ea typeface="Calibri"/>
                <a:cs typeface="Calibri"/>
                <a:sym typeface="Calibri"/>
              </a:rPr>
              <a:t>Chaotic workloads</a:t>
            </a:r>
            <a:endParaRPr sz="1000">
              <a:solidFill>
                <a:srgbClr val="8EACC4"/>
              </a:solidFill>
              <a:latin typeface="Calibri"/>
              <a:ea typeface="Calibri"/>
              <a:cs typeface="Calibri"/>
              <a:sym typeface="Calibri"/>
            </a:endParaRPr>
          </a:p>
          <a:p>
            <a:pPr indent="0" lvl="0" marL="0" marR="0" rtl="0" algn="ctr">
              <a:spcBef>
                <a:spcPts val="0"/>
              </a:spcBef>
              <a:spcAft>
                <a:spcPts val="0"/>
              </a:spcAft>
              <a:buClr>
                <a:srgbClr val="8EACC4"/>
              </a:buClr>
              <a:buSzPts val="1000"/>
              <a:buFont typeface="Calibri"/>
              <a:buNone/>
            </a:pPr>
            <a:r>
              <a:rPr lang="en-US" sz="1000">
                <a:solidFill>
                  <a:srgbClr val="8EACC4"/>
                </a:solidFill>
                <a:latin typeface="Calibri"/>
                <a:ea typeface="Calibri"/>
                <a:cs typeface="Calibri"/>
                <a:sym typeface="Calibri"/>
              </a:rPr>
              <a:t>Held Ground on Volatile Traces</a:t>
            </a:r>
            <a:endParaRPr sz="1000">
              <a:solidFill>
                <a:srgbClr val="8EACC4"/>
              </a:solidFill>
              <a:latin typeface="Calibri"/>
              <a:ea typeface="Calibri"/>
              <a:cs typeface="Calibri"/>
              <a:sym typeface="Calibri"/>
            </a:endParaRPr>
          </a:p>
        </p:txBody>
      </p:sp>
      <p:sp>
        <p:nvSpPr>
          <p:cNvPr id="224" name="Google Shape;224;p7"/>
          <p:cNvSpPr/>
          <p:nvPr/>
        </p:nvSpPr>
        <p:spPr>
          <a:xfrm>
            <a:off x="6309360" y="3813048"/>
            <a:ext cx="2606040" cy="960120"/>
          </a:xfrm>
          <a:prstGeom prst="rect">
            <a:avLst/>
          </a:prstGeom>
          <a:solidFill>
            <a:srgbClr val="0D2137"/>
          </a:solidFill>
          <a:ln cap="flat" cmpd="sng" w="19050">
            <a:solidFill>
              <a:srgbClr val="06D6A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5" name="Google Shape;225;p7"/>
          <p:cNvSpPr/>
          <p:nvPr/>
        </p:nvSpPr>
        <p:spPr>
          <a:xfrm>
            <a:off x="6309360" y="3849624"/>
            <a:ext cx="260604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6D6A0"/>
              </a:buClr>
              <a:buSzPts val="2200"/>
              <a:buFont typeface="Calibri"/>
              <a:buNone/>
            </a:pPr>
            <a:r>
              <a:rPr b="1" lang="en-US" sz="2200">
                <a:solidFill>
                  <a:srgbClr val="06D6A0"/>
                </a:solidFill>
                <a:latin typeface="Calibri"/>
                <a:ea typeface="Calibri"/>
                <a:cs typeface="Calibri"/>
                <a:sym typeface="Calibri"/>
              </a:rPr>
              <a:t>+103.6%</a:t>
            </a:r>
            <a:endParaRPr sz="2200">
              <a:solidFill>
                <a:schemeClr val="dk1"/>
              </a:solidFill>
              <a:latin typeface="Calibri"/>
              <a:ea typeface="Calibri"/>
              <a:cs typeface="Calibri"/>
              <a:sym typeface="Calibri"/>
            </a:endParaRPr>
          </a:p>
        </p:txBody>
      </p:sp>
      <p:sp>
        <p:nvSpPr>
          <p:cNvPr id="226" name="Google Shape;226;p7"/>
          <p:cNvSpPr/>
          <p:nvPr/>
        </p:nvSpPr>
        <p:spPr>
          <a:xfrm>
            <a:off x="6309360" y="4288536"/>
            <a:ext cx="2606040" cy="24688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Calibri"/>
              <a:buNone/>
            </a:pPr>
            <a:r>
              <a:rPr b="1" lang="en-US" sz="1100">
                <a:solidFill>
                  <a:srgbClr val="FFFFFF"/>
                </a:solidFill>
                <a:latin typeface="Calibri"/>
                <a:ea typeface="Calibri"/>
                <a:cs typeface="Calibri"/>
                <a:sym typeface="Calibri"/>
              </a:rPr>
              <a:t>mcf  </a:t>
            </a:r>
            <a:endParaRPr sz="1100">
              <a:solidFill>
                <a:schemeClr val="dk1"/>
              </a:solidFill>
              <a:latin typeface="Calibri"/>
              <a:ea typeface="Calibri"/>
              <a:cs typeface="Calibri"/>
              <a:sym typeface="Calibri"/>
            </a:endParaRPr>
          </a:p>
        </p:txBody>
      </p:sp>
      <p:sp>
        <p:nvSpPr>
          <p:cNvPr id="227" name="Google Shape;227;p7"/>
          <p:cNvSpPr/>
          <p:nvPr/>
        </p:nvSpPr>
        <p:spPr>
          <a:xfrm>
            <a:off x="6309360" y="4517136"/>
            <a:ext cx="2606100" cy="2103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8EACC4"/>
              </a:buClr>
              <a:buSzPts val="1000"/>
              <a:buFont typeface="Calibri"/>
              <a:buNone/>
            </a:pPr>
            <a:r>
              <a:rPr lang="en-US" sz="1000">
                <a:solidFill>
                  <a:srgbClr val="8EACC4"/>
                </a:solidFill>
                <a:latin typeface="Calibri"/>
                <a:ea typeface="Calibri"/>
                <a:cs typeface="Calibri"/>
                <a:sym typeface="Calibri"/>
              </a:rPr>
              <a:t>Memory workload</a:t>
            </a:r>
            <a:endParaRPr sz="1000">
              <a:solidFill>
                <a:srgbClr val="8EACC4"/>
              </a:solidFill>
              <a:latin typeface="Calibri"/>
              <a:ea typeface="Calibri"/>
              <a:cs typeface="Calibri"/>
              <a:sym typeface="Calibri"/>
            </a:endParaRPr>
          </a:p>
          <a:p>
            <a:pPr indent="0" lvl="0" marL="0" marR="0" rtl="0" algn="ctr">
              <a:spcBef>
                <a:spcPts val="0"/>
              </a:spcBef>
              <a:spcAft>
                <a:spcPts val="0"/>
              </a:spcAft>
              <a:buClr>
                <a:srgbClr val="8EACC4"/>
              </a:buClr>
              <a:buSzPts val="1000"/>
              <a:buFont typeface="Calibri"/>
              <a:buNone/>
            </a:pPr>
            <a:r>
              <a:rPr lang="en-US" sz="1000">
                <a:solidFill>
                  <a:srgbClr val="8EACC4"/>
                </a:solidFill>
                <a:latin typeface="Calibri"/>
                <a:ea typeface="Calibri"/>
                <a:cs typeface="Calibri"/>
                <a:sym typeface="Calibri"/>
              </a:rPr>
              <a:t>0.82 -&gt; 1.67 IPC</a:t>
            </a:r>
            <a:endParaRPr sz="1000">
              <a:solidFill>
                <a:srgbClr val="8EACC4"/>
              </a:solidFill>
              <a:latin typeface="Calibri"/>
              <a:ea typeface="Calibri"/>
              <a:cs typeface="Calibri"/>
              <a:sym typeface="Calibri"/>
            </a:endParaRPr>
          </a:p>
        </p:txBody>
      </p:sp>
      <p:pic>
        <p:nvPicPr>
          <p:cNvPr id="228" name="Google Shape;228;p7"/>
          <p:cNvPicPr preferRelativeResize="0"/>
          <p:nvPr/>
        </p:nvPicPr>
        <p:blipFill>
          <a:blip r:embed="rId3">
            <a:alphaModFix/>
          </a:blip>
          <a:stretch>
            <a:fillRect/>
          </a:stretch>
        </p:blipFill>
        <p:spPr>
          <a:xfrm>
            <a:off x="152400" y="691896"/>
            <a:ext cx="5807698" cy="4299205"/>
          </a:xfrm>
          <a:prstGeom prst="rect">
            <a:avLst/>
          </a:prstGeom>
          <a:noFill/>
          <a:ln>
            <a:noFill/>
          </a:ln>
        </p:spPr>
      </p:pic>
      <p:sp>
        <p:nvSpPr>
          <p:cNvPr id="229" name="Google Shape;229;p7"/>
          <p:cNvSpPr/>
          <p:nvPr/>
        </p:nvSpPr>
        <p:spPr>
          <a:xfrm>
            <a:off x="365760" y="502920"/>
            <a:ext cx="2286000" cy="36600"/>
          </a:xfrm>
          <a:prstGeom prst="rect">
            <a:avLst/>
          </a:prstGeom>
          <a:solidFill>
            <a:srgbClr val="00B4D8"/>
          </a:solidFill>
          <a:ln cap="flat" cmpd="sng" w="12700">
            <a:solidFill>
              <a:srgbClr val="00B4D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628"/>
        </a:solidFill>
      </p:bgPr>
    </p:bg>
    <p:spTree>
      <p:nvGrpSpPr>
        <p:cNvPr id="234" name="Shape 234"/>
        <p:cNvGrpSpPr/>
        <p:nvPr/>
      </p:nvGrpSpPr>
      <p:grpSpPr>
        <a:xfrm>
          <a:off x="0" y="0"/>
          <a:ext cx="0" cy="0"/>
          <a:chOff x="0" y="0"/>
          <a:chExt cx="0" cy="0"/>
        </a:xfrm>
      </p:grpSpPr>
      <p:sp>
        <p:nvSpPr>
          <p:cNvPr id="235" name="Google Shape;235;p8"/>
          <p:cNvSpPr/>
          <p:nvPr/>
        </p:nvSpPr>
        <p:spPr>
          <a:xfrm>
            <a:off x="0" y="0"/>
            <a:ext cx="9144000" cy="502920"/>
          </a:xfrm>
          <a:prstGeom prst="rect">
            <a:avLst/>
          </a:prstGeom>
          <a:solidFill>
            <a:srgbClr val="0D2137"/>
          </a:solidFill>
          <a:ln cap="flat" cmpd="sng" w="12700">
            <a:solidFill>
              <a:srgbClr val="0D2137"/>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6" name="Google Shape;236;p8"/>
          <p:cNvSpPr/>
          <p:nvPr/>
        </p:nvSpPr>
        <p:spPr>
          <a:xfrm>
            <a:off x="365760" y="73152"/>
            <a:ext cx="82296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200"/>
              <a:buFont typeface="Calibri"/>
              <a:buNone/>
            </a:pPr>
            <a:r>
              <a:rPr b="1" lang="en-US" sz="2200">
                <a:solidFill>
                  <a:srgbClr val="FFFFFF"/>
                </a:solidFill>
                <a:latin typeface="Calibri"/>
                <a:ea typeface="Calibri"/>
                <a:cs typeface="Calibri"/>
                <a:sym typeface="Calibri"/>
              </a:rPr>
              <a:t>VP Metrics — What the Data Reveals</a:t>
            </a:r>
            <a:endParaRPr sz="2200">
              <a:solidFill>
                <a:schemeClr val="dk1"/>
              </a:solidFill>
              <a:latin typeface="Calibri"/>
              <a:ea typeface="Calibri"/>
              <a:cs typeface="Calibri"/>
              <a:sym typeface="Calibri"/>
            </a:endParaRPr>
          </a:p>
        </p:txBody>
      </p:sp>
      <p:sp>
        <p:nvSpPr>
          <p:cNvPr id="237" name="Google Shape;237;p8"/>
          <p:cNvSpPr/>
          <p:nvPr/>
        </p:nvSpPr>
        <p:spPr>
          <a:xfrm>
            <a:off x="274320" y="640080"/>
            <a:ext cx="4206240" cy="1828800"/>
          </a:xfrm>
          <a:prstGeom prst="rect">
            <a:avLst/>
          </a:prstGeom>
          <a:solidFill>
            <a:srgbClr val="0D2137"/>
          </a:solidFill>
          <a:ln cap="flat" cmpd="sng" w="19050">
            <a:solidFill>
              <a:srgbClr val="06D6A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8" name="Google Shape;238;p8"/>
          <p:cNvSpPr/>
          <p:nvPr/>
        </p:nvSpPr>
        <p:spPr>
          <a:xfrm>
            <a:off x="274320" y="640080"/>
            <a:ext cx="73152" cy="1828800"/>
          </a:xfrm>
          <a:prstGeom prst="rect">
            <a:avLst/>
          </a:prstGeom>
          <a:solidFill>
            <a:srgbClr val="06D6A0"/>
          </a:solidFill>
          <a:ln cap="flat" cmpd="sng" w="12700">
            <a:solidFill>
              <a:srgbClr val="06D6A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9" name="Google Shape;239;p8"/>
          <p:cNvSpPr/>
          <p:nvPr/>
        </p:nvSpPr>
        <p:spPr>
          <a:xfrm>
            <a:off x="438912" y="731520"/>
            <a:ext cx="393192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6D6A0"/>
              </a:buClr>
              <a:buSzPts val="1200"/>
              <a:buFont typeface="Calibri"/>
              <a:buNone/>
            </a:pPr>
            <a:r>
              <a:rPr b="1" lang="en-US" sz="1200">
                <a:solidFill>
                  <a:srgbClr val="06D6A0"/>
                </a:solidFill>
                <a:latin typeface="Calibri"/>
                <a:ea typeface="Calibri"/>
                <a:cs typeface="Calibri"/>
                <a:sym typeface="Calibri"/>
              </a:rPr>
              <a:t>Confident &amp; Correct</a:t>
            </a:r>
            <a:endParaRPr sz="1200">
              <a:solidFill>
                <a:schemeClr val="dk1"/>
              </a:solidFill>
              <a:latin typeface="Calibri"/>
              <a:ea typeface="Calibri"/>
              <a:cs typeface="Calibri"/>
              <a:sym typeface="Calibri"/>
            </a:endParaRPr>
          </a:p>
        </p:txBody>
      </p:sp>
      <p:sp>
        <p:nvSpPr>
          <p:cNvPr id="240" name="Google Shape;240;p8"/>
          <p:cNvSpPr/>
          <p:nvPr/>
        </p:nvSpPr>
        <p:spPr>
          <a:xfrm>
            <a:off x="438912" y="1051560"/>
            <a:ext cx="3931920" cy="1325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8F4FD"/>
              </a:buClr>
              <a:buSzPts val="1150"/>
              <a:buFont typeface="Calibri"/>
              <a:buNone/>
            </a:pPr>
            <a:r>
              <a:rPr lang="en-US" sz="1150">
                <a:solidFill>
                  <a:srgbClr val="E8F4FD"/>
                </a:solidFill>
                <a:latin typeface="Calibri"/>
                <a:ea typeface="Calibri"/>
                <a:cs typeface="Calibri"/>
                <a:sym typeface="Calibri"/>
              </a:rPr>
              <a:t>perlbench confident correct predictions skyrocket from 2.24 million (SVP) to 5.28 million. This +135% increase is direct IPC gain. VTAGE successfully maps complex control-flow loops that simple stride math is physically incapable of learning.</a:t>
            </a:r>
            <a:endParaRPr sz="1150">
              <a:solidFill>
                <a:schemeClr val="dk1"/>
              </a:solidFill>
              <a:latin typeface="Calibri"/>
              <a:ea typeface="Calibri"/>
              <a:cs typeface="Calibri"/>
              <a:sym typeface="Calibri"/>
            </a:endParaRPr>
          </a:p>
        </p:txBody>
      </p:sp>
      <p:sp>
        <p:nvSpPr>
          <p:cNvPr id="241" name="Google Shape;241;p8"/>
          <p:cNvSpPr/>
          <p:nvPr/>
        </p:nvSpPr>
        <p:spPr>
          <a:xfrm>
            <a:off x="4709160" y="640080"/>
            <a:ext cx="4206240" cy="1828800"/>
          </a:xfrm>
          <a:prstGeom prst="rect">
            <a:avLst/>
          </a:prstGeom>
          <a:solidFill>
            <a:srgbClr val="0D2137"/>
          </a:solidFill>
          <a:ln cap="flat" cmpd="sng" w="19050">
            <a:solidFill>
              <a:srgbClr val="EF476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2" name="Google Shape;242;p8"/>
          <p:cNvSpPr/>
          <p:nvPr/>
        </p:nvSpPr>
        <p:spPr>
          <a:xfrm>
            <a:off x="4709160" y="640080"/>
            <a:ext cx="73152" cy="1828800"/>
          </a:xfrm>
          <a:prstGeom prst="rect">
            <a:avLst/>
          </a:prstGeom>
          <a:solidFill>
            <a:srgbClr val="EF476F"/>
          </a:solidFill>
          <a:ln cap="flat" cmpd="sng" w="12700">
            <a:solidFill>
              <a:srgbClr val="EF476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3" name="Google Shape;243;p8"/>
          <p:cNvSpPr/>
          <p:nvPr/>
        </p:nvSpPr>
        <p:spPr>
          <a:xfrm>
            <a:off x="4873752" y="731520"/>
            <a:ext cx="393192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F476F"/>
              </a:buClr>
              <a:buSzPts val="1200"/>
              <a:buFont typeface="Calibri"/>
              <a:buNone/>
            </a:pPr>
            <a:r>
              <a:rPr b="1" lang="en-US" sz="1200">
                <a:solidFill>
                  <a:srgbClr val="EF476F"/>
                </a:solidFill>
                <a:latin typeface="Calibri"/>
                <a:ea typeface="Calibri"/>
                <a:cs typeface="Calibri"/>
                <a:sym typeface="Calibri"/>
              </a:rPr>
              <a:t>Confident &amp; Wrong (Mispredictions)</a:t>
            </a:r>
            <a:endParaRPr sz="1200">
              <a:solidFill>
                <a:schemeClr val="dk1"/>
              </a:solidFill>
              <a:latin typeface="Calibri"/>
              <a:ea typeface="Calibri"/>
              <a:cs typeface="Calibri"/>
              <a:sym typeface="Calibri"/>
            </a:endParaRPr>
          </a:p>
        </p:txBody>
      </p:sp>
      <p:sp>
        <p:nvSpPr>
          <p:cNvPr id="244" name="Google Shape;244;p8"/>
          <p:cNvSpPr/>
          <p:nvPr/>
        </p:nvSpPr>
        <p:spPr>
          <a:xfrm>
            <a:off x="4873752" y="1051560"/>
            <a:ext cx="3931800" cy="1326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8F4FD"/>
              </a:buClr>
              <a:buSzPts val="1150"/>
              <a:buFont typeface="Calibri"/>
              <a:buNone/>
            </a:pPr>
            <a:r>
              <a:rPr lang="en-US" sz="1150">
                <a:solidFill>
                  <a:srgbClr val="E8F4FD"/>
                </a:solidFill>
                <a:latin typeface="Calibri"/>
                <a:ea typeface="Calibri"/>
                <a:cs typeface="Calibri"/>
                <a:sym typeface="Calibri"/>
              </a:rPr>
              <a:t>Confident mispredictions on povray drop from 5,438 (SVP) to just 2,415 — a 55% reduction in pipeline flushes. The high VTAGE confidence ceiling of 63 acts as a natural misprediction filter on chaotic workloads where patterns quickly shift.</a:t>
            </a:r>
            <a:endParaRPr sz="1150">
              <a:solidFill>
                <a:schemeClr val="dk1"/>
              </a:solidFill>
              <a:latin typeface="Calibri"/>
              <a:ea typeface="Calibri"/>
              <a:cs typeface="Calibri"/>
              <a:sym typeface="Calibri"/>
            </a:endParaRPr>
          </a:p>
        </p:txBody>
      </p:sp>
      <p:sp>
        <p:nvSpPr>
          <p:cNvPr id="245" name="Google Shape;245;p8"/>
          <p:cNvSpPr/>
          <p:nvPr/>
        </p:nvSpPr>
        <p:spPr>
          <a:xfrm>
            <a:off x="274320" y="2651760"/>
            <a:ext cx="4206240" cy="1828800"/>
          </a:xfrm>
          <a:prstGeom prst="rect">
            <a:avLst/>
          </a:prstGeom>
          <a:solidFill>
            <a:srgbClr val="0D2137"/>
          </a:solidFill>
          <a:ln cap="flat" cmpd="sng" w="19050">
            <a:solidFill>
              <a:srgbClr val="FFD16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6" name="Google Shape;246;p8"/>
          <p:cNvSpPr/>
          <p:nvPr/>
        </p:nvSpPr>
        <p:spPr>
          <a:xfrm>
            <a:off x="274320" y="2651760"/>
            <a:ext cx="73152" cy="1828800"/>
          </a:xfrm>
          <a:prstGeom prst="rect">
            <a:avLst/>
          </a:prstGeom>
          <a:solidFill>
            <a:srgbClr val="FFD166"/>
          </a:solidFill>
          <a:ln cap="flat" cmpd="sng" w="12700">
            <a:solidFill>
              <a:srgbClr val="FFD16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7" name="Google Shape;247;p8"/>
          <p:cNvSpPr/>
          <p:nvPr/>
        </p:nvSpPr>
        <p:spPr>
          <a:xfrm>
            <a:off x="438912" y="2743200"/>
            <a:ext cx="393192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D166"/>
              </a:buClr>
              <a:buSzPts val="1200"/>
              <a:buFont typeface="Calibri"/>
              <a:buNone/>
            </a:pPr>
            <a:r>
              <a:rPr b="1" lang="en-US" sz="1200">
                <a:solidFill>
                  <a:srgbClr val="FFD166"/>
                </a:solidFill>
                <a:latin typeface="Calibri"/>
                <a:ea typeface="Calibri"/>
                <a:cs typeface="Calibri"/>
                <a:sym typeface="Calibri"/>
              </a:rPr>
              <a:t>Unconfident but Correct (Silent IPC)</a:t>
            </a:r>
            <a:endParaRPr sz="1200">
              <a:solidFill>
                <a:schemeClr val="dk1"/>
              </a:solidFill>
              <a:latin typeface="Calibri"/>
              <a:ea typeface="Calibri"/>
              <a:cs typeface="Calibri"/>
              <a:sym typeface="Calibri"/>
            </a:endParaRPr>
          </a:p>
        </p:txBody>
      </p:sp>
      <p:sp>
        <p:nvSpPr>
          <p:cNvPr id="248" name="Google Shape;248;p8"/>
          <p:cNvSpPr/>
          <p:nvPr/>
        </p:nvSpPr>
        <p:spPr>
          <a:xfrm>
            <a:off x="438912" y="3063240"/>
            <a:ext cx="3931920" cy="1325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8F4FD"/>
              </a:buClr>
              <a:buSzPts val="1150"/>
              <a:buFont typeface="Calibri"/>
              <a:buNone/>
            </a:pPr>
            <a:r>
              <a:rPr lang="en-US" sz="1150">
                <a:solidFill>
                  <a:srgbClr val="E8F4FD"/>
                </a:solidFill>
                <a:latin typeface="Calibri"/>
                <a:ea typeface="Calibri"/>
                <a:cs typeface="Calibri"/>
                <a:sym typeface="Calibri"/>
              </a:rPr>
              <a:t>mcf silent correct predictions jump from 504K (SVP) to 1.88 million. The predictor is successfully tracking nearly 3x more correct pointer-chasing paths beneath the surface, representing massive unexplored IPC potential.</a:t>
            </a:r>
            <a:endParaRPr sz="1150">
              <a:solidFill>
                <a:schemeClr val="dk1"/>
              </a:solidFill>
              <a:latin typeface="Calibri"/>
              <a:ea typeface="Calibri"/>
              <a:cs typeface="Calibri"/>
              <a:sym typeface="Calibri"/>
            </a:endParaRPr>
          </a:p>
        </p:txBody>
      </p:sp>
      <p:sp>
        <p:nvSpPr>
          <p:cNvPr id="249" name="Google Shape;249;p8"/>
          <p:cNvSpPr/>
          <p:nvPr/>
        </p:nvSpPr>
        <p:spPr>
          <a:xfrm>
            <a:off x="4709160" y="2651760"/>
            <a:ext cx="4206240" cy="1828800"/>
          </a:xfrm>
          <a:prstGeom prst="rect">
            <a:avLst/>
          </a:prstGeom>
          <a:solidFill>
            <a:srgbClr val="0D2137"/>
          </a:solidFill>
          <a:ln cap="flat" cmpd="sng" w="19050">
            <a:solidFill>
              <a:srgbClr val="FF6B3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0" name="Google Shape;250;p8"/>
          <p:cNvSpPr/>
          <p:nvPr/>
        </p:nvSpPr>
        <p:spPr>
          <a:xfrm>
            <a:off x="4709160" y="2651760"/>
            <a:ext cx="73152" cy="1828800"/>
          </a:xfrm>
          <a:prstGeom prst="rect">
            <a:avLst/>
          </a:prstGeom>
          <a:solidFill>
            <a:srgbClr val="FF6B35"/>
          </a:solidFill>
          <a:ln cap="flat" cmpd="sng" w="12700">
            <a:solidFill>
              <a:srgbClr val="FF6B3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1" name="Google Shape;251;p8"/>
          <p:cNvSpPr/>
          <p:nvPr/>
        </p:nvSpPr>
        <p:spPr>
          <a:xfrm>
            <a:off x="4873752" y="2743200"/>
            <a:ext cx="393192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6B35"/>
              </a:buClr>
              <a:buSzPts val="1200"/>
              <a:buFont typeface="Calibri"/>
              <a:buNone/>
            </a:pPr>
            <a:r>
              <a:rPr b="1" lang="en-US" sz="1200">
                <a:solidFill>
                  <a:srgbClr val="FF6B35"/>
                </a:solidFill>
                <a:latin typeface="Calibri"/>
                <a:ea typeface="Calibri"/>
                <a:cs typeface="Calibri"/>
                <a:sym typeface="Calibri"/>
              </a:rPr>
              <a:t>Complete Misses</a:t>
            </a:r>
            <a:endParaRPr sz="1200">
              <a:solidFill>
                <a:schemeClr val="dk1"/>
              </a:solidFill>
              <a:latin typeface="Calibri"/>
              <a:ea typeface="Calibri"/>
              <a:cs typeface="Calibri"/>
              <a:sym typeface="Calibri"/>
            </a:endParaRPr>
          </a:p>
        </p:txBody>
      </p:sp>
      <p:sp>
        <p:nvSpPr>
          <p:cNvPr id="252" name="Google Shape;252;p8"/>
          <p:cNvSpPr/>
          <p:nvPr/>
        </p:nvSpPr>
        <p:spPr>
          <a:xfrm>
            <a:off x="4873752" y="3063240"/>
            <a:ext cx="3931920" cy="1325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8F4FD"/>
              </a:buClr>
              <a:buSzPts val="1150"/>
              <a:buFont typeface="Calibri"/>
              <a:buNone/>
            </a:pPr>
            <a:r>
              <a:rPr lang="en-US" sz="1150">
                <a:solidFill>
                  <a:srgbClr val="E8F4FD"/>
                </a:solidFill>
                <a:latin typeface="Calibri"/>
                <a:ea typeface="Calibri"/>
                <a:cs typeface="Calibri"/>
                <a:sym typeface="Calibri"/>
              </a:rPr>
              <a:t>omnetpp drops from 1.91 million misses under the SVP to exactly 358,151 misses in our hybrid. VTAGE's branch-history context fills in predictions for complex pointer-chasing graph traversals that the baseline stride predictor is completely blind to.</a:t>
            </a:r>
            <a:endParaRPr sz="1150">
              <a:solidFill>
                <a:schemeClr val="dk1"/>
              </a:solidFill>
              <a:latin typeface="Calibri"/>
              <a:ea typeface="Calibri"/>
              <a:cs typeface="Calibri"/>
              <a:sym typeface="Calibri"/>
            </a:endParaRPr>
          </a:p>
        </p:txBody>
      </p:sp>
      <p:sp>
        <p:nvSpPr>
          <p:cNvPr id="253" name="Google Shape;253;p8"/>
          <p:cNvSpPr/>
          <p:nvPr/>
        </p:nvSpPr>
        <p:spPr>
          <a:xfrm>
            <a:off x="274320" y="4599432"/>
            <a:ext cx="8595360" cy="384048"/>
          </a:xfrm>
          <a:prstGeom prst="rect">
            <a:avLst/>
          </a:prstGeom>
          <a:solidFill>
            <a:srgbClr val="0A1A0A"/>
          </a:solidFill>
          <a:ln cap="flat" cmpd="sng" w="12700">
            <a:solidFill>
              <a:srgbClr val="06D6A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4" name="Google Shape;254;p8"/>
          <p:cNvSpPr/>
          <p:nvPr/>
        </p:nvSpPr>
        <p:spPr>
          <a:xfrm>
            <a:off x="365760" y="4636008"/>
            <a:ext cx="8412480" cy="31089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6D6A0"/>
              </a:buClr>
              <a:buSzPts val="1100"/>
              <a:buFont typeface="Calibri"/>
              <a:buNone/>
            </a:pPr>
            <a:r>
              <a:rPr i="1" lang="en-US" sz="1100">
                <a:solidFill>
                  <a:srgbClr val="06D6A0"/>
                </a:solidFill>
                <a:latin typeface="Calibri"/>
                <a:ea typeface="Calibri"/>
                <a:cs typeface="Calibri"/>
                <a:sym typeface="Calibri"/>
              </a:rPr>
              <a:t>Key takeaway: conf_max=63 nearly eliminates confident mispredictions on chaotic workloads. Decoupling SVP conf_max to 47 recovers structured workload performance without sacrificing that safety.</a:t>
            </a:r>
            <a:endParaRPr sz="1100">
              <a:solidFill>
                <a:schemeClr val="dk1"/>
              </a:solidFill>
              <a:latin typeface="Calibri"/>
              <a:ea typeface="Calibri"/>
              <a:cs typeface="Calibri"/>
              <a:sym typeface="Calibri"/>
            </a:endParaRPr>
          </a:p>
        </p:txBody>
      </p:sp>
      <p:sp>
        <p:nvSpPr>
          <p:cNvPr id="255" name="Google Shape;255;p8"/>
          <p:cNvSpPr/>
          <p:nvPr/>
        </p:nvSpPr>
        <p:spPr>
          <a:xfrm>
            <a:off x="365760" y="502920"/>
            <a:ext cx="2286000" cy="36600"/>
          </a:xfrm>
          <a:prstGeom prst="rect">
            <a:avLst/>
          </a:prstGeom>
          <a:solidFill>
            <a:srgbClr val="00B4D8"/>
          </a:solidFill>
          <a:ln cap="flat" cmpd="sng" w="12700">
            <a:solidFill>
              <a:srgbClr val="00B4D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628"/>
        </a:solidFill>
      </p:bgPr>
    </p:bg>
    <p:spTree>
      <p:nvGrpSpPr>
        <p:cNvPr id="260" name="Shape 260"/>
        <p:cNvGrpSpPr/>
        <p:nvPr/>
      </p:nvGrpSpPr>
      <p:grpSpPr>
        <a:xfrm>
          <a:off x="0" y="0"/>
          <a:ext cx="0" cy="0"/>
          <a:chOff x="0" y="0"/>
          <a:chExt cx="0" cy="0"/>
        </a:xfrm>
      </p:grpSpPr>
      <p:sp>
        <p:nvSpPr>
          <p:cNvPr id="261" name="Google Shape;261;p9"/>
          <p:cNvSpPr/>
          <p:nvPr/>
        </p:nvSpPr>
        <p:spPr>
          <a:xfrm>
            <a:off x="0" y="0"/>
            <a:ext cx="9144000" cy="502800"/>
          </a:xfrm>
          <a:prstGeom prst="rect">
            <a:avLst/>
          </a:prstGeom>
          <a:solidFill>
            <a:srgbClr val="0D2137"/>
          </a:solidFill>
          <a:ln cap="flat" cmpd="sng" w="12700">
            <a:solidFill>
              <a:srgbClr val="0D2137"/>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2" name="Google Shape;262;p9"/>
          <p:cNvSpPr/>
          <p:nvPr/>
        </p:nvSpPr>
        <p:spPr>
          <a:xfrm>
            <a:off x="365760" y="73152"/>
            <a:ext cx="82296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200"/>
              <a:buFont typeface="Calibri"/>
              <a:buNone/>
            </a:pPr>
            <a:r>
              <a:rPr b="1" lang="en-US" sz="2200">
                <a:solidFill>
                  <a:srgbClr val="FFFFFF"/>
                </a:solidFill>
                <a:latin typeface="Calibri"/>
                <a:ea typeface="Calibri"/>
                <a:cs typeface="Calibri"/>
                <a:sym typeface="Calibri"/>
              </a:rPr>
              <a:t>Exploration — Software, Hardware &amp; Their Interactions</a:t>
            </a:r>
            <a:endParaRPr sz="2200">
              <a:solidFill>
                <a:schemeClr val="dk1"/>
              </a:solidFill>
              <a:latin typeface="Calibri"/>
              <a:ea typeface="Calibri"/>
              <a:cs typeface="Calibri"/>
              <a:sym typeface="Calibri"/>
            </a:endParaRPr>
          </a:p>
        </p:txBody>
      </p:sp>
      <p:sp>
        <p:nvSpPr>
          <p:cNvPr id="263" name="Google Shape;263;p9"/>
          <p:cNvSpPr/>
          <p:nvPr/>
        </p:nvSpPr>
        <p:spPr>
          <a:xfrm>
            <a:off x="365760" y="594360"/>
            <a:ext cx="8412600" cy="347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EACC4"/>
              </a:buClr>
              <a:buSzPts val="1200"/>
              <a:buFont typeface="Calibri"/>
              <a:buNone/>
            </a:pPr>
            <a:r>
              <a:rPr i="1" lang="en-US" sz="1200">
                <a:solidFill>
                  <a:srgbClr val="8EACC4"/>
                </a:solidFill>
                <a:latin typeface="Calibri"/>
                <a:ea typeface="Calibri"/>
                <a:cs typeface="Calibri"/>
                <a:sym typeface="Calibri"/>
              </a:rPr>
              <a:t>The critical insight: every software change creates a new hardware configuration optimum. We tested these as a joint space, not independently.</a:t>
            </a:r>
            <a:endParaRPr sz="1200">
              <a:solidFill>
                <a:schemeClr val="dk1"/>
              </a:solidFill>
              <a:latin typeface="Calibri"/>
              <a:ea typeface="Calibri"/>
              <a:cs typeface="Calibri"/>
              <a:sym typeface="Calibri"/>
            </a:endParaRPr>
          </a:p>
        </p:txBody>
      </p:sp>
      <p:sp>
        <p:nvSpPr>
          <p:cNvPr id="264" name="Google Shape;264;p9"/>
          <p:cNvSpPr/>
          <p:nvPr/>
        </p:nvSpPr>
        <p:spPr>
          <a:xfrm>
            <a:off x="274320" y="1005840"/>
            <a:ext cx="2788800" cy="3977700"/>
          </a:xfrm>
          <a:prstGeom prst="rect">
            <a:avLst/>
          </a:prstGeom>
          <a:solidFill>
            <a:srgbClr val="0D4F8B"/>
          </a:solidFill>
          <a:ln cap="flat" cmpd="sng" w="19050">
            <a:solidFill>
              <a:srgbClr val="00B4D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5" name="Google Shape;265;p9"/>
          <p:cNvSpPr/>
          <p:nvPr/>
        </p:nvSpPr>
        <p:spPr>
          <a:xfrm>
            <a:off x="274320" y="1005840"/>
            <a:ext cx="2788800" cy="347400"/>
          </a:xfrm>
          <a:prstGeom prst="rect">
            <a:avLst/>
          </a:prstGeom>
          <a:solidFill>
            <a:srgbClr val="00B4D8"/>
          </a:solidFill>
          <a:ln cap="flat" cmpd="sng" w="12700">
            <a:solidFill>
              <a:srgbClr val="00B4D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6" name="Google Shape;266;p9"/>
          <p:cNvSpPr/>
          <p:nvPr/>
        </p:nvSpPr>
        <p:spPr>
          <a:xfrm>
            <a:off x="347472" y="1024128"/>
            <a:ext cx="2651700" cy="2925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A1628"/>
              </a:buClr>
              <a:buSzPts val="1200"/>
              <a:buFont typeface="Calibri"/>
              <a:buNone/>
            </a:pPr>
            <a:r>
              <a:rPr b="1" lang="en-US" sz="1200">
                <a:solidFill>
                  <a:srgbClr val="0A1628"/>
                </a:solidFill>
                <a:latin typeface="Calibri"/>
                <a:ea typeface="Calibri"/>
                <a:cs typeface="Calibri"/>
                <a:sym typeface="Calibri"/>
              </a:rPr>
              <a:t>Hardware Geometry</a:t>
            </a:r>
            <a:endParaRPr sz="1200">
              <a:solidFill>
                <a:schemeClr val="dk1"/>
              </a:solidFill>
              <a:latin typeface="Calibri"/>
              <a:ea typeface="Calibri"/>
              <a:cs typeface="Calibri"/>
              <a:sym typeface="Calibri"/>
            </a:endParaRPr>
          </a:p>
        </p:txBody>
      </p:sp>
      <p:sp>
        <p:nvSpPr>
          <p:cNvPr id="267" name="Google Shape;267;p9"/>
          <p:cNvSpPr/>
          <p:nvPr/>
        </p:nvSpPr>
        <p:spPr>
          <a:xfrm>
            <a:off x="384048" y="1417320"/>
            <a:ext cx="2560200" cy="3429000"/>
          </a:xfrm>
          <a:prstGeom prst="rect">
            <a:avLst/>
          </a:prstGeom>
          <a:solidFill>
            <a:srgbClr val="000000">
              <a:alpha val="0"/>
            </a:srgbClr>
          </a:solidFill>
          <a:ln>
            <a:noFill/>
          </a:ln>
        </p:spPr>
        <p:txBody>
          <a:bodyPr anchorCtr="0" anchor="t" bIns="45700" lIns="91400" spcFirstLastPara="1" rIns="91400" wrap="square" tIns="45700">
            <a:noAutofit/>
          </a:bodyPr>
          <a:lstStyle/>
          <a:p>
            <a:pPr indent="-298450" lvl="0" marL="457200" rtl="0" algn="l">
              <a:spcBef>
                <a:spcPts val="0"/>
              </a:spcBef>
              <a:spcAft>
                <a:spcPts val="0"/>
              </a:spcAft>
              <a:buClr>
                <a:srgbClr val="E8F4FD"/>
              </a:buClr>
              <a:buSzPts val="1100"/>
              <a:buFont typeface="Calibri"/>
              <a:buChar char="●"/>
            </a:pPr>
            <a:r>
              <a:rPr lang="en-US" sz="1100">
                <a:solidFill>
                  <a:srgbClr val="E8F4FD"/>
                </a:solidFill>
                <a:latin typeface="Calibri"/>
                <a:ea typeface="Calibri"/>
                <a:cs typeface="Calibri"/>
                <a:sym typeface="Calibri"/>
              </a:rPr>
              <a:t>Number of VTAGE tables: 4, 5, 6</a:t>
            </a:r>
            <a:endParaRPr sz="1100">
              <a:solidFill>
                <a:srgbClr val="E8F4FD"/>
              </a:solidFill>
              <a:latin typeface="Calibri"/>
              <a:ea typeface="Calibri"/>
              <a:cs typeface="Calibri"/>
              <a:sym typeface="Calibri"/>
            </a:endParaRPr>
          </a:p>
          <a:p>
            <a:pPr indent="-298450" lvl="0" marL="457200" rtl="0" algn="l">
              <a:spcBef>
                <a:spcPts val="1500"/>
              </a:spcBef>
              <a:spcAft>
                <a:spcPts val="0"/>
              </a:spcAft>
              <a:buClr>
                <a:srgbClr val="E8F4FD"/>
              </a:buClr>
              <a:buSzPts val="1100"/>
              <a:buFont typeface="Calibri"/>
              <a:buChar char="●"/>
            </a:pPr>
            <a:r>
              <a:rPr lang="en-US" sz="1100">
                <a:solidFill>
                  <a:srgbClr val="E8F4FD"/>
                </a:solidFill>
                <a:latin typeface="Calibri"/>
                <a:ea typeface="Calibri"/>
                <a:cs typeface="Calibri"/>
                <a:sym typeface="Calibri"/>
              </a:rPr>
              <a:t>History range: 16, 24, 32, 48, 64 branches</a:t>
            </a:r>
            <a:endParaRPr sz="1100">
              <a:solidFill>
                <a:srgbClr val="E8F4FD"/>
              </a:solidFill>
              <a:latin typeface="Calibri"/>
              <a:ea typeface="Calibri"/>
              <a:cs typeface="Calibri"/>
              <a:sym typeface="Calibri"/>
            </a:endParaRPr>
          </a:p>
          <a:p>
            <a:pPr indent="-298450" lvl="0" marL="457200" rtl="0" algn="l">
              <a:spcBef>
                <a:spcPts val="1500"/>
              </a:spcBef>
              <a:spcAft>
                <a:spcPts val="0"/>
              </a:spcAft>
              <a:buClr>
                <a:srgbClr val="E8F4FD"/>
              </a:buClr>
              <a:buSzPts val="1100"/>
              <a:buFont typeface="Calibri"/>
              <a:buChar char="●"/>
            </a:pPr>
            <a:r>
              <a:rPr lang="en-US" sz="1100">
                <a:solidFill>
                  <a:srgbClr val="E8F4FD"/>
                </a:solidFill>
                <a:latin typeface="Calibri"/>
                <a:ea typeface="Calibri"/>
                <a:cs typeface="Calibri"/>
                <a:sym typeface="Calibri"/>
              </a:rPr>
              <a:t>Entries per table: 128, 256, 512</a:t>
            </a:r>
            <a:endParaRPr sz="1100">
              <a:solidFill>
                <a:srgbClr val="E8F4FD"/>
              </a:solidFill>
              <a:latin typeface="Calibri"/>
              <a:ea typeface="Calibri"/>
              <a:cs typeface="Calibri"/>
              <a:sym typeface="Calibri"/>
            </a:endParaRPr>
          </a:p>
          <a:p>
            <a:pPr indent="-298450" lvl="0" marL="457200" rtl="0" algn="l">
              <a:spcBef>
                <a:spcPts val="1500"/>
              </a:spcBef>
              <a:spcAft>
                <a:spcPts val="0"/>
              </a:spcAft>
              <a:buClr>
                <a:srgbClr val="E8F4FD"/>
              </a:buClr>
              <a:buSzPts val="1100"/>
              <a:buFont typeface="Calibri"/>
              <a:buChar char="●"/>
            </a:pPr>
            <a:r>
              <a:rPr lang="en-US" sz="1100">
                <a:solidFill>
                  <a:srgbClr val="E8F4FD"/>
                </a:solidFill>
                <a:latin typeface="Calibri"/>
                <a:ea typeface="Calibri"/>
                <a:cs typeface="Calibri"/>
                <a:sym typeface="Calibri"/>
              </a:rPr>
              <a:t>VPQ Buffer Sizing: 128, 256, 300 entries</a:t>
            </a:r>
            <a:endParaRPr sz="1100">
              <a:solidFill>
                <a:srgbClr val="E8F4FD"/>
              </a:solidFill>
              <a:latin typeface="Calibri"/>
              <a:ea typeface="Calibri"/>
              <a:cs typeface="Calibri"/>
              <a:sym typeface="Calibri"/>
            </a:endParaRPr>
          </a:p>
          <a:p>
            <a:pPr indent="-298450" lvl="0" marL="457200" rtl="0" algn="l">
              <a:spcBef>
                <a:spcPts val="1500"/>
              </a:spcBef>
              <a:spcAft>
                <a:spcPts val="0"/>
              </a:spcAft>
              <a:buClr>
                <a:srgbClr val="E8F4FD"/>
              </a:buClr>
              <a:buSzPts val="1100"/>
              <a:buFont typeface="Calibri"/>
              <a:buChar char="●"/>
            </a:pPr>
            <a:r>
              <a:rPr lang="en-US" sz="1100">
                <a:solidFill>
                  <a:srgbClr val="E8F4FD"/>
                </a:solidFill>
                <a:latin typeface="Calibri"/>
                <a:ea typeface="Calibri"/>
                <a:cs typeface="Calibri"/>
                <a:sym typeface="Calibri"/>
              </a:rPr>
              <a:t>SVP Table Capacity: 512, 1024, 2048 entries</a:t>
            </a:r>
            <a:endParaRPr sz="1100">
              <a:solidFill>
                <a:srgbClr val="E8F4FD"/>
              </a:solidFill>
              <a:latin typeface="Calibri"/>
              <a:ea typeface="Calibri"/>
              <a:cs typeface="Calibri"/>
              <a:sym typeface="Calibri"/>
            </a:endParaRPr>
          </a:p>
        </p:txBody>
      </p:sp>
      <p:sp>
        <p:nvSpPr>
          <p:cNvPr id="268" name="Google Shape;268;p9"/>
          <p:cNvSpPr/>
          <p:nvPr/>
        </p:nvSpPr>
        <p:spPr>
          <a:xfrm>
            <a:off x="3246120" y="1005840"/>
            <a:ext cx="2788800" cy="3977700"/>
          </a:xfrm>
          <a:prstGeom prst="rect">
            <a:avLst/>
          </a:prstGeom>
          <a:solidFill>
            <a:srgbClr val="1A1A2A"/>
          </a:solidFill>
          <a:ln cap="flat" cmpd="sng" w="19050">
            <a:solidFill>
              <a:srgbClr val="FFD16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9" name="Google Shape;269;p9"/>
          <p:cNvSpPr/>
          <p:nvPr/>
        </p:nvSpPr>
        <p:spPr>
          <a:xfrm>
            <a:off x="3246120" y="1005840"/>
            <a:ext cx="2788800" cy="347400"/>
          </a:xfrm>
          <a:prstGeom prst="rect">
            <a:avLst/>
          </a:prstGeom>
          <a:solidFill>
            <a:srgbClr val="FFD166"/>
          </a:solidFill>
          <a:ln cap="flat" cmpd="sng" w="12700">
            <a:solidFill>
              <a:srgbClr val="FFD16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0" name="Google Shape;270;p9"/>
          <p:cNvSpPr/>
          <p:nvPr/>
        </p:nvSpPr>
        <p:spPr>
          <a:xfrm>
            <a:off x="3319272" y="1024128"/>
            <a:ext cx="2651700" cy="2925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A1628"/>
              </a:buClr>
              <a:buSzPts val="1200"/>
              <a:buFont typeface="Calibri"/>
              <a:buNone/>
            </a:pPr>
            <a:r>
              <a:rPr b="1" lang="en-US" sz="1200">
                <a:solidFill>
                  <a:srgbClr val="0A1628"/>
                </a:solidFill>
                <a:latin typeface="Calibri"/>
                <a:ea typeface="Calibri"/>
                <a:cs typeface="Calibri"/>
                <a:sym typeface="Calibri"/>
              </a:rPr>
              <a:t>Allocation &amp; Table Management</a:t>
            </a:r>
            <a:endParaRPr sz="1200">
              <a:solidFill>
                <a:schemeClr val="dk1"/>
              </a:solidFill>
              <a:latin typeface="Calibri"/>
              <a:ea typeface="Calibri"/>
              <a:cs typeface="Calibri"/>
              <a:sym typeface="Calibri"/>
            </a:endParaRPr>
          </a:p>
        </p:txBody>
      </p:sp>
      <p:sp>
        <p:nvSpPr>
          <p:cNvPr id="271" name="Google Shape;271;p9"/>
          <p:cNvSpPr/>
          <p:nvPr/>
        </p:nvSpPr>
        <p:spPr>
          <a:xfrm>
            <a:off x="3355848" y="1417320"/>
            <a:ext cx="2560200" cy="3429000"/>
          </a:xfrm>
          <a:prstGeom prst="rect">
            <a:avLst/>
          </a:prstGeom>
          <a:solidFill>
            <a:srgbClr val="000000">
              <a:alpha val="0"/>
            </a:srgbClr>
          </a:solidFill>
          <a:ln>
            <a:noFill/>
          </a:ln>
        </p:spPr>
        <p:txBody>
          <a:bodyPr anchorCtr="0" anchor="t" bIns="45700" lIns="91400" spcFirstLastPara="1" rIns="91400" wrap="square" tIns="45700">
            <a:noAutofit/>
          </a:bodyPr>
          <a:lstStyle/>
          <a:p>
            <a:pPr indent="-298450" lvl="0" marL="457200" rtl="0" algn="l">
              <a:spcBef>
                <a:spcPts val="0"/>
              </a:spcBef>
              <a:spcAft>
                <a:spcPts val="0"/>
              </a:spcAft>
              <a:buClr>
                <a:srgbClr val="E8F4FD"/>
              </a:buClr>
              <a:buSzPts val="1100"/>
              <a:buFont typeface="Calibri"/>
              <a:buChar char="●"/>
            </a:pPr>
            <a:r>
              <a:rPr lang="en-US" sz="1100">
                <a:solidFill>
                  <a:srgbClr val="E8F4FD"/>
                </a:solidFill>
                <a:latin typeface="Calibri"/>
                <a:ea typeface="Calibri"/>
                <a:cs typeface="Calibri"/>
                <a:sym typeface="Calibri"/>
              </a:rPr>
              <a:t>ALU allocation throttling: 1-in-4, 1-in-8, 1-in-16</a:t>
            </a:r>
            <a:endParaRPr sz="1100">
              <a:solidFill>
                <a:srgbClr val="E8F4FD"/>
              </a:solidFill>
              <a:latin typeface="Calibri"/>
              <a:ea typeface="Calibri"/>
              <a:cs typeface="Calibri"/>
              <a:sym typeface="Calibri"/>
            </a:endParaRPr>
          </a:p>
          <a:p>
            <a:pPr indent="-298450" lvl="0" marL="457200" rtl="0" algn="l">
              <a:spcBef>
                <a:spcPts val="1200"/>
              </a:spcBef>
              <a:spcAft>
                <a:spcPts val="0"/>
              </a:spcAft>
              <a:buClr>
                <a:srgbClr val="E8F4FD"/>
              </a:buClr>
              <a:buSzPts val="1100"/>
              <a:buFont typeface="Calibri"/>
              <a:buChar char="●"/>
            </a:pPr>
            <a:r>
              <a:rPr lang="en-US" sz="1100">
                <a:solidFill>
                  <a:srgbClr val="E8F4FD"/>
                </a:solidFill>
                <a:latin typeface="Calibri"/>
                <a:ea typeface="Calibri"/>
                <a:cs typeface="Calibri"/>
                <a:sym typeface="Calibri"/>
              </a:rPr>
              <a:t>TICK decay thresholds: 128, 256, 512, 1024</a:t>
            </a:r>
            <a:endParaRPr sz="1100">
              <a:solidFill>
                <a:srgbClr val="E8F4FD"/>
              </a:solidFill>
              <a:latin typeface="Calibri"/>
              <a:ea typeface="Calibri"/>
              <a:cs typeface="Calibri"/>
              <a:sym typeface="Calibri"/>
            </a:endParaRPr>
          </a:p>
          <a:p>
            <a:pPr indent="-298450" lvl="0" marL="457200" rtl="0" algn="l">
              <a:spcBef>
                <a:spcPts val="1200"/>
              </a:spcBef>
              <a:spcAft>
                <a:spcPts val="0"/>
              </a:spcAft>
              <a:buClr>
                <a:srgbClr val="E8F4FD"/>
              </a:buClr>
              <a:buSzPts val="1100"/>
              <a:buFont typeface="Calibri"/>
              <a:buChar char="●"/>
            </a:pPr>
            <a:r>
              <a:rPr lang="en-US" sz="1100">
                <a:solidFill>
                  <a:srgbClr val="E8F4FD"/>
                </a:solidFill>
                <a:latin typeface="Calibri"/>
                <a:ea typeface="Calibri"/>
                <a:cs typeface="Calibri"/>
                <a:sym typeface="Calibri"/>
              </a:rPr>
              <a:t>Veto Evolution: Tested Intra-VTAGE alternate blocking before isolating to Inter-Predictor (SVP) blocking.</a:t>
            </a:r>
            <a:endParaRPr sz="1100">
              <a:solidFill>
                <a:srgbClr val="E8F4FD"/>
              </a:solidFill>
              <a:latin typeface="Calibri"/>
              <a:ea typeface="Calibri"/>
              <a:cs typeface="Calibri"/>
              <a:sym typeface="Calibri"/>
            </a:endParaRPr>
          </a:p>
          <a:p>
            <a:pPr indent="-298450" lvl="0" marL="457200" rtl="0" algn="l">
              <a:spcBef>
                <a:spcPts val="1200"/>
              </a:spcBef>
              <a:spcAft>
                <a:spcPts val="0"/>
              </a:spcAft>
              <a:buClr>
                <a:srgbClr val="E8F4FD"/>
              </a:buClr>
              <a:buSzPts val="1100"/>
              <a:buFont typeface="Calibri"/>
              <a:buChar char="●"/>
            </a:pPr>
            <a:r>
              <a:rPr lang="en-US" sz="1100">
                <a:solidFill>
                  <a:srgbClr val="E8F4FD"/>
                </a:solidFill>
                <a:latin typeface="Calibri"/>
                <a:ea typeface="Calibri"/>
                <a:cs typeface="Calibri"/>
                <a:sym typeface="Calibri"/>
              </a:rPr>
              <a:t>Base Training Independence: Tested independent SVP allocation vs. strictly VTAGE-miss-gated allocation.</a:t>
            </a:r>
            <a:endParaRPr sz="1100">
              <a:solidFill>
                <a:srgbClr val="E8F4FD"/>
              </a:solidFill>
              <a:latin typeface="Calibri"/>
              <a:ea typeface="Calibri"/>
              <a:cs typeface="Calibri"/>
              <a:sym typeface="Calibri"/>
            </a:endParaRPr>
          </a:p>
          <a:p>
            <a:pPr indent="-298450" lvl="0" marL="457200" rtl="0" algn="l">
              <a:spcBef>
                <a:spcPts val="1200"/>
              </a:spcBef>
              <a:spcAft>
                <a:spcPts val="0"/>
              </a:spcAft>
              <a:buClr>
                <a:srgbClr val="E8F4FD"/>
              </a:buClr>
              <a:buSzPts val="1100"/>
              <a:buFont typeface="Calibri"/>
              <a:buChar char="●"/>
            </a:pPr>
            <a:r>
              <a:rPr lang="en-US" sz="1100">
                <a:solidFill>
                  <a:srgbClr val="E8F4FD"/>
                </a:solidFill>
                <a:latin typeface="Calibri"/>
                <a:ea typeface="Calibri"/>
                <a:cs typeface="Calibri"/>
                <a:sym typeface="Calibri"/>
              </a:rPr>
              <a:t>Confidence-gated eviction: Protecting proven entries from aggressive LRU replacement.</a:t>
            </a:r>
            <a:endParaRPr sz="1100">
              <a:solidFill>
                <a:srgbClr val="E8F4FD"/>
              </a:solidFill>
              <a:latin typeface="Calibri"/>
              <a:ea typeface="Calibri"/>
              <a:cs typeface="Calibri"/>
              <a:sym typeface="Calibri"/>
            </a:endParaRPr>
          </a:p>
        </p:txBody>
      </p:sp>
      <p:sp>
        <p:nvSpPr>
          <p:cNvPr id="272" name="Google Shape;272;p9"/>
          <p:cNvSpPr/>
          <p:nvPr/>
        </p:nvSpPr>
        <p:spPr>
          <a:xfrm>
            <a:off x="6217920" y="1005840"/>
            <a:ext cx="2788800" cy="3977700"/>
          </a:xfrm>
          <a:prstGeom prst="rect">
            <a:avLst/>
          </a:prstGeom>
          <a:solidFill>
            <a:srgbClr val="1A2A1A"/>
          </a:solidFill>
          <a:ln cap="flat" cmpd="sng" w="19050">
            <a:solidFill>
              <a:srgbClr val="06D6A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3" name="Google Shape;273;p9"/>
          <p:cNvSpPr/>
          <p:nvPr/>
        </p:nvSpPr>
        <p:spPr>
          <a:xfrm>
            <a:off x="6217920" y="1005840"/>
            <a:ext cx="2788800" cy="347400"/>
          </a:xfrm>
          <a:prstGeom prst="rect">
            <a:avLst/>
          </a:prstGeom>
          <a:solidFill>
            <a:srgbClr val="06D6A0"/>
          </a:solidFill>
          <a:ln cap="flat" cmpd="sng" w="12700">
            <a:solidFill>
              <a:srgbClr val="06D6A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4" name="Google Shape;274;p9"/>
          <p:cNvSpPr/>
          <p:nvPr/>
        </p:nvSpPr>
        <p:spPr>
          <a:xfrm>
            <a:off x="6291072" y="1024128"/>
            <a:ext cx="2651700" cy="2925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A1628"/>
              </a:buClr>
              <a:buSzPts val="1200"/>
              <a:buFont typeface="Calibri"/>
              <a:buNone/>
            </a:pPr>
            <a:r>
              <a:rPr b="1" lang="en-US" sz="1200">
                <a:solidFill>
                  <a:srgbClr val="0A1628"/>
                </a:solidFill>
                <a:latin typeface="Calibri"/>
                <a:ea typeface="Calibri"/>
                <a:cs typeface="Calibri"/>
                <a:sym typeface="Calibri"/>
              </a:rPr>
              <a:t>Training &amp; Prediction Logic</a:t>
            </a:r>
            <a:endParaRPr sz="1200">
              <a:solidFill>
                <a:schemeClr val="dk1"/>
              </a:solidFill>
              <a:latin typeface="Calibri"/>
              <a:ea typeface="Calibri"/>
              <a:cs typeface="Calibri"/>
              <a:sym typeface="Calibri"/>
            </a:endParaRPr>
          </a:p>
        </p:txBody>
      </p:sp>
      <p:sp>
        <p:nvSpPr>
          <p:cNvPr id="275" name="Google Shape;275;p9"/>
          <p:cNvSpPr/>
          <p:nvPr/>
        </p:nvSpPr>
        <p:spPr>
          <a:xfrm>
            <a:off x="6327648" y="1417320"/>
            <a:ext cx="2560200" cy="3429000"/>
          </a:xfrm>
          <a:prstGeom prst="rect">
            <a:avLst/>
          </a:prstGeom>
          <a:solidFill>
            <a:srgbClr val="000000">
              <a:alpha val="0"/>
            </a:srgbClr>
          </a:solidFill>
          <a:ln>
            <a:noFill/>
          </a:ln>
        </p:spPr>
        <p:txBody>
          <a:bodyPr anchorCtr="0" anchor="t" bIns="45700" lIns="91400" spcFirstLastPara="1" rIns="91400" wrap="square" tIns="45700">
            <a:noAutofit/>
          </a:bodyPr>
          <a:lstStyle/>
          <a:p>
            <a:pPr indent="-298450" lvl="0" marL="457200" rtl="0" algn="l">
              <a:spcBef>
                <a:spcPts val="0"/>
              </a:spcBef>
              <a:spcAft>
                <a:spcPts val="0"/>
              </a:spcAft>
              <a:buClr>
                <a:srgbClr val="E8F4FD"/>
              </a:buClr>
              <a:buSzPts val="1100"/>
              <a:buFont typeface="Calibri"/>
              <a:buChar char="●"/>
            </a:pPr>
            <a:r>
              <a:rPr lang="en-US" sz="1100">
                <a:solidFill>
                  <a:srgbClr val="E8F4FD"/>
                </a:solidFill>
                <a:latin typeface="Calibri"/>
                <a:ea typeface="Calibri"/>
                <a:cs typeface="Calibri"/>
                <a:sym typeface="Calibri"/>
              </a:rPr>
              <a:t>Stochastic training rates per instruction type</a:t>
            </a:r>
            <a:endParaRPr sz="1100">
              <a:solidFill>
                <a:srgbClr val="E8F4FD"/>
              </a:solidFill>
              <a:latin typeface="Calibri"/>
              <a:ea typeface="Calibri"/>
              <a:cs typeface="Calibri"/>
              <a:sym typeface="Calibri"/>
            </a:endParaRPr>
          </a:p>
          <a:p>
            <a:pPr indent="-298450" lvl="0" marL="457200" rtl="0" algn="l">
              <a:spcBef>
                <a:spcPts val="1500"/>
              </a:spcBef>
              <a:spcAft>
                <a:spcPts val="0"/>
              </a:spcAft>
              <a:buClr>
                <a:srgbClr val="E8F4FD"/>
              </a:buClr>
              <a:buSzPts val="1100"/>
              <a:buFont typeface="Calibri"/>
              <a:buChar char="●"/>
            </a:pPr>
            <a:r>
              <a:rPr lang="en-US" sz="1100">
                <a:solidFill>
                  <a:srgbClr val="E8F4FD"/>
                </a:solidFill>
                <a:latin typeface="Calibri"/>
                <a:ea typeface="Calibri"/>
                <a:cs typeface="Calibri"/>
                <a:sym typeface="Calibri"/>
              </a:rPr>
              <a:t>Misprediction penalty: soft dock vs full reset</a:t>
            </a:r>
            <a:endParaRPr sz="1100">
              <a:solidFill>
                <a:srgbClr val="E8F4FD"/>
              </a:solidFill>
              <a:latin typeface="Calibri"/>
              <a:ea typeface="Calibri"/>
              <a:cs typeface="Calibri"/>
              <a:sym typeface="Calibri"/>
            </a:endParaRPr>
          </a:p>
          <a:p>
            <a:pPr indent="-298450" lvl="0" marL="457200" rtl="0" algn="l">
              <a:spcBef>
                <a:spcPts val="1500"/>
              </a:spcBef>
              <a:spcAft>
                <a:spcPts val="0"/>
              </a:spcAft>
              <a:buClr>
                <a:srgbClr val="E8F4FD"/>
              </a:buClr>
              <a:buSzPts val="1100"/>
              <a:buFont typeface="Calibri"/>
              <a:buChar char="●"/>
            </a:pPr>
            <a:r>
              <a:rPr lang="en-US" sz="1100">
                <a:solidFill>
                  <a:srgbClr val="E8F4FD"/>
                </a:solidFill>
                <a:latin typeface="Calibri"/>
                <a:ea typeface="Calibri"/>
                <a:cs typeface="Calibri"/>
                <a:sym typeface="Calibri"/>
              </a:rPr>
              <a:t>Seznec Folded Hashing: Tested complex indexing by shifting the GBHR and XORing it with the PC.</a:t>
            </a:r>
            <a:endParaRPr sz="1100">
              <a:solidFill>
                <a:srgbClr val="E8F4FD"/>
              </a:solidFill>
              <a:latin typeface="Calibri"/>
              <a:ea typeface="Calibri"/>
              <a:cs typeface="Calibri"/>
              <a:sym typeface="Calibri"/>
            </a:endParaRPr>
          </a:p>
          <a:p>
            <a:pPr indent="-298450" lvl="0" marL="457200" rtl="0" algn="l">
              <a:spcBef>
                <a:spcPts val="1500"/>
              </a:spcBef>
              <a:spcAft>
                <a:spcPts val="0"/>
              </a:spcAft>
              <a:buClr>
                <a:srgbClr val="E8F4FD"/>
              </a:buClr>
              <a:buSzPts val="1100"/>
              <a:buFont typeface="Calibri"/>
              <a:buChar char="●"/>
            </a:pPr>
            <a:r>
              <a:rPr lang="en-US" sz="1100">
                <a:solidFill>
                  <a:srgbClr val="E8F4FD"/>
                </a:solidFill>
                <a:latin typeface="Calibri"/>
                <a:ea typeface="Calibri"/>
                <a:cs typeface="Calibri"/>
                <a:sym typeface="Calibri"/>
              </a:rPr>
              <a:t>Modified vs original SVP supremacy policy</a:t>
            </a:r>
            <a:endParaRPr sz="1100">
              <a:solidFill>
                <a:srgbClr val="E8F4FD"/>
              </a:solidFill>
              <a:latin typeface="Calibri"/>
              <a:ea typeface="Calibri"/>
              <a:cs typeface="Calibri"/>
              <a:sym typeface="Calibri"/>
            </a:endParaRPr>
          </a:p>
          <a:p>
            <a:pPr indent="-298450" lvl="0" marL="457200" rtl="0" algn="l">
              <a:spcBef>
                <a:spcPts val="1500"/>
              </a:spcBef>
              <a:spcAft>
                <a:spcPts val="0"/>
              </a:spcAft>
              <a:buClr>
                <a:srgbClr val="E8F4FD"/>
              </a:buClr>
              <a:buSzPts val="1100"/>
              <a:buFont typeface="Calibri"/>
              <a:buChar char="●"/>
            </a:pPr>
            <a:r>
              <a:rPr lang="en-US" sz="1100">
                <a:solidFill>
                  <a:srgbClr val="E8F4FD"/>
                </a:solidFill>
                <a:latin typeface="Calibri"/>
                <a:ea typeface="Calibri"/>
                <a:cs typeface="Calibri"/>
                <a:sym typeface="Calibri"/>
              </a:rPr>
              <a:t>Misprediction Timeout: Experimented with implementing a "penalty box" cooldown period after a burst of consecutive mispredictions.</a:t>
            </a:r>
            <a:endParaRPr sz="1100">
              <a:solidFill>
                <a:srgbClr val="E8F4FD"/>
              </a:solidFill>
              <a:latin typeface="Calibri"/>
              <a:ea typeface="Calibri"/>
              <a:cs typeface="Calibri"/>
              <a:sym typeface="Calibri"/>
            </a:endParaRPr>
          </a:p>
        </p:txBody>
      </p:sp>
      <p:sp>
        <p:nvSpPr>
          <p:cNvPr id="276" name="Google Shape;276;p9"/>
          <p:cNvSpPr/>
          <p:nvPr/>
        </p:nvSpPr>
        <p:spPr>
          <a:xfrm>
            <a:off x="274320" y="4736592"/>
            <a:ext cx="8595300" cy="274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8EACC4"/>
              </a:buClr>
              <a:buSzPts val="1100"/>
              <a:buFont typeface="Calibri"/>
              <a:buNone/>
            </a:pPr>
            <a:r>
              <a:t/>
            </a:r>
            <a:endParaRPr sz="1100">
              <a:solidFill>
                <a:schemeClr val="dk1"/>
              </a:solidFill>
              <a:latin typeface="Calibri"/>
              <a:ea typeface="Calibri"/>
              <a:cs typeface="Calibri"/>
              <a:sym typeface="Calibri"/>
            </a:endParaRPr>
          </a:p>
        </p:txBody>
      </p:sp>
      <p:sp>
        <p:nvSpPr>
          <p:cNvPr id="277" name="Google Shape;277;p9"/>
          <p:cNvSpPr/>
          <p:nvPr/>
        </p:nvSpPr>
        <p:spPr>
          <a:xfrm>
            <a:off x="365760" y="502920"/>
            <a:ext cx="2286000" cy="36600"/>
          </a:xfrm>
          <a:prstGeom prst="rect">
            <a:avLst/>
          </a:prstGeom>
          <a:solidFill>
            <a:srgbClr val="00B4D8"/>
          </a:solidFill>
          <a:ln cap="flat" cmpd="sng" w="12700">
            <a:solidFill>
              <a:srgbClr val="00B4D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628"/>
        </a:solidFill>
      </p:bgPr>
    </p:bg>
    <p:spTree>
      <p:nvGrpSpPr>
        <p:cNvPr id="282" name="Shape 282"/>
        <p:cNvGrpSpPr/>
        <p:nvPr/>
      </p:nvGrpSpPr>
      <p:grpSpPr>
        <a:xfrm>
          <a:off x="0" y="0"/>
          <a:ext cx="0" cy="0"/>
          <a:chOff x="0" y="0"/>
          <a:chExt cx="0" cy="0"/>
        </a:xfrm>
      </p:grpSpPr>
      <p:sp>
        <p:nvSpPr>
          <p:cNvPr id="283" name="Google Shape;283;g3d92ac71dd0_1_31"/>
          <p:cNvSpPr/>
          <p:nvPr/>
        </p:nvSpPr>
        <p:spPr>
          <a:xfrm>
            <a:off x="0" y="0"/>
            <a:ext cx="54900" cy="5143500"/>
          </a:xfrm>
          <a:prstGeom prst="rect">
            <a:avLst/>
          </a:prstGeom>
          <a:solidFill>
            <a:srgbClr val="00B4D8"/>
          </a:solidFill>
          <a:ln cap="flat" cmpd="sng" w="12700">
            <a:solidFill>
              <a:srgbClr val="00B4D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4" name="Google Shape;284;g3d92ac71dd0_1_31"/>
          <p:cNvSpPr/>
          <p:nvPr/>
        </p:nvSpPr>
        <p:spPr>
          <a:xfrm>
            <a:off x="9089136" y="0"/>
            <a:ext cx="54900" cy="5143500"/>
          </a:xfrm>
          <a:prstGeom prst="rect">
            <a:avLst/>
          </a:prstGeom>
          <a:solidFill>
            <a:srgbClr val="00B4D8"/>
          </a:solidFill>
          <a:ln cap="flat" cmpd="sng" w="12700">
            <a:solidFill>
              <a:srgbClr val="00B4D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5" name="Google Shape;285;g3d92ac71dd0_1_31"/>
          <p:cNvSpPr/>
          <p:nvPr/>
        </p:nvSpPr>
        <p:spPr>
          <a:xfrm>
            <a:off x="0" y="365760"/>
            <a:ext cx="9144000" cy="54900"/>
          </a:xfrm>
          <a:prstGeom prst="rect">
            <a:avLst/>
          </a:prstGeom>
          <a:solidFill>
            <a:srgbClr val="00B4D8"/>
          </a:solidFill>
          <a:ln cap="flat" cmpd="sng" w="12700">
            <a:solidFill>
              <a:srgbClr val="00B4D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6" name="Google Shape;286;g3d92ac71dd0_1_31"/>
          <p:cNvSpPr/>
          <p:nvPr/>
        </p:nvSpPr>
        <p:spPr>
          <a:xfrm>
            <a:off x="0" y="4754880"/>
            <a:ext cx="9144000" cy="54900"/>
          </a:xfrm>
          <a:prstGeom prst="rect">
            <a:avLst/>
          </a:prstGeom>
          <a:solidFill>
            <a:srgbClr val="00B4D8"/>
          </a:solidFill>
          <a:ln cap="flat" cmpd="sng" w="12700">
            <a:solidFill>
              <a:srgbClr val="00B4D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7" name="Google Shape;287;g3d92ac71dd0_1_31"/>
          <p:cNvSpPr/>
          <p:nvPr/>
        </p:nvSpPr>
        <p:spPr>
          <a:xfrm>
            <a:off x="365760" y="457200"/>
            <a:ext cx="82296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800"/>
              <a:buFont typeface="Calibri"/>
              <a:buNone/>
            </a:pPr>
            <a:r>
              <a:rPr b="1" lang="en-US" sz="2800">
                <a:solidFill>
                  <a:srgbClr val="FFFFFF"/>
                </a:solidFill>
                <a:latin typeface="Calibri"/>
                <a:ea typeface="Calibri"/>
                <a:cs typeface="Calibri"/>
                <a:sym typeface="Calibri"/>
              </a:rPr>
              <a:t>Conclusions</a:t>
            </a:r>
            <a:endParaRPr sz="2800">
              <a:solidFill>
                <a:schemeClr val="dk1"/>
              </a:solidFill>
              <a:latin typeface="Calibri"/>
              <a:ea typeface="Calibri"/>
              <a:cs typeface="Calibri"/>
              <a:sym typeface="Calibri"/>
            </a:endParaRPr>
          </a:p>
        </p:txBody>
      </p:sp>
      <p:sp>
        <p:nvSpPr>
          <p:cNvPr id="288" name="Google Shape;288;g3d92ac71dd0_1_31"/>
          <p:cNvSpPr/>
          <p:nvPr/>
        </p:nvSpPr>
        <p:spPr>
          <a:xfrm>
            <a:off x="274320" y="1005840"/>
            <a:ext cx="292500" cy="621900"/>
          </a:xfrm>
          <a:prstGeom prst="rect">
            <a:avLst/>
          </a:prstGeom>
          <a:solidFill>
            <a:srgbClr val="00F5D4"/>
          </a:solidFill>
          <a:ln cap="flat" cmpd="sng" w="12700">
            <a:solidFill>
              <a:srgbClr val="00F5D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9" name="Google Shape;289;g3d92ac71dd0_1_31"/>
          <p:cNvSpPr/>
          <p:nvPr/>
        </p:nvSpPr>
        <p:spPr>
          <a:xfrm>
            <a:off x="566928" y="1005840"/>
            <a:ext cx="8321100" cy="621900"/>
          </a:xfrm>
          <a:prstGeom prst="rect">
            <a:avLst/>
          </a:prstGeom>
          <a:solidFill>
            <a:srgbClr val="0D2137"/>
          </a:solidFill>
          <a:ln cap="flat" cmpd="sng" w="9525">
            <a:solidFill>
              <a:srgbClr val="1A2A3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0" name="Google Shape;290;g3d92ac71dd0_1_31"/>
          <p:cNvSpPr/>
          <p:nvPr/>
        </p:nvSpPr>
        <p:spPr>
          <a:xfrm>
            <a:off x="685800" y="1088136"/>
            <a:ext cx="8092500" cy="475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8F4FD"/>
              </a:buClr>
              <a:buSzPts val="1200"/>
              <a:buFont typeface="Calibri"/>
              <a:buNone/>
            </a:pPr>
            <a:r>
              <a:rPr lang="en-US" sz="1200">
                <a:solidFill>
                  <a:srgbClr val="E8F4FD"/>
                </a:solidFill>
                <a:latin typeface="Calibri"/>
                <a:ea typeface="Calibri"/>
                <a:cs typeface="Calibri"/>
                <a:sym typeface="Calibri"/>
              </a:rPr>
              <a:t>Achieved 2.054 harmonic mean IPC — a meaningful improvement over the 2.02 pure SVP baseline — by pairing SVP's mathematical stride model with VTAGE's history-correlated pattern learning inside a strict 32 KB budget.</a:t>
            </a:r>
            <a:endParaRPr sz="1200">
              <a:solidFill>
                <a:schemeClr val="dk1"/>
              </a:solidFill>
              <a:latin typeface="Calibri"/>
              <a:ea typeface="Calibri"/>
              <a:cs typeface="Calibri"/>
              <a:sym typeface="Calibri"/>
            </a:endParaRPr>
          </a:p>
        </p:txBody>
      </p:sp>
      <p:sp>
        <p:nvSpPr>
          <p:cNvPr id="291" name="Google Shape;291;g3d92ac71dd0_1_31"/>
          <p:cNvSpPr/>
          <p:nvPr/>
        </p:nvSpPr>
        <p:spPr>
          <a:xfrm>
            <a:off x="274320" y="1810512"/>
            <a:ext cx="292500" cy="621900"/>
          </a:xfrm>
          <a:prstGeom prst="rect">
            <a:avLst/>
          </a:prstGeom>
          <a:solidFill>
            <a:srgbClr val="00B4D8"/>
          </a:solidFill>
          <a:ln cap="flat" cmpd="sng" w="12700">
            <a:solidFill>
              <a:srgbClr val="00B4D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2" name="Google Shape;292;g3d92ac71dd0_1_31"/>
          <p:cNvSpPr/>
          <p:nvPr/>
        </p:nvSpPr>
        <p:spPr>
          <a:xfrm>
            <a:off x="566928" y="1810512"/>
            <a:ext cx="8321100" cy="621900"/>
          </a:xfrm>
          <a:prstGeom prst="rect">
            <a:avLst/>
          </a:prstGeom>
          <a:solidFill>
            <a:srgbClr val="0A1422"/>
          </a:solidFill>
          <a:ln cap="flat" cmpd="sng" w="9525">
            <a:solidFill>
              <a:srgbClr val="1A2A3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3" name="Google Shape;293;g3d92ac71dd0_1_31"/>
          <p:cNvSpPr/>
          <p:nvPr/>
        </p:nvSpPr>
        <p:spPr>
          <a:xfrm>
            <a:off x="685800" y="1892808"/>
            <a:ext cx="8092500" cy="475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8F4FD"/>
              </a:buClr>
              <a:buSzPts val="1200"/>
              <a:buFont typeface="Calibri"/>
              <a:buNone/>
            </a:pPr>
            <a:r>
              <a:rPr lang="en-US" sz="1200">
                <a:solidFill>
                  <a:srgbClr val="E8F4FD"/>
                </a:solidFill>
                <a:latin typeface="Calibri"/>
                <a:ea typeface="Calibri"/>
                <a:cs typeface="Calibri"/>
                <a:sym typeface="Calibri"/>
              </a:rPr>
              <a:t>The hybrid delivers real architectural value: perlbench gains 12.4% from VTAGE capturing complex control flow, while modified SVP supremacy lets deeply-proven VTAGE entries take precedence over stride predictions.</a:t>
            </a:r>
            <a:endParaRPr sz="1200">
              <a:solidFill>
                <a:schemeClr val="dk1"/>
              </a:solidFill>
              <a:latin typeface="Calibri"/>
              <a:ea typeface="Calibri"/>
              <a:cs typeface="Calibri"/>
              <a:sym typeface="Calibri"/>
            </a:endParaRPr>
          </a:p>
        </p:txBody>
      </p:sp>
      <p:sp>
        <p:nvSpPr>
          <p:cNvPr id="294" name="Google Shape;294;g3d92ac71dd0_1_31"/>
          <p:cNvSpPr/>
          <p:nvPr/>
        </p:nvSpPr>
        <p:spPr>
          <a:xfrm>
            <a:off x="274320" y="2615184"/>
            <a:ext cx="292500" cy="621900"/>
          </a:xfrm>
          <a:prstGeom prst="rect">
            <a:avLst/>
          </a:prstGeom>
          <a:solidFill>
            <a:srgbClr val="FFD166"/>
          </a:solidFill>
          <a:ln cap="flat" cmpd="sng" w="12700">
            <a:solidFill>
              <a:srgbClr val="FFD16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5" name="Google Shape;295;g3d92ac71dd0_1_31"/>
          <p:cNvSpPr/>
          <p:nvPr/>
        </p:nvSpPr>
        <p:spPr>
          <a:xfrm>
            <a:off x="566928" y="2615184"/>
            <a:ext cx="8321100" cy="621900"/>
          </a:xfrm>
          <a:prstGeom prst="rect">
            <a:avLst/>
          </a:prstGeom>
          <a:solidFill>
            <a:srgbClr val="0D2137"/>
          </a:solidFill>
          <a:ln cap="flat" cmpd="sng" w="9525">
            <a:solidFill>
              <a:srgbClr val="1A2A3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6" name="Google Shape;296;g3d92ac71dd0_1_31"/>
          <p:cNvSpPr/>
          <p:nvPr/>
        </p:nvSpPr>
        <p:spPr>
          <a:xfrm>
            <a:off x="685800" y="2697480"/>
            <a:ext cx="8092500" cy="475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8F4FD"/>
              </a:buClr>
              <a:buSzPts val="1200"/>
              <a:buFont typeface="Calibri"/>
              <a:buNone/>
            </a:pPr>
            <a:r>
              <a:rPr lang="en-US" sz="1200">
                <a:solidFill>
                  <a:srgbClr val="E8F4FD"/>
                </a:solidFill>
                <a:latin typeface="Calibri"/>
                <a:ea typeface="Calibri"/>
                <a:cs typeface="Calibri"/>
                <a:sym typeface="Calibri"/>
              </a:rPr>
              <a:t>Decoupling confidence ceilings was the single most impactful discovery: conf_max=63 for VTAGE eliminates confident mispredictions on chaotic workloads, while conf_max=47 for SVP keeps structured workloads firing aggressively.</a:t>
            </a:r>
            <a:endParaRPr sz="1200">
              <a:solidFill>
                <a:schemeClr val="dk1"/>
              </a:solidFill>
              <a:latin typeface="Calibri"/>
              <a:ea typeface="Calibri"/>
              <a:cs typeface="Calibri"/>
              <a:sym typeface="Calibri"/>
            </a:endParaRPr>
          </a:p>
        </p:txBody>
      </p:sp>
      <p:sp>
        <p:nvSpPr>
          <p:cNvPr id="297" name="Google Shape;297;g3d92ac71dd0_1_31"/>
          <p:cNvSpPr/>
          <p:nvPr/>
        </p:nvSpPr>
        <p:spPr>
          <a:xfrm>
            <a:off x="274320" y="3419856"/>
            <a:ext cx="292500" cy="621900"/>
          </a:xfrm>
          <a:prstGeom prst="rect">
            <a:avLst/>
          </a:prstGeom>
          <a:solidFill>
            <a:srgbClr val="06D6A0"/>
          </a:solidFill>
          <a:ln cap="flat" cmpd="sng" w="12700">
            <a:solidFill>
              <a:srgbClr val="06D6A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8" name="Google Shape;298;g3d92ac71dd0_1_31"/>
          <p:cNvSpPr/>
          <p:nvPr/>
        </p:nvSpPr>
        <p:spPr>
          <a:xfrm>
            <a:off x="566928" y="3419856"/>
            <a:ext cx="8321100" cy="621900"/>
          </a:xfrm>
          <a:prstGeom prst="rect">
            <a:avLst/>
          </a:prstGeom>
          <a:solidFill>
            <a:srgbClr val="0A1422"/>
          </a:solidFill>
          <a:ln cap="flat" cmpd="sng" w="9525">
            <a:solidFill>
              <a:srgbClr val="1A2A3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9" name="Google Shape;299;g3d92ac71dd0_1_31"/>
          <p:cNvSpPr/>
          <p:nvPr/>
        </p:nvSpPr>
        <p:spPr>
          <a:xfrm>
            <a:off x="685800" y="3502152"/>
            <a:ext cx="8092500" cy="475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8F4FD"/>
              </a:buClr>
              <a:buSzPts val="1200"/>
              <a:buFont typeface="Calibri"/>
              <a:buNone/>
            </a:pPr>
            <a:r>
              <a:rPr lang="en-US" sz="1200">
                <a:solidFill>
                  <a:srgbClr val="E8F4FD"/>
                </a:solidFill>
                <a:latin typeface="Calibri"/>
                <a:ea typeface="Calibri"/>
                <a:cs typeface="Calibri"/>
                <a:sym typeface="Calibri"/>
              </a:rPr>
              <a:t>Novel contributions include porting branch-prediction Alternate logic to Value Prediction, designing the anti-aliasing SVP shield, and modifying the SVP supremacy policy — all with measurable IPC impact.</a:t>
            </a:r>
            <a:endParaRPr sz="1200">
              <a:solidFill>
                <a:schemeClr val="dk1"/>
              </a:solidFill>
              <a:latin typeface="Calibri"/>
              <a:ea typeface="Calibri"/>
              <a:cs typeface="Calibri"/>
              <a:sym typeface="Calibri"/>
            </a:endParaRPr>
          </a:p>
        </p:txBody>
      </p:sp>
      <p:sp>
        <p:nvSpPr>
          <p:cNvPr id="300" name="Google Shape;300;g3d92ac71dd0_1_31"/>
          <p:cNvSpPr/>
          <p:nvPr/>
        </p:nvSpPr>
        <p:spPr>
          <a:xfrm>
            <a:off x="274320" y="4224528"/>
            <a:ext cx="292500" cy="621900"/>
          </a:xfrm>
          <a:prstGeom prst="rect">
            <a:avLst/>
          </a:prstGeom>
          <a:solidFill>
            <a:srgbClr val="FF6B35"/>
          </a:solidFill>
          <a:ln cap="flat" cmpd="sng" w="12700">
            <a:solidFill>
              <a:srgbClr val="FF6B3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1" name="Google Shape;301;g3d92ac71dd0_1_31"/>
          <p:cNvSpPr/>
          <p:nvPr/>
        </p:nvSpPr>
        <p:spPr>
          <a:xfrm>
            <a:off x="566928" y="4224528"/>
            <a:ext cx="8321100" cy="621900"/>
          </a:xfrm>
          <a:prstGeom prst="rect">
            <a:avLst/>
          </a:prstGeom>
          <a:solidFill>
            <a:srgbClr val="0D2137"/>
          </a:solidFill>
          <a:ln cap="flat" cmpd="sng" w="9525">
            <a:solidFill>
              <a:srgbClr val="1A2A3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2" name="Google Shape;302;g3d92ac71dd0_1_31"/>
          <p:cNvSpPr/>
          <p:nvPr/>
        </p:nvSpPr>
        <p:spPr>
          <a:xfrm>
            <a:off x="685800" y="4306824"/>
            <a:ext cx="8092500" cy="475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8F4FD"/>
              </a:buClr>
              <a:buSzPts val="1200"/>
              <a:buFont typeface="Calibri"/>
              <a:buNone/>
            </a:pPr>
            <a:r>
              <a:rPr lang="en-US" sz="1200">
                <a:solidFill>
                  <a:srgbClr val="E8F4FD"/>
                </a:solidFill>
                <a:latin typeface="Calibri"/>
                <a:ea typeface="Calibri"/>
                <a:cs typeface="Calibri"/>
                <a:sym typeface="Calibri"/>
              </a:rPr>
              <a:t>The joint code-configuration space remains vastly unexplored: per-PC confidence thresholds, memory-latency-aware training, confidence-gated eviction, and implementing EVES-style indirect value pointers are among the most promising remaining directions.</a:t>
            </a:r>
            <a:endParaRPr sz="120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g3e073069206_10_30"/>
          <p:cNvSpPr/>
          <p:nvPr/>
        </p:nvSpPr>
        <p:spPr>
          <a:xfrm>
            <a:off x="0" y="0"/>
            <a:ext cx="9144000" cy="5143500"/>
          </a:xfrm>
          <a:prstGeom prst="rect">
            <a:avLst/>
          </a:prstGeom>
          <a:solidFill>
            <a:srgbClr val="0A162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7" name="Google Shape;307;g3e073069206_10_30"/>
          <p:cNvSpPr/>
          <p:nvPr/>
        </p:nvSpPr>
        <p:spPr>
          <a:xfrm>
            <a:off x="0" y="0"/>
            <a:ext cx="9144000" cy="502800"/>
          </a:xfrm>
          <a:prstGeom prst="rect">
            <a:avLst/>
          </a:prstGeom>
          <a:solidFill>
            <a:srgbClr val="0D213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8" name="Google Shape;308;g3e073069206_10_30"/>
          <p:cNvSpPr txBox="1"/>
          <p:nvPr/>
        </p:nvSpPr>
        <p:spPr>
          <a:xfrm>
            <a:off x="365760" y="73152"/>
            <a:ext cx="8229600" cy="365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200">
                <a:solidFill>
                  <a:schemeClr val="lt1"/>
                </a:solidFill>
                <a:latin typeface="Calibri"/>
                <a:ea typeface="Calibri"/>
                <a:cs typeface="Calibri"/>
                <a:sym typeface="Calibri"/>
              </a:rPr>
              <a:t>References &amp; Citations</a:t>
            </a:r>
            <a:endParaRPr b="1" sz="2200">
              <a:solidFill>
                <a:schemeClr val="lt1"/>
              </a:solidFill>
              <a:latin typeface="Calibri"/>
              <a:ea typeface="Calibri"/>
              <a:cs typeface="Calibri"/>
              <a:sym typeface="Calibri"/>
            </a:endParaRPr>
          </a:p>
        </p:txBody>
      </p:sp>
      <p:sp>
        <p:nvSpPr>
          <p:cNvPr id="309" name="Google Shape;309;g3e073069206_10_30"/>
          <p:cNvSpPr/>
          <p:nvPr/>
        </p:nvSpPr>
        <p:spPr>
          <a:xfrm>
            <a:off x="365760" y="502920"/>
            <a:ext cx="2286000" cy="36300"/>
          </a:xfrm>
          <a:prstGeom prst="rect">
            <a:avLst/>
          </a:prstGeom>
          <a:solidFill>
            <a:srgbClr val="00B4D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310" name="Google Shape;310;g3e073069206_10_30"/>
          <p:cNvGrpSpPr/>
          <p:nvPr/>
        </p:nvGrpSpPr>
        <p:grpSpPr>
          <a:xfrm>
            <a:off x="365760" y="762000"/>
            <a:ext cx="8412600" cy="619200"/>
            <a:chOff x="0" y="0"/>
            <a:chExt cx="8412600" cy="619200"/>
          </a:xfrm>
        </p:grpSpPr>
        <p:sp>
          <p:nvSpPr>
            <p:cNvPr id="311" name="Google Shape;311;g3e073069206_10_30"/>
            <p:cNvSpPr/>
            <p:nvPr/>
          </p:nvSpPr>
          <p:spPr>
            <a:xfrm>
              <a:off x="0" y="0"/>
              <a:ext cx="8412600" cy="619200"/>
            </a:xfrm>
            <a:prstGeom prst="roundRect">
              <a:avLst>
                <a:gd fmla="val 6153" name="adj"/>
              </a:avLst>
            </a:prstGeom>
            <a:solidFill>
              <a:srgbClr val="0D2137"/>
            </a:solidFill>
            <a:ln cap="flat" cmpd="sng" w="9525">
              <a:solidFill>
                <a:srgbClr val="1A2A3A"/>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2" name="Google Shape;312;g3e073069206_10_30"/>
            <p:cNvSpPr txBox="1"/>
            <p:nvPr/>
          </p:nvSpPr>
          <p:spPr>
            <a:xfrm>
              <a:off x="142875" y="0"/>
              <a:ext cx="381000" cy="6192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1200">
                  <a:solidFill>
                    <a:srgbClr val="00F5D4"/>
                  </a:solidFill>
                  <a:latin typeface="Consolas"/>
                  <a:ea typeface="Consolas"/>
                  <a:cs typeface="Consolas"/>
                  <a:sym typeface="Consolas"/>
                </a:rPr>
                <a:t>[1]</a:t>
              </a:r>
              <a:endParaRPr b="1" sz="1200">
                <a:solidFill>
                  <a:srgbClr val="00F5D4"/>
                </a:solidFill>
                <a:latin typeface="Consolas"/>
                <a:ea typeface="Consolas"/>
                <a:cs typeface="Consolas"/>
                <a:sym typeface="Consolas"/>
              </a:endParaRPr>
            </a:p>
          </p:txBody>
        </p:sp>
        <p:sp>
          <p:nvSpPr>
            <p:cNvPr id="313" name="Google Shape;313;g3e073069206_10_30"/>
            <p:cNvSpPr txBox="1"/>
            <p:nvPr/>
          </p:nvSpPr>
          <p:spPr>
            <a:xfrm>
              <a:off x="619125" y="0"/>
              <a:ext cx="7524900" cy="6192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en-US" sz="1150">
                  <a:solidFill>
                    <a:srgbClr val="E8F4FD"/>
                  </a:solidFill>
                  <a:latin typeface="Calibri"/>
                  <a:ea typeface="Calibri"/>
                  <a:cs typeface="Calibri"/>
                  <a:sym typeface="Calibri"/>
                </a:rPr>
                <a:t>Seznec, A. "Exploring value prediction with the EVES predictor." 1st Championship Value Prediction (CVP-1), 2018.</a:t>
              </a:r>
              <a:endParaRPr b="0" sz="1150">
                <a:solidFill>
                  <a:srgbClr val="E8F4FD"/>
                </a:solidFill>
                <a:latin typeface="Calibri"/>
                <a:ea typeface="Calibri"/>
                <a:cs typeface="Calibri"/>
                <a:sym typeface="Calibri"/>
              </a:endParaRPr>
            </a:p>
          </p:txBody>
        </p:sp>
      </p:grpSp>
      <p:grpSp>
        <p:nvGrpSpPr>
          <p:cNvPr id="314" name="Google Shape;314;g3e073069206_10_30"/>
          <p:cNvGrpSpPr/>
          <p:nvPr/>
        </p:nvGrpSpPr>
        <p:grpSpPr>
          <a:xfrm>
            <a:off x="365760" y="1476375"/>
            <a:ext cx="8412600" cy="619200"/>
            <a:chOff x="0" y="0"/>
            <a:chExt cx="8412600" cy="619200"/>
          </a:xfrm>
        </p:grpSpPr>
        <p:sp>
          <p:nvSpPr>
            <p:cNvPr id="315" name="Google Shape;315;g3e073069206_10_30"/>
            <p:cNvSpPr/>
            <p:nvPr/>
          </p:nvSpPr>
          <p:spPr>
            <a:xfrm>
              <a:off x="0" y="0"/>
              <a:ext cx="8412600" cy="619200"/>
            </a:xfrm>
            <a:prstGeom prst="roundRect">
              <a:avLst>
                <a:gd fmla="val 6153" name="adj"/>
              </a:avLst>
            </a:prstGeom>
            <a:solidFill>
              <a:srgbClr val="0D2137"/>
            </a:solidFill>
            <a:ln cap="flat" cmpd="sng" w="9525">
              <a:solidFill>
                <a:srgbClr val="1A2A3A"/>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6" name="Google Shape;316;g3e073069206_10_30"/>
            <p:cNvSpPr txBox="1"/>
            <p:nvPr/>
          </p:nvSpPr>
          <p:spPr>
            <a:xfrm>
              <a:off x="142875" y="0"/>
              <a:ext cx="381000" cy="6192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1200">
                  <a:solidFill>
                    <a:srgbClr val="00F5D4"/>
                  </a:solidFill>
                  <a:latin typeface="Consolas"/>
                  <a:ea typeface="Consolas"/>
                  <a:cs typeface="Consolas"/>
                  <a:sym typeface="Consolas"/>
                </a:rPr>
                <a:t>[2]</a:t>
              </a:r>
              <a:endParaRPr b="1" sz="1200">
                <a:solidFill>
                  <a:srgbClr val="00F5D4"/>
                </a:solidFill>
                <a:latin typeface="Consolas"/>
                <a:ea typeface="Consolas"/>
                <a:cs typeface="Consolas"/>
                <a:sym typeface="Consolas"/>
              </a:endParaRPr>
            </a:p>
          </p:txBody>
        </p:sp>
        <p:sp>
          <p:nvSpPr>
            <p:cNvPr id="317" name="Google Shape;317;g3e073069206_10_30"/>
            <p:cNvSpPr txBox="1"/>
            <p:nvPr/>
          </p:nvSpPr>
          <p:spPr>
            <a:xfrm>
              <a:off x="619125" y="0"/>
              <a:ext cx="7524900" cy="6192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en-US" sz="1150">
                  <a:solidFill>
                    <a:srgbClr val="E8F4FD"/>
                  </a:solidFill>
                  <a:latin typeface="Calibri"/>
                  <a:ea typeface="Calibri"/>
                  <a:cs typeface="Calibri"/>
                  <a:sym typeface="Calibri"/>
                </a:rPr>
                <a:t>Perais, A., &amp; Seznec, A. "Practical Data Value Speculation for Future High-end Processors." IEEE 20th International Symposium on High Performance Computer Architecture (HPCA), 2014.</a:t>
              </a:r>
              <a:endParaRPr b="0" sz="1150">
                <a:solidFill>
                  <a:srgbClr val="E8F4FD"/>
                </a:solidFill>
                <a:latin typeface="Calibri"/>
                <a:ea typeface="Calibri"/>
                <a:cs typeface="Calibri"/>
                <a:sym typeface="Calibri"/>
              </a:endParaRPr>
            </a:p>
          </p:txBody>
        </p:sp>
      </p:grpSp>
      <p:grpSp>
        <p:nvGrpSpPr>
          <p:cNvPr id="318" name="Google Shape;318;g3e073069206_10_30"/>
          <p:cNvGrpSpPr/>
          <p:nvPr/>
        </p:nvGrpSpPr>
        <p:grpSpPr>
          <a:xfrm>
            <a:off x="365760" y="2190750"/>
            <a:ext cx="8412600" cy="619200"/>
            <a:chOff x="0" y="0"/>
            <a:chExt cx="8412600" cy="619200"/>
          </a:xfrm>
        </p:grpSpPr>
        <p:sp>
          <p:nvSpPr>
            <p:cNvPr id="319" name="Google Shape;319;g3e073069206_10_30"/>
            <p:cNvSpPr/>
            <p:nvPr/>
          </p:nvSpPr>
          <p:spPr>
            <a:xfrm>
              <a:off x="0" y="0"/>
              <a:ext cx="8412600" cy="619200"/>
            </a:xfrm>
            <a:prstGeom prst="roundRect">
              <a:avLst>
                <a:gd fmla="val 6153" name="adj"/>
              </a:avLst>
            </a:prstGeom>
            <a:solidFill>
              <a:srgbClr val="0D2137"/>
            </a:solidFill>
            <a:ln cap="flat" cmpd="sng" w="9525">
              <a:solidFill>
                <a:srgbClr val="1A2A3A"/>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0" name="Google Shape;320;g3e073069206_10_30"/>
            <p:cNvSpPr txBox="1"/>
            <p:nvPr/>
          </p:nvSpPr>
          <p:spPr>
            <a:xfrm>
              <a:off x="142875" y="0"/>
              <a:ext cx="381000" cy="6192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1200">
                  <a:solidFill>
                    <a:srgbClr val="00F5D4"/>
                  </a:solidFill>
                  <a:latin typeface="Consolas"/>
                  <a:ea typeface="Consolas"/>
                  <a:cs typeface="Consolas"/>
                  <a:sym typeface="Consolas"/>
                </a:rPr>
                <a:t>[3]</a:t>
              </a:r>
              <a:endParaRPr b="1" sz="1200">
                <a:solidFill>
                  <a:srgbClr val="00F5D4"/>
                </a:solidFill>
                <a:latin typeface="Consolas"/>
                <a:ea typeface="Consolas"/>
                <a:cs typeface="Consolas"/>
                <a:sym typeface="Consolas"/>
              </a:endParaRPr>
            </a:p>
          </p:txBody>
        </p:sp>
        <p:sp>
          <p:nvSpPr>
            <p:cNvPr id="321" name="Google Shape;321;g3e073069206_10_30"/>
            <p:cNvSpPr txBox="1"/>
            <p:nvPr/>
          </p:nvSpPr>
          <p:spPr>
            <a:xfrm>
              <a:off x="619125" y="0"/>
              <a:ext cx="7524900" cy="6192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en-US" sz="1150">
                  <a:solidFill>
                    <a:srgbClr val="E8F4FD"/>
                  </a:solidFill>
                  <a:latin typeface="Calibri"/>
                  <a:ea typeface="Calibri"/>
                  <a:cs typeface="Calibri"/>
                  <a:sym typeface="Calibri"/>
                </a:rPr>
                <a:t>Seznec, A. "A case for (partially) Tagged Geometric history length branch prediction." Journal of Instruction-Level Parallelism, 2006.</a:t>
              </a:r>
              <a:endParaRPr b="0" sz="1150">
                <a:solidFill>
                  <a:srgbClr val="E8F4FD"/>
                </a:solidFill>
                <a:latin typeface="Calibri"/>
                <a:ea typeface="Calibri"/>
                <a:cs typeface="Calibri"/>
                <a:sym typeface="Calibri"/>
              </a:endParaRPr>
            </a:p>
          </p:txBody>
        </p:sp>
      </p:grpSp>
      <p:sp>
        <p:nvSpPr>
          <p:cNvPr id="322" name="Google Shape;322;g3e073069206_10_30"/>
          <p:cNvSpPr/>
          <p:nvPr/>
        </p:nvSpPr>
        <p:spPr>
          <a:xfrm>
            <a:off x="274320" y="4598670"/>
            <a:ext cx="8595300" cy="384000"/>
          </a:xfrm>
          <a:prstGeom prst="rect">
            <a:avLst/>
          </a:prstGeom>
          <a:solidFill>
            <a:srgbClr val="0A1A0A"/>
          </a:solidFill>
          <a:ln cap="flat" cmpd="sng" w="12375">
            <a:solidFill>
              <a:srgbClr val="06D6A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3" name="Google Shape;323;g3e073069206_10_30"/>
          <p:cNvSpPr txBox="1"/>
          <p:nvPr/>
        </p:nvSpPr>
        <p:spPr>
          <a:xfrm>
            <a:off x="365760" y="4598670"/>
            <a:ext cx="8412600" cy="384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i="1" lang="en-US" sz="1100">
                <a:solidFill>
                  <a:srgbClr val="06D6A0"/>
                </a:solidFill>
                <a:latin typeface="Calibri"/>
                <a:ea typeface="Calibri"/>
                <a:cs typeface="Calibri"/>
                <a:sym typeface="Calibri"/>
              </a:rPr>
              <a:t>All methodology and architectural baselines derived from the Championship Value Prediction (CVP) framework.</a:t>
            </a:r>
            <a:endParaRPr sz="1100">
              <a:solidFill>
                <a:srgbClr val="06D6A0"/>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2026-04-22T22:42:17Z</dcterms:created>
  <dc:creator>PptxGenJS</dc:creator>
</cp:coreProperties>
</file>