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5143500" cx="9144000"/>
  <p:notesSz cx="5143500" cy="9144000"/>
  <p:embeddedFontLst>
    <p:embeddedFont>
      <p:font typeface="Robot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3" roundtripDataSignature="AMtx7mjGjUCdXywW96eYU5v/VQdQcKF3v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font" Target="fonts/Roboto-bold.fntdata"/><Relationship Id="rId11" Type="http://schemas.openxmlformats.org/officeDocument/2006/relationships/slide" Target="slides/slide6.xml"/><Relationship Id="rId22" Type="http://schemas.openxmlformats.org/officeDocument/2006/relationships/font" Target="fonts/Roboto-boldItalic.fntdata"/><Relationship Id="rId10" Type="http://schemas.openxmlformats.org/officeDocument/2006/relationships/slide" Target="slides/slide5.xml"/><Relationship Id="rId21" Type="http://schemas.openxmlformats.org/officeDocument/2006/relationships/font" Target="fonts/Roboto-italic.fntdata"/><Relationship Id="rId13" Type="http://schemas.openxmlformats.org/officeDocument/2006/relationships/slide" Target="slides/slide8.xml"/><Relationship Id="rId12" Type="http://schemas.openxmlformats.org/officeDocument/2006/relationships/slide" Target="slides/slide7.xml"/><Relationship Id="rId23" Type="http://customschemas.google.com/relationships/presentationmetadata" Target="metadata"/><Relationship Id="rId1" Type="http://schemas.openxmlformats.org/officeDocument/2006/relationships/theme" Target="theme/theme2.xml"/><Relationship Id="rId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Roboto-regular.fntdata"/><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e60855a18b_15_0)">
  <p:cSld name="Generated (g3e60855a18b_15_0)">
    <p:spTree>
      <p:nvGrpSpPr>
        <p:cNvPr id="7" name="Shape 7"/>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 name="Shape 12"/>
        <p:cNvGrpSpPr/>
        <p:nvPr/>
      </p:nvGrpSpPr>
      <p:grpSpPr>
        <a:xfrm>
          <a:off x="0" y="0"/>
          <a:ext cx="0" cy="0"/>
          <a:chOff x="0" y="0"/>
          <a:chExt cx="0" cy="0"/>
        </a:xfrm>
      </p:grpSpPr>
      <p:sp>
        <p:nvSpPr>
          <p:cNvPr id="13" name="Google Shape;13;p1"/>
          <p:cNvSpPr/>
          <p:nvPr/>
        </p:nvSpPr>
        <p:spPr>
          <a:xfrm>
            <a:off x="0" y="0"/>
            <a:ext cx="54864" cy="51435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 name="Google Shape;14;p1"/>
          <p:cNvSpPr/>
          <p:nvPr/>
        </p:nvSpPr>
        <p:spPr>
          <a:xfrm>
            <a:off x="9089136" y="0"/>
            <a:ext cx="54864" cy="51435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 name="Google Shape;15;p1"/>
          <p:cNvSpPr/>
          <p:nvPr/>
        </p:nvSpPr>
        <p:spPr>
          <a:xfrm>
            <a:off x="0" y="365760"/>
            <a:ext cx="9144000" cy="54864"/>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 name="Google Shape;16;p1"/>
          <p:cNvSpPr/>
          <p:nvPr/>
        </p:nvSpPr>
        <p:spPr>
          <a:xfrm>
            <a:off x="0" y="4754880"/>
            <a:ext cx="9144000" cy="54864"/>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 name="Google Shape;17;p1"/>
          <p:cNvSpPr/>
          <p:nvPr/>
        </p:nvSpPr>
        <p:spPr>
          <a:xfrm>
            <a:off x="274320" y="91440"/>
            <a:ext cx="859536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100"/>
              <a:buFont typeface="Calibri"/>
              <a:buNone/>
            </a:pPr>
            <a:r>
              <a:rPr i="1" lang="en-US" sz="1100">
                <a:solidFill>
                  <a:srgbClr val="00B4D8"/>
                </a:solidFill>
                <a:latin typeface="Calibri"/>
                <a:ea typeface="Calibri"/>
                <a:cs typeface="Calibri"/>
                <a:sym typeface="Calibri"/>
              </a:rPr>
              <a:t>ECE 721 — Value Prediction Project</a:t>
            </a:r>
            <a:endParaRPr sz="1100">
              <a:solidFill>
                <a:schemeClr val="dk1"/>
              </a:solidFill>
              <a:latin typeface="Calibri"/>
              <a:ea typeface="Calibri"/>
              <a:cs typeface="Calibri"/>
              <a:sym typeface="Calibri"/>
            </a:endParaRPr>
          </a:p>
        </p:txBody>
      </p:sp>
      <p:sp>
        <p:nvSpPr>
          <p:cNvPr id="18" name="Google Shape;18;p1"/>
          <p:cNvSpPr/>
          <p:nvPr/>
        </p:nvSpPr>
        <p:spPr>
          <a:xfrm>
            <a:off x="457200" y="822960"/>
            <a:ext cx="5943600" cy="2011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400"/>
              <a:buFont typeface="Calibri"/>
              <a:buNone/>
            </a:pPr>
            <a:r>
              <a:rPr b="1" lang="en-US" sz="4400">
                <a:solidFill>
                  <a:srgbClr val="FFFFFF"/>
                </a:solidFill>
                <a:latin typeface="Calibri"/>
                <a:ea typeface="Calibri"/>
                <a:cs typeface="Calibri"/>
                <a:sym typeface="Calibri"/>
              </a:rPr>
              <a:t>32KB Hybrid Out-of-Order</a:t>
            </a:r>
            <a:endParaRPr sz="4400">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400"/>
              <a:buFont typeface="Calibri"/>
              <a:buNone/>
            </a:pPr>
            <a:r>
              <a:rPr b="1" lang="en-US" sz="4400">
                <a:solidFill>
                  <a:srgbClr val="FFFFFF"/>
                </a:solidFill>
                <a:latin typeface="Calibri"/>
                <a:ea typeface="Calibri"/>
                <a:cs typeface="Calibri"/>
                <a:sym typeface="Calibri"/>
              </a:rPr>
              <a:t>Value Predictor</a:t>
            </a:r>
            <a:endParaRPr sz="4400">
              <a:solidFill>
                <a:schemeClr val="dk1"/>
              </a:solidFill>
              <a:latin typeface="Calibri"/>
              <a:ea typeface="Calibri"/>
              <a:cs typeface="Calibri"/>
              <a:sym typeface="Calibri"/>
            </a:endParaRPr>
          </a:p>
        </p:txBody>
      </p:sp>
      <p:sp>
        <p:nvSpPr>
          <p:cNvPr id="19" name="Google Shape;19;p1"/>
          <p:cNvSpPr/>
          <p:nvPr/>
        </p:nvSpPr>
        <p:spPr>
          <a:xfrm>
            <a:off x="457200" y="2697480"/>
            <a:ext cx="5943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2000"/>
              <a:buFont typeface="Calibri"/>
              <a:buNone/>
            </a:pPr>
            <a:r>
              <a:rPr lang="en-US" sz="2000">
                <a:solidFill>
                  <a:srgbClr val="00B4D8"/>
                </a:solidFill>
                <a:latin typeface="Calibri"/>
                <a:ea typeface="Calibri"/>
                <a:cs typeface="Calibri"/>
                <a:sym typeface="Calibri"/>
              </a:rPr>
              <a:t>SVP + VTAGE Hybrid Architecture</a:t>
            </a:r>
            <a:endParaRPr sz="2000">
              <a:solidFill>
                <a:schemeClr val="dk1"/>
              </a:solidFill>
              <a:latin typeface="Calibri"/>
              <a:ea typeface="Calibri"/>
              <a:cs typeface="Calibri"/>
              <a:sym typeface="Calibri"/>
            </a:endParaRPr>
          </a:p>
        </p:txBody>
      </p:sp>
      <p:sp>
        <p:nvSpPr>
          <p:cNvPr id="20" name="Google Shape;20;p1"/>
          <p:cNvSpPr/>
          <p:nvPr/>
        </p:nvSpPr>
        <p:spPr>
          <a:xfrm>
            <a:off x="457200" y="3246120"/>
            <a:ext cx="64008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1300"/>
              <a:buFont typeface="Calibri"/>
              <a:buNone/>
            </a:pPr>
            <a:r>
              <a:rPr lang="en-US" sz="1300">
                <a:solidFill>
                  <a:srgbClr val="8EACC4"/>
                </a:solidFill>
                <a:latin typeface="Calibri"/>
                <a:ea typeface="Calibri"/>
                <a:cs typeface="Calibri"/>
                <a:sym typeface="Calibri"/>
              </a:rPr>
              <a:t>By: Aadesh Shah and Khang Pham</a:t>
            </a:r>
            <a:endParaRPr sz="1300">
              <a:solidFill>
                <a:schemeClr val="dk1"/>
              </a:solidFill>
              <a:latin typeface="Calibri"/>
              <a:ea typeface="Calibri"/>
              <a:cs typeface="Calibri"/>
              <a:sym typeface="Calibri"/>
            </a:endParaRPr>
          </a:p>
        </p:txBody>
      </p:sp>
      <p:sp>
        <p:nvSpPr>
          <p:cNvPr id="21" name="Google Shape;21;p1"/>
          <p:cNvSpPr/>
          <p:nvPr/>
        </p:nvSpPr>
        <p:spPr>
          <a:xfrm>
            <a:off x="6583680" y="777240"/>
            <a:ext cx="2331720" cy="1143000"/>
          </a:xfrm>
          <a:prstGeom prst="rect">
            <a:avLst/>
          </a:prstGeom>
          <a:solidFill>
            <a:srgbClr val="0D2137"/>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 name="Google Shape;22;p1"/>
          <p:cNvSpPr/>
          <p:nvPr/>
        </p:nvSpPr>
        <p:spPr>
          <a:xfrm>
            <a:off x="6583680" y="822960"/>
            <a:ext cx="2331720" cy="6217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F5D4"/>
              </a:buClr>
              <a:buSzPts val="3200"/>
              <a:buFont typeface="Calibri"/>
              <a:buNone/>
            </a:pPr>
            <a:r>
              <a:rPr b="1" lang="en-US" sz="3200">
                <a:solidFill>
                  <a:srgbClr val="00F5D4"/>
                </a:solidFill>
                <a:latin typeface="Calibri"/>
                <a:ea typeface="Calibri"/>
                <a:cs typeface="Calibri"/>
                <a:sym typeface="Calibri"/>
              </a:rPr>
              <a:t>1.66</a:t>
            </a:r>
            <a:endParaRPr sz="3200">
              <a:solidFill>
                <a:schemeClr val="dk1"/>
              </a:solidFill>
              <a:latin typeface="Calibri"/>
              <a:ea typeface="Calibri"/>
              <a:cs typeface="Calibri"/>
              <a:sym typeface="Calibri"/>
            </a:endParaRPr>
          </a:p>
        </p:txBody>
      </p:sp>
      <p:sp>
        <p:nvSpPr>
          <p:cNvPr id="23" name="Google Shape;23;p1"/>
          <p:cNvSpPr/>
          <p:nvPr/>
        </p:nvSpPr>
        <p:spPr>
          <a:xfrm>
            <a:off x="6583680" y="1417320"/>
            <a:ext cx="2331720" cy="2560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Baseline IPC</a:t>
            </a:r>
            <a:endParaRPr sz="1100">
              <a:solidFill>
                <a:schemeClr val="dk1"/>
              </a:solidFill>
              <a:latin typeface="Calibri"/>
              <a:ea typeface="Calibri"/>
              <a:cs typeface="Calibri"/>
              <a:sym typeface="Calibri"/>
            </a:endParaRPr>
          </a:p>
        </p:txBody>
      </p:sp>
      <p:sp>
        <p:nvSpPr>
          <p:cNvPr id="24" name="Google Shape;24;p1"/>
          <p:cNvSpPr/>
          <p:nvPr/>
        </p:nvSpPr>
        <p:spPr>
          <a:xfrm>
            <a:off x="6583680" y="1655064"/>
            <a:ext cx="2331720" cy="21945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t/>
            </a:r>
            <a:endParaRPr sz="1000">
              <a:solidFill>
                <a:schemeClr val="dk1"/>
              </a:solidFill>
              <a:latin typeface="Calibri"/>
              <a:ea typeface="Calibri"/>
              <a:cs typeface="Calibri"/>
              <a:sym typeface="Calibri"/>
            </a:endParaRPr>
          </a:p>
        </p:txBody>
      </p:sp>
      <p:sp>
        <p:nvSpPr>
          <p:cNvPr id="25" name="Google Shape;25;p1"/>
          <p:cNvSpPr/>
          <p:nvPr/>
        </p:nvSpPr>
        <p:spPr>
          <a:xfrm>
            <a:off x="6583680" y="2167128"/>
            <a:ext cx="2331720" cy="1143000"/>
          </a:xfrm>
          <a:prstGeom prst="rect">
            <a:avLst/>
          </a:prstGeom>
          <a:solidFill>
            <a:srgbClr val="0D2137"/>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 name="Google Shape;26;p1"/>
          <p:cNvSpPr/>
          <p:nvPr/>
        </p:nvSpPr>
        <p:spPr>
          <a:xfrm>
            <a:off x="6583680" y="2212848"/>
            <a:ext cx="2331720" cy="6217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F5D4"/>
              </a:buClr>
              <a:buSzPts val="3200"/>
              <a:buFont typeface="Calibri"/>
              <a:buNone/>
            </a:pPr>
            <a:r>
              <a:rPr b="1" lang="en-US" sz="3200">
                <a:solidFill>
                  <a:srgbClr val="00F5D4"/>
                </a:solidFill>
                <a:latin typeface="Calibri"/>
                <a:ea typeface="Calibri"/>
                <a:cs typeface="Calibri"/>
                <a:sym typeface="Calibri"/>
              </a:rPr>
              <a:t>2.054</a:t>
            </a:r>
            <a:endParaRPr sz="3200">
              <a:solidFill>
                <a:schemeClr val="dk1"/>
              </a:solidFill>
              <a:latin typeface="Calibri"/>
              <a:ea typeface="Calibri"/>
              <a:cs typeface="Calibri"/>
              <a:sym typeface="Calibri"/>
            </a:endParaRPr>
          </a:p>
        </p:txBody>
      </p:sp>
      <p:sp>
        <p:nvSpPr>
          <p:cNvPr id="27" name="Google Shape;27;p1"/>
          <p:cNvSpPr/>
          <p:nvPr/>
        </p:nvSpPr>
        <p:spPr>
          <a:xfrm>
            <a:off x="6583680" y="2807208"/>
            <a:ext cx="2331720" cy="2560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Our IPC</a:t>
            </a:r>
            <a:endParaRPr sz="1100">
              <a:solidFill>
                <a:schemeClr val="dk1"/>
              </a:solidFill>
              <a:latin typeface="Calibri"/>
              <a:ea typeface="Calibri"/>
              <a:cs typeface="Calibri"/>
              <a:sym typeface="Calibri"/>
            </a:endParaRPr>
          </a:p>
        </p:txBody>
      </p:sp>
      <p:sp>
        <p:nvSpPr>
          <p:cNvPr id="28" name="Google Shape;28;p1"/>
          <p:cNvSpPr/>
          <p:nvPr/>
        </p:nvSpPr>
        <p:spPr>
          <a:xfrm>
            <a:off x="6583680" y="3044952"/>
            <a:ext cx="2331720" cy="21945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a:t>
            </a:r>
            <a:r>
              <a:rPr lang="en-US" sz="1000">
                <a:solidFill>
                  <a:srgbClr val="8EACC4"/>
                </a:solidFill>
                <a:latin typeface="Calibri"/>
                <a:ea typeface="Calibri"/>
                <a:cs typeface="Calibri"/>
                <a:sym typeface="Calibri"/>
              </a:rPr>
              <a:t>24% gain</a:t>
            </a:r>
            <a:endParaRPr sz="1000">
              <a:solidFill>
                <a:schemeClr val="dk1"/>
              </a:solidFill>
              <a:latin typeface="Calibri"/>
              <a:ea typeface="Calibri"/>
              <a:cs typeface="Calibri"/>
              <a:sym typeface="Calibri"/>
            </a:endParaRPr>
          </a:p>
        </p:txBody>
      </p:sp>
      <p:sp>
        <p:nvSpPr>
          <p:cNvPr id="29" name="Google Shape;29;p1"/>
          <p:cNvSpPr/>
          <p:nvPr/>
        </p:nvSpPr>
        <p:spPr>
          <a:xfrm>
            <a:off x="6583680" y="3557016"/>
            <a:ext cx="2331720" cy="1143000"/>
          </a:xfrm>
          <a:prstGeom prst="rect">
            <a:avLst/>
          </a:prstGeom>
          <a:solidFill>
            <a:srgbClr val="0D2137"/>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 name="Google Shape;30;p1"/>
          <p:cNvSpPr/>
          <p:nvPr/>
        </p:nvSpPr>
        <p:spPr>
          <a:xfrm>
            <a:off x="6583680" y="3602736"/>
            <a:ext cx="2331720" cy="62179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F5D4"/>
              </a:buClr>
              <a:buSzPts val="3200"/>
              <a:buFont typeface="Calibri"/>
              <a:buNone/>
            </a:pPr>
            <a:r>
              <a:rPr b="1" lang="en-US" sz="3200">
                <a:solidFill>
                  <a:srgbClr val="00F5D4"/>
                </a:solidFill>
                <a:latin typeface="Calibri"/>
                <a:ea typeface="Calibri"/>
                <a:cs typeface="Calibri"/>
                <a:sym typeface="Calibri"/>
              </a:rPr>
              <a:t>31.97</a:t>
            </a:r>
            <a:endParaRPr sz="3200">
              <a:solidFill>
                <a:schemeClr val="dk1"/>
              </a:solidFill>
              <a:latin typeface="Calibri"/>
              <a:ea typeface="Calibri"/>
              <a:cs typeface="Calibri"/>
              <a:sym typeface="Calibri"/>
            </a:endParaRPr>
          </a:p>
        </p:txBody>
      </p:sp>
      <p:sp>
        <p:nvSpPr>
          <p:cNvPr id="31" name="Google Shape;31;p1"/>
          <p:cNvSpPr/>
          <p:nvPr/>
        </p:nvSpPr>
        <p:spPr>
          <a:xfrm>
            <a:off x="6583680" y="4197096"/>
            <a:ext cx="2331720" cy="2560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Budget Used</a:t>
            </a:r>
            <a:endParaRPr sz="1100">
              <a:solidFill>
                <a:schemeClr val="dk1"/>
              </a:solidFill>
              <a:latin typeface="Calibri"/>
              <a:ea typeface="Calibri"/>
              <a:cs typeface="Calibri"/>
              <a:sym typeface="Calibri"/>
            </a:endParaRPr>
          </a:p>
        </p:txBody>
      </p:sp>
      <p:sp>
        <p:nvSpPr>
          <p:cNvPr id="32" name="Google Shape;32;p1"/>
          <p:cNvSpPr/>
          <p:nvPr/>
        </p:nvSpPr>
        <p:spPr>
          <a:xfrm>
            <a:off x="6583680" y="4434840"/>
            <a:ext cx="2331720" cy="21945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KB / 32 KB</a:t>
            </a:r>
            <a:endParaRPr sz="10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7" name="Shape 37"/>
        <p:cNvGrpSpPr/>
        <p:nvPr/>
      </p:nvGrpSpPr>
      <p:grpSpPr>
        <a:xfrm>
          <a:off x="0" y="0"/>
          <a:ext cx="0" cy="0"/>
          <a:chOff x="0" y="0"/>
          <a:chExt cx="0" cy="0"/>
        </a:xfrm>
      </p:grpSpPr>
      <p:sp>
        <p:nvSpPr>
          <p:cNvPr id="38" name="Google Shape;38;p2"/>
          <p:cNvSpPr/>
          <p:nvPr/>
        </p:nvSpPr>
        <p:spPr>
          <a:xfrm>
            <a:off x="0" y="0"/>
            <a:ext cx="9144000" cy="50292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365760" y="68589"/>
            <a:ext cx="82296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Architecture Overview</a:t>
            </a:r>
            <a:endParaRPr sz="2200">
              <a:solidFill>
                <a:schemeClr val="dk1"/>
              </a:solidFill>
              <a:latin typeface="Calibri"/>
              <a:ea typeface="Calibri"/>
              <a:cs typeface="Calibri"/>
              <a:sym typeface="Calibri"/>
            </a:endParaRPr>
          </a:p>
        </p:txBody>
      </p:sp>
      <p:sp>
        <p:nvSpPr>
          <p:cNvPr id="40" name="Google Shape;40;p2"/>
          <p:cNvSpPr/>
          <p:nvPr/>
        </p:nvSpPr>
        <p:spPr>
          <a:xfrm>
            <a:off x="274320" y="658368"/>
            <a:ext cx="3931920" cy="4297680"/>
          </a:xfrm>
          <a:prstGeom prst="rect">
            <a:avLst/>
          </a:prstGeom>
          <a:solidFill>
            <a:srgbClr val="0D4F8B"/>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 name="Google Shape;41;p2"/>
          <p:cNvSpPr/>
          <p:nvPr/>
        </p:nvSpPr>
        <p:spPr>
          <a:xfrm>
            <a:off x="274320" y="658368"/>
            <a:ext cx="3931920" cy="41148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 name="Google Shape;42;p2"/>
          <p:cNvSpPr/>
          <p:nvPr/>
        </p:nvSpPr>
        <p:spPr>
          <a:xfrm>
            <a:off x="365760" y="676656"/>
            <a:ext cx="374904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A1628"/>
              </a:buClr>
              <a:buSzPts val="1400"/>
              <a:buFont typeface="Calibri"/>
              <a:buNone/>
            </a:pPr>
            <a:r>
              <a:rPr b="1" lang="en-US" sz="1400">
                <a:solidFill>
                  <a:srgbClr val="0A1628"/>
                </a:solidFill>
                <a:latin typeface="Calibri"/>
                <a:ea typeface="Calibri"/>
                <a:cs typeface="Calibri"/>
                <a:sym typeface="Calibri"/>
              </a:rPr>
              <a:t>Stride Value Predictor  (SVP)</a:t>
            </a:r>
            <a:endParaRPr sz="1400">
              <a:solidFill>
                <a:schemeClr val="dk1"/>
              </a:solidFill>
              <a:latin typeface="Calibri"/>
              <a:ea typeface="Calibri"/>
              <a:cs typeface="Calibri"/>
              <a:sym typeface="Calibri"/>
            </a:endParaRPr>
          </a:p>
        </p:txBody>
      </p:sp>
      <p:sp>
        <p:nvSpPr>
          <p:cNvPr id="43" name="Google Shape;43;p2"/>
          <p:cNvSpPr/>
          <p:nvPr/>
        </p:nvSpPr>
        <p:spPr>
          <a:xfrm>
            <a:off x="411480" y="1143000"/>
            <a:ext cx="374904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200"/>
              <a:buFont typeface="Calibri"/>
              <a:buNone/>
            </a:pPr>
            <a:r>
              <a:rPr b="1" lang="en-US" sz="1200">
                <a:solidFill>
                  <a:srgbClr val="FFD166"/>
                </a:solidFill>
                <a:latin typeface="Calibri"/>
                <a:ea typeface="Calibri"/>
                <a:cs typeface="Calibri"/>
                <a:sym typeface="Calibri"/>
              </a:rPr>
              <a:t>Role: Base Predictor</a:t>
            </a:r>
            <a:endParaRPr sz="1200">
              <a:solidFill>
                <a:schemeClr val="dk1"/>
              </a:solidFill>
              <a:latin typeface="Calibri"/>
              <a:ea typeface="Calibri"/>
              <a:cs typeface="Calibri"/>
              <a:sym typeface="Calibri"/>
            </a:endParaRPr>
          </a:p>
        </p:txBody>
      </p:sp>
      <p:sp>
        <p:nvSpPr>
          <p:cNvPr id="44" name="Google Shape;44;p2"/>
          <p:cNvSpPr/>
          <p:nvPr/>
        </p:nvSpPr>
        <p:spPr>
          <a:xfrm>
            <a:off x="411480" y="1417320"/>
            <a:ext cx="3749040" cy="22402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The SVP is the mathematical backbone of the predictor. It is indexed by PC. It tracks the stride between consecutive values produced by each instruction and predicts the next value as:</a:t>
            </a:r>
            <a:endParaRPr sz="1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next = retired_value + (in-flight count × stride)</a:t>
            </a:r>
            <a:endParaRPr sz="1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It excels on simple, predictable patterns: loop counters, constants, and sequential memory accesses. When an instruction's stride is consistent for many consecutive occurrences, SVP reaches maximum confidence and can fire with very high accuracy.</a:t>
            </a:r>
            <a:endParaRPr sz="1100">
              <a:solidFill>
                <a:schemeClr val="dk1"/>
              </a:solidFill>
              <a:latin typeface="Calibri"/>
              <a:ea typeface="Calibri"/>
              <a:cs typeface="Calibri"/>
              <a:sym typeface="Calibri"/>
            </a:endParaRPr>
          </a:p>
        </p:txBody>
      </p:sp>
      <p:sp>
        <p:nvSpPr>
          <p:cNvPr id="45" name="Google Shape;45;p2"/>
          <p:cNvSpPr/>
          <p:nvPr/>
        </p:nvSpPr>
        <p:spPr>
          <a:xfrm>
            <a:off x="411480" y="3703320"/>
            <a:ext cx="9144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100"/>
              <a:buFont typeface="Calibri"/>
              <a:buNone/>
            </a:pPr>
            <a:r>
              <a:rPr b="1" lang="en-US" sz="1100">
                <a:solidFill>
                  <a:srgbClr val="00B4D8"/>
                </a:solidFill>
                <a:latin typeface="Calibri"/>
                <a:ea typeface="Calibri"/>
                <a:cs typeface="Calibri"/>
                <a:sym typeface="Calibri"/>
              </a:rPr>
              <a:t>Best for:</a:t>
            </a:r>
            <a:endParaRPr sz="1100">
              <a:solidFill>
                <a:schemeClr val="dk1"/>
              </a:solidFill>
              <a:latin typeface="Calibri"/>
              <a:ea typeface="Calibri"/>
              <a:cs typeface="Calibri"/>
              <a:sym typeface="Calibri"/>
            </a:endParaRPr>
          </a:p>
        </p:txBody>
      </p:sp>
      <p:sp>
        <p:nvSpPr>
          <p:cNvPr id="46" name="Google Shape;46;p2"/>
          <p:cNvSpPr/>
          <p:nvPr/>
        </p:nvSpPr>
        <p:spPr>
          <a:xfrm>
            <a:off x="1325880" y="3703320"/>
            <a:ext cx="2743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0E4F0"/>
              </a:buClr>
              <a:buSzPts val="1100"/>
              <a:buFont typeface="Calibri"/>
              <a:buNone/>
            </a:pPr>
            <a:r>
              <a:rPr lang="en-US" sz="1100">
                <a:solidFill>
                  <a:srgbClr val="D0E4F0"/>
                </a:solidFill>
                <a:latin typeface="Calibri"/>
                <a:ea typeface="Calibri"/>
                <a:cs typeface="Calibri"/>
                <a:sym typeface="Calibri"/>
              </a:rPr>
              <a:t>Loop counters  ·  Constants  ·  Stride memory</a:t>
            </a:r>
            <a:endParaRPr sz="1100">
              <a:solidFill>
                <a:schemeClr val="dk1"/>
              </a:solidFill>
              <a:latin typeface="Calibri"/>
              <a:ea typeface="Calibri"/>
              <a:cs typeface="Calibri"/>
              <a:sym typeface="Calibri"/>
            </a:endParaRPr>
          </a:p>
        </p:txBody>
      </p:sp>
      <p:sp>
        <p:nvSpPr>
          <p:cNvPr id="47" name="Google Shape;47;p2"/>
          <p:cNvSpPr/>
          <p:nvPr/>
        </p:nvSpPr>
        <p:spPr>
          <a:xfrm>
            <a:off x="411480" y="3977640"/>
            <a:ext cx="100584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6B35"/>
              </a:buClr>
              <a:buSzPts val="1100"/>
              <a:buFont typeface="Calibri"/>
              <a:buNone/>
            </a:pPr>
            <a:r>
              <a:rPr b="1" lang="en-US" sz="1100">
                <a:solidFill>
                  <a:srgbClr val="FF6B35"/>
                </a:solidFill>
                <a:latin typeface="Calibri"/>
                <a:ea typeface="Calibri"/>
                <a:cs typeface="Calibri"/>
                <a:sym typeface="Calibri"/>
              </a:rPr>
              <a:t>Limitation:</a:t>
            </a:r>
            <a:endParaRPr sz="1100">
              <a:solidFill>
                <a:schemeClr val="dk1"/>
              </a:solidFill>
              <a:latin typeface="Calibri"/>
              <a:ea typeface="Calibri"/>
              <a:cs typeface="Calibri"/>
              <a:sym typeface="Calibri"/>
            </a:endParaRPr>
          </a:p>
        </p:txBody>
      </p:sp>
      <p:sp>
        <p:nvSpPr>
          <p:cNvPr id="48" name="Google Shape;48;p2"/>
          <p:cNvSpPr/>
          <p:nvPr/>
        </p:nvSpPr>
        <p:spPr>
          <a:xfrm>
            <a:off x="1417320" y="3977640"/>
            <a:ext cx="269748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0E4F0"/>
              </a:buClr>
              <a:buSzPts val="1100"/>
              <a:buFont typeface="Calibri"/>
              <a:buNone/>
            </a:pPr>
            <a:r>
              <a:rPr lang="en-US" sz="1100">
                <a:solidFill>
                  <a:srgbClr val="D0E4F0"/>
                </a:solidFill>
                <a:latin typeface="Calibri"/>
                <a:ea typeface="Calibri"/>
                <a:cs typeface="Calibri"/>
                <a:sym typeface="Calibri"/>
              </a:rPr>
              <a:t>Cannot capture irregular, context-dependent patterns</a:t>
            </a:r>
            <a:endParaRPr sz="1100">
              <a:solidFill>
                <a:schemeClr val="dk1"/>
              </a:solidFill>
              <a:latin typeface="Calibri"/>
              <a:ea typeface="Calibri"/>
              <a:cs typeface="Calibri"/>
              <a:sym typeface="Calibri"/>
            </a:endParaRPr>
          </a:p>
        </p:txBody>
      </p:sp>
      <p:sp>
        <p:nvSpPr>
          <p:cNvPr id="49" name="Google Shape;49;p2"/>
          <p:cNvSpPr/>
          <p:nvPr/>
        </p:nvSpPr>
        <p:spPr>
          <a:xfrm>
            <a:off x="4572000" y="658368"/>
            <a:ext cx="4297680" cy="4297680"/>
          </a:xfrm>
          <a:prstGeom prst="rect">
            <a:avLst/>
          </a:prstGeom>
          <a:solidFill>
            <a:srgbClr val="0D2E1A"/>
          </a:solidFill>
          <a:ln cap="flat" cmpd="sng" w="1905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 name="Google Shape;50;p2"/>
          <p:cNvSpPr/>
          <p:nvPr/>
        </p:nvSpPr>
        <p:spPr>
          <a:xfrm>
            <a:off x="4572000" y="658368"/>
            <a:ext cx="4297680" cy="411480"/>
          </a:xfrm>
          <a:prstGeom prst="rect">
            <a:avLst/>
          </a:prstGeom>
          <a:solidFill>
            <a:srgbClr val="06D6A0"/>
          </a:solidFill>
          <a:ln cap="flat" cmpd="sng" w="1270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 name="Google Shape;51;p2"/>
          <p:cNvSpPr/>
          <p:nvPr/>
        </p:nvSpPr>
        <p:spPr>
          <a:xfrm>
            <a:off x="4663440" y="676656"/>
            <a:ext cx="41148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A1628"/>
              </a:buClr>
              <a:buSzPts val="1400"/>
              <a:buFont typeface="Calibri"/>
              <a:buNone/>
            </a:pPr>
            <a:r>
              <a:rPr b="1" lang="en-US" sz="1400">
                <a:solidFill>
                  <a:srgbClr val="0A1628"/>
                </a:solidFill>
                <a:latin typeface="Calibri"/>
                <a:ea typeface="Calibri"/>
                <a:cs typeface="Calibri"/>
                <a:sym typeface="Calibri"/>
              </a:rPr>
              <a:t>VTAGE — Tagged History Predictor</a:t>
            </a:r>
            <a:endParaRPr sz="1400">
              <a:solidFill>
                <a:schemeClr val="dk1"/>
              </a:solidFill>
              <a:latin typeface="Calibri"/>
              <a:ea typeface="Calibri"/>
              <a:cs typeface="Calibri"/>
              <a:sym typeface="Calibri"/>
            </a:endParaRPr>
          </a:p>
        </p:txBody>
      </p:sp>
      <p:sp>
        <p:nvSpPr>
          <p:cNvPr id="52" name="Google Shape;52;p2"/>
          <p:cNvSpPr/>
          <p:nvPr/>
        </p:nvSpPr>
        <p:spPr>
          <a:xfrm>
            <a:off x="4663440" y="1143000"/>
            <a:ext cx="402336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200"/>
              <a:buFont typeface="Calibri"/>
              <a:buNone/>
            </a:pPr>
            <a:r>
              <a:rPr b="1" lang="en-US" sz="1200">
                <a:solidFill>
                  <a:srgbClr val="FFD166"/>
                </a:solidFill>
                <a:latin typeface="Calibri"/>
                <a:ea typeface="Calibri"/>
                <a:cs typeface="Calibri"/>
                <a:sym typeface="Calibri"/>
              </a:rPr>
              <a:t>Role: Context-Aware Overlay</a:t>
            </a:r>
            <a:endParaRPr sz="1200">
              <a:solidFill>
                <a:schemeClr val="dk1"/>
              </a:solidFill>
              <a:latin typeface="Calibri"/>
              <a:ea typeface="Calibri"/>
              <a:cs typeface="Calibri"/>
              <a:sym typeface="Calibri"/>
            </a:endParaRPr>
          </a:p>
        </p:txBody>
      </p:sp>
      <p:sp>
        <p:nvSpPr>
          <p:cNvPr id="53" name="Google Shape;53;p2"/>
          <p:cNvSpPr/>
          <p:nvPr/>
        </p:nvSpPr>
        <p:spPr>
          <a:xfrm>
            <a:off x="4663440" y="1417320"/>
            <a:ext cx="4069080" cy="22402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VTAGE is a tagged, multi-table predictor indexed by the global branch history. It maintains multiple tables with geometrically increasing history lengths, so short loops, medium function calls, and long execution paths each get a dedicated context window.</a:t>
            </a:r>
            <a:endParaRPr sz="1100">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100"/>
              <a:buFont typeface="Calibri"/>
              <a:buNone/>
            </a:pPr>
            <a:r>
              <a:t/>
            </a:r>
            <a:endParaRPr sz="1100">
              <a:solidFill>
                <a:schemeClr val="dk1"/>
              </a:solidFill>
              <a:latin typeface="Calibri"/>
              <a:ea typeface="Calibri"/>
              <a:cs typeface="Calibri"/>
              <a:sym typeface="Calibri"/>
            </a:endParaRPr>
          </a:p>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Each entry stores a predicted value, a confidence counter, and a usefulness bit. An entry fires only at full confidence. Probabilistic training builds trust over repeated correct outcomes.</a:t>
            </a:r>
            <a:endParaRPr sz="1100">
              <a:solidFill>
                <a:schemeClr val="dk1"/>
              </a:solidFill>
              <a:latin typeface="Calibri"/>
              <a:ea typeface="Calibri"/>
              <a:cs typeface="Calibri"/>
              <a:sym typeface="Calibri"/>
            </a:endParaRPr>
          </a:p>
        </p:txBody>
      </p:sp>
      <p:sp>
        <p:nvSpPr>
          <p:cNvPr id="54" name="Google Shape;54;p2"/>
          <p:cNvSpPr/>
          <p:nvPr/>
        </p:nvSpPr>
        <p:spPr>
          <a:xfrm>
            <a:off x="4663440" y="3703320"/>
            <a:ext cx="82296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D6A0"/>
              </a:buClr>
              <a:buSzPts val="1100"/>
              <a:buFont typeface="Calibri"/>
              <a:buNone/>
            </a:pPr>
            <a:r>
              <a:rPr b="1" lang="en-US" sz="1100">
                <a:solidFill>
                  <a:srgbClr val="06D6A0"/>
                </a:solidFill>
                <a:latin typeface="Calibri"/>
                <a:ea typeface="Calibri"/>
                <a:cs typeface="Calibri"/>
                <a:sym typeface="Calibri"/>
              </a:rPr>
              <a:t>Best for:</a:t>
            </a:r>
            <a:endParaRPr sz="1100">
              <a:solidFill>
                <a:schemeClr val="dk1"/>
              </a:solidFill>
              <a:latin typeface="Calibri"/>
              <a:ea typeface="Calibri"/>
              <a:cs typeface="Calibri"/>
              <a:sym typeface="Calibri"/>
            </a:endParaRPr>
          </a:p>
        </p:txBody>
      </p:sp>
      <p:sp>
        <p:nvSpPr>
          <p:cNvPr id="55" name="Google Shape;55;p2"/>
          <p:cNvSpPr/>
          <p:nvPr/>
        </p:nvSpPr>
        <p:spPr>
          <a:xfrm>
            <a:off x="5486400" y="3703320"/>
            <a:ext cx="329184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0E4F0"/>
              </a:buClr>
              <a:buSzPts val="1100"/>
              <a:buFont typeface="Calibri"/>
              <a:buNone/>
            </a:pPr>
            <a:r>
              <a:rPr lang="en-US" sz="1100">
                <a:solidFill>
                  <a:srgbClr val="D0E4F0"/>
                </a:solidFill>
                <a:latin typeface="Calibri"/>
                <a:ea typeface="Calibri"/>
                <a:cs typeface="Calibri"/>
                <a:sym typeface="Calibri"/>
              </a:rPr>
              <a:t>Complex control flow  ·  Irregular value sequences</a:t>
            </a:r>
            <a:endParaRPr sz="1100">
              <a:solidFill>
                <a:schemeClr val="dk1"/>
              </a:solidFill>
              <a:latin typeface="Calibri"/>
              <a:ea typeface="Calibri"/>
              <a:cs typeface="Calibri"/>
              <a:sym typeface="Calibri"/>
            </a:endParaRPr>
          </a:p>
        </p:txBody>
      </p:sp>
      <p:sp>
        <p:nvSpPr>
          <p:cNvPr id="56" name="Google Shape;56;p2"/>
          <p:cNvSpPr/>
          <p:nvPr/>
        </p:nvSpPr>
        <p:spPr>
          <a:xfrm>
            <a:off x="4663440" y="3977640"/>
            <a:ext cx="100584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6B35"/>
              </a:buClr>
              <a:buSzPts val="1100"/>
              <a:buFont typeface="Calibri"/>
              <a:buNone/>
            </a:pPr>
            <a:r>
              <a:rPr b="1" lang="en-US" sz="1100">
                <a:solidFill>
                  <a:srgbClr val="FF6B35"/>
                </a:solidFill>
                <a:latin typeface="Calibri"/>
                <a:ea typeface="Calibri"/>
                <a:cs typeface="Calibri"/>
                <a:sym typeface="Calibri"/>
              </a:rPr>
              <a:t>Limitation:</a:t>
            </a:r>
            <a:endParaRPr sz="1100">
              <a:solidFill>
                <a:schemeClr val="dk1"/>
              </a:solidFill>
              <a:latin typeface="Calibri"/>
              <a:ea typeface="Calibri"/>
              <a:cs typeface="Calibri"/>
              <a:sym typeface="Calibri"/>
            </a:endParaRPr>
          </a:p>
        </p:txBody>
      </p:sp>
      <p:sp>
        <p:nvSpPr>
          <p:cNvPr id="57" name="Google Shape;57;p2"/>
          <p:cNvSpPr/>
          <p:nvPr/>
        </p:nvSpPr>
        <p:spPr>
          <a:xfrm>
            <a:off x="5669280" y="3977640"/>
            <a:ext cx="310896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0E4F0"/>
              </a:buClr>
              <a:buSzPts val="1100"/>
              <a:buFont typeface="Calibri"/>
              <a:buNone/>
            </a:pPr>
            <a:r>
              <a:rPr lang="en-US" sz="1100">
                <a:solidFill>
                  <a:srgbClr val="D0E4F0"/>
                </a:solidFill>
                <a:latin typeface="Calibri"/>
                <a:ea typeface="Calibri"/>
                <a:cs typeface="Calibri"/>
                <a:sym typeface="Calibri"/>
              </a:rPr>
              <a:t>Needs many correct observations to build confidence</a:t>
            </a:r>
            <a:endParaRPr sz="1100">
              <a:solidFill>
                <a:schemeClr val="dk1"/>
              </a:solidFill>
              <a:latin typeface="Calibri"/>
              <a:ea typeface="Calibri"/>
              <a:cs typeface="Calibri"/>
              <a:sym typeface="Calibri"/>
            </a:endParaRPr>
          </a:p>
        </p:txBody>
      </p:sp>
      <p:sp>
        <p:nvSpPr>
          <p:cNvPr id="58" name="Google Shape;58;p2"/>
          <p:cNvSpPr/>
          <p:nvPr/>
        </p:nvSpPr>
        <p:spPr>
          <a:xfrm>
            <a:off x="4206240" y="2468880"/>
            <a:ext cx="365760" cy="109728"/>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 name="Google Shape;59;p2"/>
          <p:cNvSpPr/>
          <p:nvPr/>
        </p:nvSpPr>
        <p:spPr>
          <a:xfrm>
            <a:off x="4160520" y="2194560"/>
            <a:ext cx="457200" cy="25603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D166"/>
              </a:buClr>
              <a:buSzPts val="900"/>
              <a:buFont typeface="Calibri"/>
              <a:buNone/>
            </a:pPr>
            <a:r>
              <a:rPr b="1" lang="en-US" sz="900">
                <a:solidFill>
                  <a:srgbClr val="FFD166"/>
                </a:solidFill>
                <a:latin typeface="Calibri"/>
                <a:ea typeface="Calibri"/>
                <a:cs typeface="Calibri"/>
                <a:sym typeface="Calibri"/>
              </a:rPr>
              <a:t>VPQ</a:t>
            </a:r>
            <a:endParaRPr sz="900">
              <a:solidFill>
                <a:schemeClr val="dk1"/>
              </a:solidFill>
              <a:latin typeface="Calibri"/>
              <a:ea typeface="Calibri"/>
              <a:cs typeface="Calibri"/>
              <a:sym typeface="Calibri"/>
            </a:endParaRPr>
          </a:p>
        </p:txBody>
      </p:sp>
      <p:sp>
        <p:nvSpPr>
          <p:cNvPr id="60" name="Google Shape;60;p2"/>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5" name="Shape 65"/>
        <p:cNvGrpSpPr/>
        <p:nvPr/>
      </p:nvGrpSpPr>
      <p:grpSpPr>
        <a:xfrm>
          <a:off x="0" y="0"/>
          <a:ext cx="0" cy="0"/>
          <a:chOff x="0" y="0"/>
          <a:chExt cx="0" cy="0"/>
        </a:xfrm>
      </p:grpSpPr>
      <p:sp>
        <p:nvSpPr>
          <p:cNvPr id="66" name="Google Shape;66;g3e6275e1d8a_16_7"/>
          <p:cNvSpPr/>
          <p:nvPr/>
        </p:nvSpPr>
        <p:spPr>
          <a:xfrm>
            <a:off x="0" y="0"/>
            <a:ext cx="9144000" cy="50280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g3e6275e1d8a_16_7"/>
          <p:cNvSpPr/>
          <p:nvPr/>
        </p:nvSpPr>
        <p:spPr>
          <a:xfrm>
            <a:off x="365760" y="68589"/>
            <a:ext cx="82296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Block Diagram Architecture </a:t>
            </a:r>
            <a:endParaRPr sz="2200">
              <a:solidFill>
                <a:schemeClr val="dk1"/>
              </a:solidFill>
              <a:latin typeface="Calibri"/>
              <a:ea typeface="Calibri"/>
              <a:cs typeface="Calibri"/>
              <a:sym typeface="Calibri"/>
            </a:endParaRPr>
          </a:p>
        </p:txBody>
      </p:sp>
      <p:sp>
        <p:nvSpPr>
          <p:cNvPr id="68" name="Google Shape;68;g3e6275e1d8a_16_7"/>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69" name="Google Shape;69;g3e6275e1d8a_16_7"/>
          <p:cNvPicPr preferRelativeResize="0"/>
          <p:nvPr/>
        </p:nvPicPr>
        <p:blipFill>
          <a:blip r:embed="rId3">
            <a:alphaModFix/>
          </a:blip>
          <a:stretch>
            <a:fillRect/>
          </a:stretch>
        </p:blipFill>
        <p:spPr>
          <a:xfrm>
            <a:off x="152400" y="691920"/>
            <a:ext cx="8839200" cy="409000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2" name="Shape 72"/>
        <p:cNvGrpSpPr/>
        <p:nvPr/>
      </p:nvGrpSpPr>
      <p:grpSpPr>
        <a:xfrm>
          <a:off x="0" y="0"/>
          <a:ext cx="0" cy="0"/>
          <a:chOff x="0" y="0"/>
          <a:chExt cx="0" cy="0"/>
        </a:xfrm>
      </p:grpSpPr>
      <p:sp>
        <p:nvSpPr>
          <p:cNvPr id="73" name="Google Shape;73;g3e073069206_0_98"/>
          <p:cNvSpPr/>
          <p:nvPr/>
        </p:nvSpPr>
        <p:spPr>
          <a:xfrm>
            <a:off x="0" y="0"/>
            <a:ext cx="9144000" cy="504900"/>
          </a:xfrm>
          <a:prstGeom prst="rect">
            <a:avLst/>
          </a:prstGeom>
          <a:solidFill>
            <a:srgbClr val="0D21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4" name="Google Shape;74;g3e073069206_0_98"/>
          <p:cNvSpPr txBox="1"/>
          <p:nvPr/>
        </p:nvSpPr>
        <p:spPr>
          <a:xfrm>
            <a:off x="361950" y="66675"/>
            <a:ext cx="8229600" cy="362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FFFFFF"/>
                </a:solidFill>
                <a:latin typeface="Calibri"/>
                <a:ea typeface="Calibri"/>
                <a:cs typeface="Calibri"/>
                <a:sym typeface="Calibri"/>
              </a:rPr>
              <a:t>Predictor Lifecycle</a:t>
            </a:r>
            <a:r>
              <a:rPr b="1" lang="en-US" sz="2200">
                <a:solidFill>
                  <a:srgbClr val="FFFFFF"/>
                </a:solidFill>
                <a:latin typeface="Calibri"/>
                <a:ea typeface="Calibri"/>
                <a:cs typeface="Calibri"/>
                <a:sym typeface="Calibri"/>
              </a:rPr>
              <a:t>: Prediction &amp; Training Logic</a:t>
            </a:r>
            <a:endParaRPr b="1" sz="2200">
              <a:solidFill>
                <a:srgbClr val="FFFFFF"/>
              </a:solidFill>
              <a:latin typeface="Calibri"/>
              <a:ea typeface="Calibri"/>
              <a:cs typeface="Calibri"/>
              <a:sym typeface="Calibri"/>
            </a:endParaRPr>
          </a:p>
        </p:txBody>
      </p:sp>
      <p:grpSp>
        <p:nvGrpSpPr>
          <p:cNvPr id="75" name="Google Shape;75;g3e073069206_0_98"/>
          <p:cNvGrpSpPr/>
          <p:nvPr/>
        </p:nvGrpSpPr>
        <p:grpSpPr>
          <a:xfrm>
            <a:off x="285750" y="803109"/>
            <a:ext cx="4191000" cy="4055820"/>
            <a:chOff x="285750" y="809625"/>
            <a:chExt cx="4191000" cy="4055820"/>
          </a:xfrm>
        </p:grpSpPr>
        <p:sp>
          <p:nvSpPr>
            <p:cNvPr id="76" name="Google Shape;76;g3e073069206_0_98"/>
            <p:cNvSpPr/>
            <p:nvPr/>
          </p:nvSpPr>
          <p:spPr>
            <a:xfrm>
              <a:off x="285750" y="817245"/>
              <a:ext cx="4191000" cy="4048200"/>
            </a:xfrm>
            <a:prstGeom prst="roundRect">
              <a:avLst>
                <a:gd fmla="val 1882" name="adj"/>
              </a:avLst>
            </a:prstGeom>
            <a:solidFill>
              <a:srgbClr val="0D2137"/>
            </a:solidFill>
            <a:ln cap="flat" cmpd="sng" w="19050">
              <a:solidFill>
                <a:srgbClr val="00B4D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7" name="Google Shape;77;g3e073069206_0_98"/>
            <p:cNvSpPr/>
            <p:nvPr/>
          </p:nvSpPr>
          <p:spPr>
            <a:xfrm>
              <a:off x="285750" y="809625"/>
              <a:ext cx="4191000" cy="381000"/>
            </a:xfrm>
            <a:prstGeom prst="roundRect">
              <a:avLst>
                <a:gd fmla="val 20000" name="adj"/>
              </a:avLst>
            </a:prstGeom>
            <a:solidFill>
              <a:srgbClr val="00B4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8" name="Google Shape;78;g3e073069206_0_98"/>
            <p:cNvSpPr txBox="1"/>
            <p:nvPr/>
          </p:nvSpPr>
          <p:spPr>
            <a:xfrm>
              <a:off x="428625" y="809625"/>
              <a:ext cx="3905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0A1628"/>
                  </a:solidFill>
                  <a:latin typeface="Calibri"/>
                  <a:ea typeface="Calibri"/>
                  <a:cs typeface="Calibri"/>
                  <a:sym typeface="Calibri"/>
                </a:rPr>
                <a:t>The Prediction Phase</a:t>
              </a:r>
              <a:endParaRPr b="1" sz="1400">
                <a:solidFill>
                  <a:srgbClr val="0A1628"/>
                </a:solidFill>
                <a:latin typeface="Calibri"/>
                <a:ea typeface="Calibri"/>
                <a:cs typeface="Calibri"/>
                <a:sym typeface="Calibri"/>
              </a:endParaRPr>
            </a:p>
          </p:txBody>
        </p:sp>
        <p:sp>
          <p:nvSpPr>
            <p:cNvPr id="79" name="Google Shape;79;g3e073069206_0_98"/>
            <p:cNvSpPr txBox="1"/>
            <p:nvPr/>
          </p:nvSpPr>
          <p:spPr>
            <a:xfrm>
              <a:off x="428625" y="1340016"/>
              <a:ext cx="3905400" cy="3238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1100">
                  <a:solidFill>
                    <a:srgbClr val="00B4D8"/>
                  </a:solidFill>
                  <a:latin typeface="Calibri"/>
                  <a:ea typeface="Calibri"/>
                  <a:cs typeface="Calibri"/>
                  <a:sym typeface="Calibri"/>
                </a:rPr>
                <a:t>CONCURRENT LOOKUP &amp; SNAPSHOT</a:t>
              </a:r>
              <a:endParaRPr b="1" sz="1100">
                <a:solidFill>
                  <a:srgbClr val="00B4D8"/>
                </a:solidFill>
                <a:latin typeface="Calibri"/>
                <a:ea typeface="Calibri"/>
                <a:cs typeface="Calibri"/>
                <a:sym typeface="Calibri"/>
              </a:endParaRPr>
            </a:p>
            <a:p>
              <a:pPr indent="-298450" lvl="0" marL="457200" rtl="0" algn="l">
                <a:spcBef>
                  <a:spcPts val="900"/>
                </a:spcBef>
                <a:spcAft>
                  <a:spcPts val="0"/>
                </a:spcAft>
                <a:buClr>
                  <a:srgbClr val="00B4D8"/>
                </a:buClr>
                <a:buSzPts val="1100"/>
                <a:buFont typeface="Calibri"/>
                <a:buChar char="●"/>
              </a:pPr>
              <a:r>
                <a:rPr b="0" lang="en-US" sz="1000">
                  <a:solidFill>
                    <a:srgbClr val="E8F4FD"/>
                  </a:solidFill>
                  <a:latin typeface="Calibri"/>
                  <a:ea typeface="Calibri"/>
                  <a:cs typeface="Calibri"/>
                  <a:sym typeface="Calibri"/>
                </a:rPr>
                <a:t>Simultaneous query of SVP (Stride) and multiple VTAGE (History) tables for every instruction.</a:t>
              </a:r>
              <a:endParaRPr b="1" sz="1100">
                <a:solidFill>
                  <a:srgbClr val="00B4D8"/>
                </a:solidFill>
                <a:latin typeface="Calibri"/>
                <a:ea typeface="Calibri"/>
                <a:cs typeface="Calibri"/>
                <a:sym typeface="Calibri"/>
              </a:endParaRPr>
            </a:p>
            <a:p>
              <a:pPr indent="-298450" lvl="0" marL="457200" rtl="0" algn="l">
                <a:spcBef>
                  <a:spcPts val="750"/>
                </a:spcBef>
                <a:spcAft>
                  <a:spcPts val="0"/>
                </a:spcAft>
                <a:buClr>
                  <a:srgbClr val="00B4D8"/>
                </a:buClr>
                <a:buSzPts val="1100"/>
                <a:buFont typeface="Calibri"/>
                <a:buChar char="●"/>
              </a:pPr>
              <a:r>
                <a:rPr b="1" lang="en-US" sz="1000">
                  <a:solidFill>
                    <a:srgbClr val="E8F4FD"/>
                  </a:solidFill>
                  <a:latin typeface="Calibri"/>
                  <a:ea typeface="Calibri"/>
                  <a:cs typeface="Calibri"/>
                  <a:sym typeface="Calibri"/>
                </a:rPr>
                <a:t>Provider Selection:</a:t>
              </a:r>
              <a:r>
                <a:rPr b="0" lang="en-US" sz="1000">
                  <a:solidFill>
                    <a:srgbClr val="E8F4FD"/>
                  </a:solidFill>
                  <a:latin typeface="Calibri"/>
                  <a:ea typeface="Calibri"/>
                  <a:cs typeface="Calibri"/>
                  <a:sym typeface="Calibri"/>
                </a:rPr>
                <a:t> Longest-matching VTAGE table is the provider (primary prediction). Second longest becomes the alternate (used for training decisions).</a:t>
              </a:r>
              <a:endParaRPr b="1" sz="1100">
                <a:solidFill>
                  <a:srgbClr val="00B4D8"/>
                </a:solidFill>
                <a:latin typeface="Calibri"/>
                <a:ea typeface="Calibri"/>
                <a:cs typeface="Calibri"/>
                <a:sym typeface="Calibri"/>
              </a:endParaRPr>
            </a:p>
            <a:p>
              <a:pPr indent="-298450" lvl="0" marL="457200" rtl="0" algn="l">
                <a:spcBef>
                  <a:spcPts val="750"/>
                </a:spcBef>
                <a:spcAft>
                  <a:spcPts val="0"/>
                </a:spcAft>
                <a:buClr>
                  <a:srgbClr val="00B4D8"/>
                </a:buClr>
                <a:buSzPts val="1100"/>
                <a:buFont typeface="Calibri"/>
                <a:buChar char="●"/>
              </a:pPr>
              <a:r>
                <a:rPr b="1" lang="en-US" sz="1000">
                  <a:solidFill>
                    <a:srgbClr val="E8F4FD"/>
                  </a:solidFill>
                  <a:latin typeface="Calibri"/>
                  <a:ea typeface="Calibri"/>
                  <a:cs typeface="Calibri"/>
                  <a:sym typeface="Calibri"/>
                </a:rPr>
                <a:t>Fallback Hierarchy: </a:t>
              </a:r>
              <a:r>
                <a:rPr b="0" lang="en-US" sz="1000">
                  <a:solidFill>
                    <a:srgbClr val="E8F4FD"/>
                  </a:solidFill>
                  <a:latin typeface="Calibri"/>
                  <a:ea typeface="Calibri"/>
                  <a:cs typeface="Calibri"/>
                  <a:sym typeface="Calibri"/>
                </a:rPr>
                <a:t>If no provider/alternate is found, SVP becomes backup. If SVP also misses, no prediction is attempted for that slot.</a:t>
              </a:r>
              <a:endParaRPr b="1" sz="1100">
                <a:solidFill>
                  <a:srgbClr val="00B4D8"/>
                </a:solidFill>
                <a:latin typeface="Calibri"/>
                <a:ea typeface="Calibri"/>
                <a:cs typeface="Calibri"/>
                <a:sym typeface="Calibri"/>
              </a:endParaRPr>
            </a:p>
            <a:p>
              <a:pPr indent="-298450" lvl="0" marL="457200" rtl="0" algn="l">
                <a:spcBef>
                  <a:spcPts val="750"/>
                </a:spcBef>
                <a:spcAft>
                  <a:spcPts val="0"/>
                </a:spcAft>
                <a:buClr>
                  <a:srgbClr val="00B4D8"/>
                </a:buClr>
                <a:buSzPts val="1100"/>
                <a:buFont typeface="Calibri"/>
                <a:buChar char="●"/>
              </a:pPr>
              <a:r>
                <a:rPr b="1" lang="en-US" sz="1000">
                  <a:solidFill>
                    <a:srgbClr val="E8F4FD"/>
                  </a:solidFill>
                  <a:latin typeface="Calibri"/>
                  <a:ea typeface="Calibri"/>
                  <a:cs typeface="Calibri"/>
                  <a:sym typeface="Calibri"/>
                </a:rPr>
                <a:t>Hybrid Policy:</a:t>
              </a:r>
              <a:r>
                <a:rPr b="0" lang="en-US" sz="1000">
                  <a:solidFill>
                    <a:srgbClr val="E8F4FD"/>
                  </a:solidFill>
                  <a:latin typeface="Calibri"/>
                  <a:ea typeface="Calibri"/>
                  <a:cs typeface="Calibri"/>
                  <a:sym typeface="Calibri"/>
                </a:rPr>
                <a:t> Prediction priority deviates from traditional hierarchy when SVP is confident. SVP overrides VTAGE only when VTAGE is not yet fully confident (detailed on later slide). SVP becomes alternate.</a:t>
              </a:r>
              <a:endParaRPr b="1" sz="1100">
                <a:solidFill>
                  <a:srgbClr val="00B4D8"/>
                </a:solidFill>
                <a:latin typeface="Calibri"/>
                <a:ea typeface="Calibri"/>
                <a:cs typeface="Calibri"/>
                <a:sym typeface="Calibri"/>
              </a:endParaRPr>
            </a:p>
            <a:p>
              <a:pPr indent="-298450" lvl="0" marL="457200" rtl="0" algn="l">
                <a:spcBef>
                  <a:spcPts val="750"/>
                </a:spcBef>
                <a:spcAft>
                  <a:spcPts val="750"/>
                </a:spcAft>
                <a:buClr>
                  <a:srgbClr val="00B4D8"/>
                </a:buClr>
                <a:buSzPts val="1100"/>
                <a:buFont typeface="Calibri"/>
                <a:buChar char="●"/>
              </a:pPr>
              <a:r>
                <a:rPr b="1" lang="en-US" sz="1000">
                  <a:solidFill>
                    <a:srgbClr val="E8F4FD"/>
                  </a:solidFill>
                  <a:latin typeface="Calibri"/>
                  <a:ea typeface="Calibri"/>
                  <a:cs typeface="Calibri"/>
                  <a:sym typeface="Calibri"/>
                </a:rPr>
                <a:t>State Capture:</a:t>
              </a:r>
              <a:r>
                <a:rPr b="0" lang="en-US" sz="1000">
                  <a:solidFill>
                    <a:srgbClr val="E8F4FD"/>
                  </a:solidFill>
                  <a:latin typeface="Calibri"/>
                  <a:ea typeface="Calibri"/>
                  <a:cs typeface="Calibri"/>
                  <a:sym typeface="Calibri"/>
                </a:rPr>
                <a:t> The VPQ captures a snapshot of the global branch history, PC tag/index, and all prediction metadata, including provider/alternate details.</a:t>
              </a:r>
              <a:endParaRPr b="1" sz="1100">
                <a:solidFill>
                  <a:srgbClr val="00B4D8"/>
                </a:solidFill>
                <a:latin typeface="Calibri"/>
                <a:ea typeface="Calibri"/>
                <a:cs typeface="Calibri"/>
                <a:sym typeface="Calibri"/>
              </a:endParaRPr>
            </a:p>
          </p:txBody>
        </p:sp>
      </p:grpSp>
      <p:grpSp>
        <p:nvGrpSpPr>
          <p:cNvPr id="80" name="Google Shape;80;g3e073069206_0_98"/>
          <p:cNvGrpSpPr/>
          <p:nvPr/>
        </p:nvGrpSpPr>
        <p:grpSpPr>
          <a:xfrm>
            <a:off x="4667250" y="809625"/>
            <a:ext cx="4191000" cy="4048200"/>
            <a:chOff x="4667250" y="809625"/>
            <a:chExt cx="4191000" cy="4048200"/>
          </a:xfrm>
        </p:grpSpPr>
        <p:sp>
          <p:nvSpPr>
            <p:cNvPr id="81" name="Google Shape;81;g3e073069206_0_98"/>
            <p:cNvSpPr/>
            <p:nvPr/>
          </p:nvSpPr>
          <p:spPr>
            <a:xfrm>
              <a:off x="4667250" y="809625"/>
              <a:ext cx="4191000" cy="4048200"/>
            </a:xfrm>
            <a:prstGeom prst="roundRect">
              <a:avLst>
                <a:gd fmla="val 1882" name="adj"/>
              </a:avLst>
            </a:prstGeom>
            <a:solidFill>
              <a:srgbClr val="0D2137"/>
            </a:solidFill>
            <a:ln cap="flat" cmpd="sng" w="19050">
              <a:solidFill>
                <a:srgbClr val="EF476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2" name="Google Shape;82;g3e073069206_0_98"/>
            <p:cNvSpPr/>
            <p:nvPr/>
          </p:nvSpPr>
          <p:spPr>
            <a:xfrm>
              <a:off x="4667250" y="809625"/>
              <a:ext cx="4191000" cy="381000"/>
            </a:xfrm>
            <a:prstGeom prst="roundRect">
              <a:avLst>
                <a:gd fmla="val 20000" name="adj"/>
              </a:avLst>
            </a:prstGeom>
            <a:solidFill>
              <a:srgbClr val="EF476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3" name="Google Shape;83;g3e073069206_0_98"/>
            <p:cNvSpPr txBox="1"/>
            <p:nvPr/>
          </p:nvSpPr>
          <p:spPr>
            <a:xfrm>
              <a:off x="4810125" y="809625"/>
              <a:ext cx="3905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0A1628"/>
                  </a:solidFill>
                  <a:latin typeface="Calibri"/>
                  <a:ea typeface="Calibri"/>
                  <a:cs typeface="Calibri"/>
                  <a:sym typeface="Calibri"/>
                </a:rPr>
                <a:t>The </a:t>
              </a:r>
              <a:r>
                <a:rPr b="1" lang="en-US">
                  <a:solidFill>
                    <a:srgbClr val="0A1628"/>
                  </a:solidFill>
                  <a:latin typeface="Calibri"/>
                  <a:ea typeface="Calibri"/>
                  <a:cs typeface="Calibri"/>
                  <a:sym typeface="Calibri"/>
                </a:rPr>
                <a:t>Training</a:t>
              </a:r>
              <a:r>
                <a:rPr b="1" lang="en-US" sz="1400">
                  <a:solidFill>
                    <a:srgbClr val="0A1628"/>
                  </a:solidFill>
                  <a:latin typeface="Calibri"/>
                  <a:ea typeface="Calibri"/>
                  <a:cs typeface="Calibri"/>
                  <a:sym typeface="Calibri"/>
                </a:rPr>
                <a:t> Phase</a:t>
              </a:r>
              <a:endParaRPr b="1" sz="1400">
                <a:solidFill>
                  <a:srgbClr val="0A1628"/>
                </a:solidFill>
                <a:latin typeface="Calibri"/>
                <a:ea typeface="Calibri"/>
                <a:cs typeface="Calibri"/>
                <a:sym typeface="Calibri"/>
              </a:endParaRPr>
            </a:p>
          </p:txBody>
        </p:sp>
        <p:sp>
          <p:nvSpPr>
            <p:cNvPr id="84" name="Google Shape;84;g3e073069206_0_98"/>
            <p:cNvSpPr txBox="1"/>
            <p:nvPr/>
          </p:nvSpPr>
          <p:spPr>
            <a:xfrm>
              <a:off x="4810125" y="1333500"/>
              <a:ext cx="3905400" cy="32385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US" sz="1100">
                  <a:solidFill>
                    <a:srgbClr val="EF476F"/>
                  </a:solidFill>
                  <a:latin typeface="Calibri"/>
                  <a:ea typeface="Calibri"/>
                  <a:cs typeface="Calibri"/>
                  <a:sym typeface="Calibri"/>
                </a:rPr>
                <a:t>POST-RETIREMENT ANALYSIS</a:t>
              </a:r>
              <a:endParaRPr b="1" sz="1100">
                <a:solidFill>
                  <a:srgbClr val="EF476F"/>
                </a:solidFill>
                <a:latin typeface="Calibri"/>
                <a:ea typeface="Calibri"/>
                <a:cs typeface="Calibri"/>
                <a:sym typeface="Calibri"/>
              </a:endParaRPr>
            </a:p>
            <a:p>
              <a:pPr indent="-298450" lvl="0" marL="457200" rtl="0" algn="l">
                <a:spcBef>
                  <a:spcPts val="900"/>
                </a:spcBef>
                <a:spcAft>
                  <a:spcPts val="0"/>
                </a:spcAft>
                <a:buClr>
                  <a:srgbClr val="EF476F"/>
                </a:buClr>
                <a:buSzPts val="1100"/>
                <a:buFont typeface="Calibri"/>
                <a:buChar char="●"/>
              </a:pPr>
              <a:r>
                <a:rPr b="0" lang="en-US" sz="1000">
                  <a:solidFill>
                    <a:srgbClr val="E8F4FD"/>
                  </a:solidFill>
                  <a:latin typeface="Calibri"/>
                  <a:ea typeface="Calibri"/>
                  <a:cs typeface="Calibri"/>
                  <a:sym typeface="Calibri"/>
                </a:rPr>
                <a:t>Only applicable if instruction hit in SVP/VTAGE.</a:t>
              </a:r>
              <a:endParaRPr b="1" sz="1100">
                <a:solidFill>
                  <a:srgbClr val="EF476F"/>
                </a:solidFill>
                <a:latin typeface="Calibri"/>
                <a:ea typeface="Calibri"/>
                <a:cs typeface="Calibri"/>
                <a:sym typeface="Calibri"/>
              </a:endParaRPr>
            </a:p>
            <a:p>
              <a:pPr indent="-298450" lvl="0" marL="457200" rtl="0" algn="l">
                <a:spcBef>
                  <a:spcPts val="750"/>
                </a:spcBef>
                <a:spcAft>
                  <a:spcPts val="0"/>
                </a:spcAft>
                <a:buClr>
                  <a:srgbClr val="EF476F"/>
                </a:buClr>
                <a:buSzPts val="1100"/>
                <a:buFont typeface="Calibri"/>
                <a:buChar char="●"/>
              </a:pPr>
              <a:r>
                <a:rPr b="0" lang="en-US" sz="1000">
                  <a:solidFill>
                    <a:srgbClr val="E8F4FD"/>
                  </a:solidFill>
                  <a:latin typeface="Calibri"/>
                  <a:ea typeface="Calibri"/>
                  <a:cs typeface="Calibri"/>
                  <a:sym typeface="Calibri"/>
                </a:rPr>
                <a:t>At retirement, the actual value is compared against what was predicted.</a:t>
              </a:r>
              <a:endParaRPr b="1" sz="1100">
                <a:solidFill>
                  <a:srgbClr val="EF476F"/>
                </a:solidFill>
                <a:latin typeface="Calibri"/>
                <a:ea typeface="Calibri"/>
                <a:cs typeface="Calibri"/>
                <a:sym typeface="Calibri"/>
              </a:endParaRPr>
            </a:p>
            <a:p>
              <a:pPr indent="-298450" lvl="0" marL="457200" rtl="0" algn="l">
                <a:spcBef>
                  <a:spcPts val="750"/>
                </a:spcBef>
                <a:spcAft>
                  <a:spcPts val="0"/>
                </a:spcAft>
                <a:buClr>
                  <a:srgbClr val="EF476F"/>
                </a:buClr>
                <a:buSzPts val="1100"/>
                <a:buFont typeface="Calibri"/>
                <a:buChar char="●"/>
              </a:pPr>
              <a:r>
                <a:rPr b="1" lang="en-US" sz="1000">
                  <a:solidFill>
                    <a:srgbClr val="E8F4FD"/>
                  </a:solidFill>
                  <a:latin typeface="Calibri"/>
                  <a:ea typeface="Calibri"/>
                  <a:cs typeface="Calibri"/>
                  <a:sym typeface="Calibri"/>
                </a:rPr>
                <a:t>SVP Update: </a:t>
              </a:r>
              <a:r>
                <a:rPr b="0" lang="en-US" sz="1000">
                  <a:solidFill>
                    <a:srgbClr val="E8F4FD"/>
                  </a:solidFill>
                  <a:latin typeface="Calibri"/>
                  <a:ea typeface="Calibri"/>
                  <a:cs typeface="Calibri"/>
                  <a:sym typeface="Calibri"/>
                </a:rPr>
                <a:t>SVP updates its stride and confidence based on whether the stride was repeated.</a:t>
              </a:r>
              <a:endParaRPr b="1" sz="1100">
                <a:solidFill>
                  <a:srgbClr val="EF476F"/>
                </a:solidFill>
                <a:latin typeface="Calibri"/>
                <a:ea typeface="Calibri"/>
                <a:cs typeface="Calibri"/>
                <a:sym typeface="Calibri"/>
              </a:endParaRPr>
            </a:p>
            <a:p>
              <a:pPr indent="-298450" lvl="0" marL="457200" rtl="0" algn="l">
                <a:spcBef>
                  <a:spcPts val="750"/>
                </a:spcBef>
                <a:spcAft>
                  <a:spcPts val="0"/>
                </a:spcAft>
                <a:buClr>
                  <a:srgbClr val="EF476F"/>
                </a:buClr>
                <a:buSzPts val="1100"/>
                <a:buFont typeface="Calibri"/>
                <a:buChar char="●"/>
              </a:pPr>
              <a:r>
                <a:rPr b="1" lang="en-US" sz="1000">
                  <a:solidFill>
                    <a:srgbClr val="E8F4FD"/>
                  </a:solidFill>
                  <a:latin typeface="Calibri"/>
                  <a:ea typeface="Calibri"/>
                  <a:cs typeface="Calibri"/>
                  <a:sym typeface="Calibri"/>
                </a:rPr>
                <a:t>Stochastic Training: </a:t>
              </a:r>
              <a:r>
                <a:rPr b="0" lang="en-US" sz="1000">
                  <a:solidFill>
                    <a:srgbClr val="E8F4FD"/>
                  </a:solidFill>
                  <a:latin typeface="Calibri"/>
                  <a:ea typeface="Calibri"/>
                  <a:cs typeface="Calibri"/>
                  <a:sym typeface="Calibri"/>
                </a:rPr>
                <a:t>Confidence updates are probabilistic and instruction-type-aware (e.g., Loads/FP train faster than ALU).</a:t>
              </a:r>
              <a:endParaRPr b="1" sz="1100">
                <a:solidFill>
                  <a:srgbClr val="EF476F"/>
                </a:solidFill>
                <a:latin typeface="Calibri"/>
                <a:ea typeface="Calibri"/>
                <a:cs typeface="Calibri"/>
                <a:sym typeface="Calibri"/>
              </a:endParaRPr>
            </a:p>
            <a:p>
              <a:pPr indent="-298450" lvl="0" marL="457200" rtl="0" algn="l">
                <a:spcBef>
                  <a:spcPts val="750"/>
                </a:spcBef>
                <a:spcAft>
                  <a:spcPts val="0"/>
                </a:spcAft>
                <a:buClr>
                  <a:srgbClr val="EF476F"/>
                </a:buClr>
                <a:buSzPts val="1100"/>
                <a:buFont typeface="Calibri"/>
                <a:buChar char="●"/>
              </a:pPr>
              <a:r>
                <a:rPr b="1" lang="en-US" sz="1000">
                  <a:solidFill>
                    <a:srgbClr val="E8F4FD"/>
                  </a:solidFill>
                  <a:latin typeface="Calibri"/>
                  <a:ea typeface="Calibri"/>
                  <a:cs typeface="Calibri"/>
                  <a:sym typeface="Calibri"/>
                </a:rPr>
                <a:t>Asymmetric Penalty: </a:t>
              </a:r>
              <a:r>
                <a:rPr b="0" lang="en-US" sz="1000">
                  <a:solidFill>
                    <a:srgbClr val="E8F4FD"/>
                  </a:solidFill>
                  <a:latin typeface="Calibri"/>
                  <a:ea typeface="Calibri"/>
                  <a:cs typeface="Calibri"/>
                  <a:sym typeface="Calibri"/>
                </a:rPr>
                <a:t>Mispredicted ALU instructions are fully reset; Memory/FP operations receive only a soft dock penalty.</a:t>
              </a:r>
              <a:endParaRPr b="1" sz="1100">
                <a:solidFill>
                  <a:srgbClr val="EF476F"/>
                </a:solidFill>
                <a:latin typeface="Calibri"/>
                <a:ea typeface="Calibri"/>
                <a:cs typeface="Calibri"/>
                <a:sym typeface="Calibri"/>
              </a:endParaRPr>
            </a:p>
            <a:p>
              <a:pPr indent="-298450" lvl="0" marL="457200" rtl="0" algn="l">
                <a:spcBef>
                  <a:spcPts val="750"/>
                </a:spcBef>
                <a:spcAft>
                  <a:spcPts val="750"/>
                </a:spcAft>
                <a:buClr>
                  <a:srgbClr val="EF476F"/>
                </a:buClr>
                <a:buSzPts val="1100"/>
                <a:buFont typeface="Calibri"/>
                <a:buChar char="●"/>
              </a:pPr>
              <a:r>
                <a:rPr b="1" lang="en-US" sz="1000">
                  <a:solidFill>
                    <a:srgbClr val="E8F4FD"/>
                  </a:solidFill>
                  <a:latin typeface="Calibri"/>
                  <a:ea typeface="Calibri"/>
                  <a:cs typeface="Calibri"/>
                  <a:sym typeface="Calibri"/>
                </a:rPr>
                <a:t>Usefulness Economics: </a:t>
              </a:r>
              <a:r>
                <a:rPr b="0" lang="en-US" sz="1000">
                  <a:solidFill>
                    <a:srgbClr val="E8F4FD"/>
                  </a:solidFill>
                  <a:latin typeface="Calibri"/>
                  <a:ea typeface="Calibri"/>
                  <a:cs typeface="Calibri"/>
                  <a:sym typeface="Calibri"/>
                </a:rPr>
                <a:t>VTAGE evaluates the usefulness of a prediction. A provider’s useful counter increments or decrements only if there is a disagreement between provider and alternate.</a:t>
              </a:r>
              <a:endParaRPr b="1" sz="1100">
                <a:solidFill>
                  <a:srgbClr val="EF476F"/>
                </a:solidFill>
                <a:latin typeface="Calibri"/>
                <a:ea typeface="Calibri"/>
                <a:cs typeface="Calibri"/>
                <a:sym typeface="Calibri"/>
              </a:endParaRPr>
            </a:p>
          </p:txBody>
        </p:sp>
      </p:grpSp>
      <p:sp>
        <p:nvSpPr>
          <p:cNvPr id="85" name="Google Shape;85;g3e073069206_0_98"/>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8" name="Shape 88"/>
        <p:cNvGrpSpPr/>
        <p:nvPr/>
      </p:nvGrpSpPr>
      <p:grpSpPr>
        <a:xfrm>
          <a:off x="0" y="0"/>
          <a:ext cx="0" cy="0"/>
          <a:chOff x="0" y="0"/>
          <a:chExt cx="0" cy="0"/>
        </a:xfrm>
      </p:grpSpPr>
      <p:sp>
        <p:nvSpPr>
          <p:cNvPr id="89" name="Google Shape;89;g3e073069206_0_60"/>
          <p:cNvSpPr/>
          <p:nvPr/>
        </p:nvSpPr>
        <p:spPr>
          <a:xfrm>
            <a:off x="0" y="0"/>
            <a:ext cx="9144000" cy="504900"/>
          </a:xfrm>
          <a:prstGeom prst="rect">
            <a:avLst/>
          </a:prstGeom>
          <a:solidFill>
            <a:srgbClr val="0D21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0" name="Google Shape;90;g3e073069206_0_60"/>
          <p:cNvSpPr txBox="1"/>
          <p:nvPr/>
        </p:nvSpPr>
        <p:spPr>
          <a:xfrm>
            <a:off x="361950" y="66675"/>
            <a:ext cx="8229600" cy="362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FFFFFF"/>
                </a:solidFill>
                <a:latin typeface="Calibri"/>
                <a:ea typeface="Calibri"/>
                <a:cs typeface="Calibri"/>
                <a:sym typeface="Calibri"/>
              </a:rPr>
              <a:t>Predictor Lifecycle: Allocation &amp; Rollback</a:t>
            </a:r>
            <a:endParaRPr b="1" sz="2200">
              <a:solidFill>
                <a:srgbClr val="FFFFFF"/>
              </a:solidFill>
              <a:latin typeface="Calibri"/>
              <a:ea typeface="Calibri"/>
              <a:cs typeface="Calibri"/>
              <a:sym typeface="Calibri"/>
            </a:endParaRPr>
          </a:p>
        </p:txBody>
      </p:sp>
      <p:grpSp>
        <p:nvGrpSpPr>
          <p:cNvPr id="91" name="Google Shape;91;g3e073069206_0_60"/>
          <p:cNvGrpSpPr/>
          <p:nvPr/>
        </p:nvGrpSpPr>
        <p:grpSpPr>
          <a:xfrm>
            <a:off x="285750" y="762000"/>
            <a:ext cx="4191000" cy="4095900"/>
            <a:chOff x="0" y="0"/>
            <a:chExt cx="4191000" cy="4095900"/>
          </a:xfrm>
        </p:grpSpPr>
        <p:sp>
          <p:nvSpPr>
            <p:cNvPr id="92" name="Google Shape;92;g3e073069206_0_60"/>
            <p:cNvSpPr/>
            <p:nvPr/>
          </p:nvSpPr>
          <p:spPr>
            <a:xfrm>
              <a:off x="0" y="0"/>
              <a:ext cx="4191000" cy="4095900"/>
            </a:xfrm>
            <a:prstGeom prst="roundRect">
              <a:avLst>
                <a:gd fmla="val 1860" name="adj"/>
              </a:avLst>
            </a:prstGeom>
            <a:solidFill>
              <a:srgbClr val="0D2137"/>
            </a:solidFill>
            <a:ln cap="flat" cmpd="sng" w="19050">
              <a:solidFill>
                <a:srgbClr val="06D6A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3" name="Google Shape;93;g3e073069206_0_60"/>
            <p:cNvSpPr/>
            <p:nvPr/>
          </p:nvSpPr>
          <p:spPr>
            <a:xfrm>
              <a:off x="0" y="0"/>
              <a:ext cx="4191000" cy="381000"/>
            </a:xfrm>
            <a:prstGeom prst="roundRect">
              <a:avLst>
                <a:gd fmla="val 20000" name="adj"/>
              </a:avLst>
            </a:prstGeom>
            <a:solidFill>
              <a:srgbClr val="06D6A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4" name="Google Shape;94;g3e073069206_0_60"/>
            <p:cNvSpPr txBox="1"/>
            <p:nvPr/>
          </p:nvSpPr>
          <p:spPr>
            <a:xfrm>
              <a:off x="142875" y="0"/>
              <a:ext cx="3905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0A1628"/>
                  </a:solidFill>
                  <a:latin typeface="Calibri"/>
                  <a:ea typeface="Calibri"/>
                  <a:cs typeface="Calibri"/>
                  <a:sym typeface="Calibri"/>
                </a:rPr>
                <a:t>Predictor Allocation Logic</a:t>
              </a:r>
              <a:endParaRPr b="1" sz="1400">
                <a:solidFill>
                  <a:srgbClr val="0A1628"/>
                </a:solidFill>
                <a:latin typeface="Calibri"/>
                <a:ea typeface="Calibri"/>
                <a:cs typeface="Calibri"/>
                <a:sym typeface="Calibri"/>
              </a:endParaRPr>
            </a:p>
          </p:txBody>
        </p:sp>
        <p:sp>
          <p:nvSpPr>
            <p:cNvPr id="95" name="Google Shape;95;g3e073069206_0_60"/>
            <p:cNvSpPr txBox="1"/>
            <p:nvPr/>
          </p:nvSpPr>
          <p:spPr>
            <a:xfrm>
              <a:off x="142875" y="523875"/>
              <a:ext cx="3905400" cy="3429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000">
                  <a:solidFill>
                    <a:srgbClr val="06D6A0"/>
                  </a:solidFill>
                  <a:latin typeface="Calibri"/>
                  <a:ea typeface="Calibri"/>
                  <a:cs typeface="Calibri"/>
                  <a:sym typeface="Calibri"/>
                </a:rPr>
                <a:t>WHEN DOES AN ENTRY ALLOCATE?</a:t>
              </a:r>
              <a:endParaRPr b="1" sz="1000">
                <a:solidFill>
                  <a:srgbClr val="06D6A0"/>
                </a:solidFill>
                <a:latin typeface="Calibri"/>
                <a:ea typeface="Calibri"/>
                <a:cs typeface="Calibri"/>
                <a:sym typeface="Calibri"/>
              </a:endParaRPr>
            </a:p>
            <a:p>
              <a:pPr indent="-292100" lvl="0" marL="457200" rtl="0" algn="l">
                <a:spcBef>
                  <a:spcPts val="750"/>
                </a:spcBef>
                <a:spcAft>
                  <a:spcPts val="0"/>
                </a:spcAft>
                <a:buClr>
                  <a:srgbClr val="E8F4FD"/>
                </a:buClr>
                <a:buSzPts val="1000"/>
                <a:buFont typeface="Calibri"/>
                <a:buChar char="●"/>
              </a:pPr>
              <a:r>
                <a:rPr b="0" lang="en-US" sz="1000">
                  <a:solidFill>
                    <a:srgbClr val="E8F4FD"/>
                  </a:solidFill>
                  <a:latin typeface="Calibri"/>
                  <a:ea typeface="Calibri"/>
                  <a:cs typeface="Calibri"/>
                  <a:sym typeface="Calibri"/>
                </a:rPr>
                <a:t>If SVP misses and no confident VTAGE provider exists.</a:t>
              </a:r>
              <a:endParaRPr b="0"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0" lang="en-US" sz="1000">
                  <a:solidFill>
                    <a:srgbClr val="E8F4FD"/>
                  </a:solidFill>
                  <a:latin typeface="Calibri"/>
                  <a:ea typeface="Calibri"/>
                  <a:cs typeface="Calibri"/>
                  <a:sym typeface="Calibri"/>
                </a:rPr>
                <a:t>When VTAGE misses/mispredicts, it climbs to a longer history table. Shorter history tables have a large</a:t>
              </a:r>
              <a:r>
                <a:rPr lang="en-US" sz="1000">
                  <a:solidFill>
                    <a:srgbClr val="E8F4FD"/>
                  </a:solidFill>
                  <a:latin typeface="Calibri"/>
                  <a:ea typeface="Calibri"/>
                  <a:cs typeface="Calibri"/>
                  <a:sym typeface="Calibri"/>
                </a:rPr>
                <a:t>r chance of ‘winning’. </a:t>
              </a:r>
              <a:endParaRPr b="0"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Allocation Veto: </a:t>
              </a:r>
              <a:r>
                <a:rPr lang="en-US" sz="1000">
                  <a:solidFill>
                    <a:srgbClr val="E8F4FD"/>
                  </a:solidFill>
                  <a:latin typeface="Calibri"/>
                  <a:ea typeface="Calibri"/>
                  <a:cs typeface="Calibri"/>
                  <a:sym typeface="Calibri"/>
                </a:rPr>
                <a:t>New VTAGE entries are blocked from allocating if the Stride Predictor (Alternate) was correct.</a:t>
              </a:r>
              <a:endParaRPr b="0" sz="1000">
                <a:solidFill>
                  <a:srgbClr val="E8F4FD"/>
                </a:solidFill>
                <a:latin typeface="Calibri"/>
                <a:ea typeface="Calibri"/>
                <a:cs typeface="Calibri"/>
                <a:sym typeface="Calibri"/>
              </a:endParaRPr>
            </a:p>
            <a:p>
              <a:pPr indent="0" lvl="0" marL="0" rtl="0" algn="l">
                <a:spcBef>
                  <a:spcPts val="1125"/>
                </a:spcBef>
                <a:spcAft>
                  <a:spcPts val="0"/>
                </a:spcAft>
                <a:buNone/>
              </a:pPr>
              <a:r>
                <a:rPr b="1" lang="en-US" sz="1000">
                  <a:solidFill>
                    <a:srgbClr val="06D6A0"/>
                  </a:solidFill>
                  <a:latin typeface="Calibri"/>
                  <a:ea typeface="Calibri"/>
                  <a:cs typeface="Calibri"/>
                  <a:sym typeface="Calibri"/>
                </a:rPr>
                <a:t>RULES &amp; CAPACITY PROTECTION</a:t>
              </a:r>
              <a:endParaRPr b="1" sz="1000">
                <a:solidFill>
                  <a:srgbClr val="06D6A0"/>
                </a:solidFill>
                <a:latin typeface="Calibri"/>
                <a:ea typeface="Calibri"/>
                <a:cs typeface="Calibri"/>
                <a:sym typeface="Calibri"/>
              </a:endParaRPr>
            </a:p>
            <a:p>
              <a:pPr indent="-292100" lvl="0" marL="457200" rtl="0" algn="l">
                <a:spcBef>
                  <a:spcPts val="7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Instruction-Type Priority: </a:t>
              </a:r>
              <a:r>
                <a:rPr lang="en-US" sz="1000">
                  <a:solidFill>
                    <a:srgbClr val="E8F4FD"/>
                  </a:solidFill>
                  <a:latin typeface="Calibri"/>
                  <a:ea typeface="Calibri"/>
                  <a:cs typeface="Calibri"/>
                  <a:sym typeface="Calibri"/>
                </a:rPr>
                <a:t>Loads and FP operations always allocate; Generic ALU is throttled 1-in-16 to preserve capacity.</a:t>
              </a:r>
              <a:endParaRPr b="0"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Useful Bits:</a:t>
              </a:r>
              <a:r>
                <a:rPr b="0" lang="en-US" sz="1000">
                  <a:solidFill>
                    <a:srgbClr val="E8F4FD"/>
                  </a:solidFill>
                  <a:latin typeface="Calibri"/>
                  <a:ea typeface="Calibri"/>
                  <a:cs typeface="Calibri"/>
                  <a:sym typeface="Calibri"/>
                </a:rPr>
                <a:t> Won't overwrite entries with high "useful" bits.</a:t>
              </a:r>
              <a:endParaRPr b="0"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TICK Counter:</a:t>
              </a:r>
              <a:r>
                <a:rPr b="0" lang="en-US" sz="1000">
                  <a:solidFill>
                    <a:srgbClr val="E8F4FD"/>
                  </a:solidFill>
                  <a:latin typeface="Calibri"/>
                  <a:ea typeface="Calibri"/>
                  <a:cs typeface="Calibri"/>
                  <a:sym typeface="Calibri"/>
                </a:rPr>
                <a:t> Periodically decays bits to evict stale entries. </a:t>
              </a:r>
              <a:r>
                <a:rPr lang="en-US" sz="1000">
                  <a:solidFill>
                    <a:srgbClr val="E8F4FD"/>
                  </a:solidFill>
                  <a:latin typeface="Calibri"/>
                  <a:ea typeface="Calibri"/>
                  <a:cs typeface="Calibri"/>
                  <a:sym typeface="Calibri"/>
                </a:rPr>
                <a:t>Max is 512 and it relieves pressure after allocation, otherwise, it adds pressure by number of unsuccessful allocation tables.</a:t>
              </a:r>
              <a:endParaRPr b="0" sz="1000">
                <a:solidFill>
                  <a:srgbClr val="E8F4FD"/>
                </a:solidFill>
                <a:latin typeface="Calibri"/>
                <a:ea typeface="Calibri"/>
                <a:cs typeface="Calibri"/>
                <a:sym typeface="Calibri"/>
              </a:endParaRPr>
            </a:p>
            <a:p>
              <a:pPr indent="-292100" lvl="0" marL="457200" rtl="0" algn="l">
                <a:spcBef>
                  <a:spcPts val="450"/>
                </a:spcBef>
                <a:spcAft>
                  <a:spcPts val="450"/>
                </a:spcAft>
                <a:buClr>
                  <a:srgbClr val="E8F4FD"/>
                </a:buClr>
                <a:buSzPts val="1000"/>
                <a:buFont typeface="Calibri"/>
                <a:buChar char="●"/>
              </a:pPr>
              <a:r>
                <a:rPr b="1" lang="en-US" sz="1000">
                  <a:solidFill>
                    <a:srgbClr val="E8F4FD"/>
                  </a:solidFill>
                  <a:latin typeface="Calibri"/>
                  <a:ea typeface="Calibri"/>
                  <a:cs typeface="Calibri"/>
                  <a:sym typeface="Calibri"/>
                </a:rPr>
                <a:t>Safe Start:</a:t>
              </a:r>
              <a:r>
                <a:rPr b="0" lang="en-US" sz="1000">
                  <a:solidFill>
                    <a:srgbClr val="E8F4FD"/>
                  </a:solidFill>
                  <a:latin typeface="Calibri"/>
                  <a:ea typeface="Calibri"/>
                  <a:cs typeface="Calibri"/>
                  <a:sym typeface="Calibri"/>
                </a:rPr>
                <a:t> New entries begin at half-confidence to filter noise.</a:t>
              </a:r>
              <a:endParaRPr b="0" sz="1000">
                <a:solidFill>
                  <a:srgbClr val="E8F4FD"/>
                </a:solidFill>
                <a:latin typeface="Calibri"/>
                <a:ea typeface="Calibri"/>
                <a:cs typeface="Calibri"/>
                <a:sym typeface="Calibri"/>
              </a:endParaRPr>
            </a:p>
          </p:txBody>
        </p:sp>
      </p:grpSp>
      <p:grpSp>
        <p:nvGrpSpPr>
          <p:cNvPr id="96" name="Google Shape;96;g3e073069206_0_60"/>
          <p:cNvGrpSpPr/>
          <p:nvPr/>
        </p:nvGrpSpPr>
        <p:grpSpPr>
          <a:xfrm>
            <a:off x="4667250" y="762000"/>
            <a:ext cx="4191000" cy="4095900"/>
            <a:chOff x="0" y="0"/>
            <a:chExt cx="4191000" cy="4095900"/>
          </a:xfrm>
        </p:grpSpPr>
        <p:sp>
          <p:nvSpPr>
            <p:cNvPr id="97" name="Google Shape;97;g3e073069206_0_60"/>
            <p:cNvSpPr/>
            <p:nvPr/>
          </p:nvSpPr>
          <p:spPr>
            <a:xfrm>
              <a:off x="0" y="0"/>
              <a:ext cx="4191000" cy="4095900"/>
            </a:xfrm>
            <a:prstGeom prst="roundRect">
              <a:avLst>
                <a:gd fmla="val 1860" name="adj"/>
              </a:avLst>
            </a:prstGeom>
            <a:solidFill>
              <a:srgbClr val="0D2137"/>
            </a:solidFill>
            <a:ln cap="flat" cmpd="sng" w="19050">
              <a:solidFill>
                <a:srgbClr val="EF476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8" name="Google Shape;98;g3e073069206_0_60"/>
            <p:cNvSpPr/>
            <p:nvPr/>
          </p:nvSpPr>
          <p:spPr>
            <a:xfrm>
              <a:off x="0" y="0"/>
              <a:ext cx="4191000" cy="381000"/>
            </a:xfrm>
            <a:prstGeom prst="roundRect">
              <a:avLst>
                <a:gd fmla="val 20000" name="adj"/>
              </a:avLst>
            </a:prstGeom>
            <a:solidFill>
              <a:schemeClr val="accent4"/>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g3e073069206_0_60"/>
            <p:cNvSpPr txBox="1"/>
            <p:nvPr/>
          </p:nvSpPr>
          <p:spPr>
            <a:xfrm>
              <a:off x="142875" y="0"/>
              <a:ext cx="3905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400">
                  <a:solidFill>
                    <a:srgbClr val="0A1628"/>
                  </a:solidFill>
                  <a:latin typeface="Calibri"/>
                  <a:ea typeface="Calibri"/>
                  <a:cs typeface="Calibri"/>
                  <a:sym typeface="Calibri"/>
                </a:rPr>
                <a:t>Rollback &amp; Recovery Process</a:t>
              </a:r>
              <a:endParaRPr b="1" sz="1400">
                <a:solidFill>
                  <a:srgbClr val="0A1628"/>
                </a:solidFill>
                <a:latin typeface="Calibri"/>
                <a:ea typeface="Calibri"/>
                <a:cs typeface="Calibri"/>
                <a:sym typeface="Calibri"/>
              </a:endParaRPr>
            </a:p>
          </p:txBody>
        </p:sp>
        <p:sp>
          <p:nvSpPr>
            <p:cNvPr id="100" name="Google Shape;100;g3e073069206_0_60"/>
            <p:cNvSpPr txBox="1"/>
            <p:nvPr/>
          </p:nvSpPr>
          <p:spPr>
            <a:xfrm>
              <a:off x="142875" y="523875"/>
              <a:ext cx="3905400" cy="1714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1000">
                  <a:solidFill>
                    <a:schemeClr val="accent4"/>
                  </a:solidFill>
                  <a:latin typeface="Calibri"/>
                  <a:ea typeface="Calibri"/>
                  <a:cs typeface="Calibri"/>
                  <a:sym typeface="Calibri"/>
                </a:rPr>
                <a:t>THE RECOVERY SEQUENCE</a:t>
              </a:r>
              <a:endParaRPr b="1" sz="1000">
                <a:solidFill>
                  <a:schemeClr val="accent4"/>
                </a:solidFill>
                <a:latin typeface="Calibri"/>
                <a:ea typeface="Calibri"/>
                <a:cs typeface="Calibri"/>
                <a:sym typeface="Calibri"/>
              </a:endParaRPr>
            </a:p>
            <a:p>
              <a:pPr indent="-292100" lvl="0" marL="457200" rtl="0" algn="l">
                <a:spcBef>
                  <a:spcPts val="750"/>
                </a:spcBef>
                <a:spcAft>
                  <a:spcPts val="0"/>
                </a:spcAft>
                <a:buClr>
                  <a:srgbClr val="E8F4FD"/>
                </a:buClr>
                <a:buSzPts val="1000"/>
                <a:buFont typeface="Calibri"/>
                <a:buChar char="●"/>
              </a:pPr>
              <a:r>
                <a:rPr b="0" lang="en-US" sz="1000">
                  <a:solidFill>
                    <a:srgbClr val="E8F4FD"/>
                  </a:solidFill>
                  <a:latin typeface="Calibri"/>
                  <a:ea typeface="Calibri"/>
                  <a:cs typeface="Calibri"/>
                  <a:sym typeface="Calibri"/>
                </a:rPr>
                <a:t>Triggered when a high-confidence prediction is found incorrect.</a:t>
              </a:r>
              <a:endParaRPr b="0" sz="1000">
                <a:solidFill>
                  <a:srgbClr val="E8F4FD"/>
                </a:solidFill>
                <a:latin typeface="Calibri"/>
                <a:ea typeface="Calibri"/>
                <a:cs typeface="Calibri"/>
                <a:sym typeface="Calibri"/>
              </a:endParaRPr>
            </a:p>
            <a:p>
              <a:pPr indent="0" lvl="0" marL="0" rtl="0" algn="l">
                <a:spcBef>
                  <a:spcPts val="450"/>
                </a:spcBef>
                <a:spcAft>
                  <a:spcPts val="0"/>
                </a:spcAft>
                <a:buNone/>
              </a:pPr>
              <a:r>
                <a:rPr b="1" lang="en-US" sz="1000">
                  <a:solidFill>
                    <a:srgbClr val="E8F4FD"/>
                  </a:solidFill>
                  <a:latin typeface="Calibri"/>
                  <a:ea typeface="Calibri"/>
                  <a:cs typeface="Calibri"/>
                  <a:sym typeface="Calibri"/>
                </a:rPr>
                <a:t>FULL SQUASH: </a:t>
              </a:r>
              <a:endParaRPr b="1"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VPQ Wipe: </a:t>
              </a:r>
              <a:r>
                <a:rPr lang="en-US" sz="1000">
                  <a:solidFill>
                    <a:srgbClr val="E8F4FD"/>
                  </a:solidFill>
                  <a:latin typeface="Calibri"/>
                  <a:ea typeface="Calibri"/>
                  <a:cs typeface="Calibri"/>
                  <a:sym typeface="Calibri"/>
                </a:rPr>
                <a:t>Head pointer/phase = Tail Pointer/phase</a:t>
              </a:r>
              <a:endParaRPr sz="1000">
                <a:solidFill>
                  <a:srgbClr val="E8F4FD"/>
                </a:solidFill>
                <a:latin typeface="Calibri"/>
                <a:ea typeface="Calibri"/>
                <a:cs typeface="Calibri"/>
                <a:sym typeface="Calibri"/>
              </a:endParaRPr>
            </a:p>
            <a:p>
              <a:pPr indent="-292100" lvl="0" marL="457200" rtl="0" algn="l">
                <a:spcBef>
                  <a:spcPts val="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Instance Clear: </a:t>
              </a:r>
              <a:r>
                <a:rPr lang="en-US" sz="1000">
                  <a:solidFill>
                    <a:srgbClr val="E8F4FD"/>
                  </a:solidFill>
                  <a:latin typeface="Calibri"/>
                  <a:ea typeface="Calibri"/>
                  <a:cs typeface="Calibri"/>
                  <a:sym typeface="Calibri"/>
                </a:rPr>
                <a:t>SVP instance counters are erased</a:t>
              </a:r>
              <a:endParaRPr sz="1000">
                <a:solidFill>
                  <a:srgbClr val="E8F4FD"/>
                </a:solidFill>
                <a:latin typeface="Calibri"/>
                <a:ea typeface="Calibri"/>
                <a:cs typeface="Calibri"/>
                <a:sym typeface="Calibri"/>
              </a:endParaRPr>
            </a:p>
            <a:p>
              <a:pPr indent="-292100" lvl="0" marL="457200" rtl="0" algn="l">
                <a:spcBef>
                  <a:spcPts val="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Architectural GBHR: </a:t>
              </a:r>
              <a:r>
                <a:rPr lang="en-US" sz="1000">
                  <a:solidFill>
                    <a:srgbClr val="E8F4FD"/>
                  </a:solidFill>
                  <a:latin typeface="Calibri"/>
                  <a:ea typeface="Calibri"/>
                  <a:cs typeface="Calibri"/>
                  <a:sym typeface="Calibri"/>
                </a:rPr>
                <a:t>Global GBHR is restored to architectural GBHR which is only modified after retired instructions. </a:t>
              </a:r>
              <a:endParaRPr sz="1000">
                <a:solidFill>
                  <a:srgbClr val="E8F4FD"/>
                </a:solidFill>
                <a:latin typeface="Calibri"/>
                <a:ea typeface="Calibri"/>
                <a:cs typeface="Calibri"/>
                <a:sym typeface="Calibri"/>
              </a:endParaRPr>
            </a:p>
            <a:p>
              <a:pPr indent="0" lvl="0" marL="0" rtl="0" algn="l">
                <a:spcBef>
                  <a:spcPts val="450"/>
                </a:spcBef>
                <a:spcAft>
                  <a:spcPts val="0"/>
                </a:spcAft>
                <a:buNone/>
              </a:pPr>
              <a:r>
                <a:rPr b="1" lang="en-US" sz="1000">
                  <a:solidFill>
                    <a:srgbClr val="E8F4FD"/>
                  </a:solidFill>
                  <a:latin typeface="Calibri"/>
                  <a:ea typeface="Calibri"/>
                  <a:cs typeface="Calibri"/>
                  <a:sym typeface="Calibri"/>
                </a:rPr>
                <a:t>Partial Rollback</a:t>
              </a:r>
              <a:endParaRPr b="1"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VPQ Rewind:</a:t>
              </a:r>
              <a:r>
                <a:rPr b="0" lang="en-US" sz="1000">
                  <a:solidFill>
                    <a:srgbClr val="E8F4FD"/>
                  </a:solidFill>
                  <a:latin typeface="Calibri"/>
                  <a:ea typeface="Calibri"/>
                  <a:cs typeface="Calibri"/>
                  <a:sym typeface="Calibri"/>
                </a:rPr>
                <a:t> </a:t>
              </a:r>
              <a:r>
                <a:rPr lang="en-US" sz="1000">
                  <a:solidFill>
                    <a:srgbClr val="E8F4FD"/>
                  </a:solidFill>
                  <a:latin typeface="Calibri"/>
                  <a:ea typeface="Calibri"/>
                  <a:cs typeface="Calibri"/>
                  <a:sym typeface="Calibri"/>
                </a:rPr>
                <a:t>Current tail pointer is returned to checkpointed tail pointer/phase.</a:t>
              </a:r>
              <a:r>
                <a:rPr b="0" lang="en-US" sz="1000">
                  <a:solidFill>
                    <a:srgbClr val="E8F4FD"/>
                  </a:solidFill>
                  <a:latin typeface="Calibri"/>
                  <a:ea typeface="Calibri"/>
                  <a:cs typeface="Calibri"/>
                  <a:sym typeface="Calibri"/>
                </a:rPr>
                <a:t> SV</a:t>
              </a:r>
              <a:r>
                <a:rPr lang="en-US" sz="1000">
                  <a:solidFill>
                    <a:srgbClr val="E8F4FD"/>
                  </a:solidFill>
                  <a:latin typeface="Calibri"/>
                  <a:ea typeface="Calibri"/>
                  <a:cs typeface="Calibri"/>
                  <a:sym typeface="Calibri"/>
                </a:rPr>
                <a:t>P instance is decremented for each VPQ entry rewinded.</a:t>
              </a:r>
              <a:endParaRPr b="0" sz="1000">
                <a:solidFill>
                  <a:srgbClr val="E8F4FD"/>
                </a:solidFill>
                <a:latin typeface="Calibri"/>
                <a:ea typeface="Calibri"/>
                <a:cs typeface="Calibri"/>
                <a:sym typeface="Calibri"/>
              </a:endParaRPr>
            </a:p>
            <a:p>
              <a:pPr indent="-292100" lvl="0" marL="457200" rtl="0" algn="l">
                <a:spcBef>
                  <a:spcPts val="450"/>
                </a:spcBef>
                <a:spcAft>
                  <a:spcPts val="0"/>
                </a:spcAft>
                <a:buClr>
                  <a:srgbClr val="E8F4FD"/>
                </a:buClr>
                <a:buSzPts val="1000"/>
                <a:buFont typeface="Calibri"/>
                <a:buChar char="●"/>
              </a:pPr>
              <a:r>
                <a:rPr b="1" lang="en-US" sz="1000">
                  <a:solidFill>
                    <a:srgbClr val="E8F4FD"/>
                  </a:solidFill>
                  <a:latin typeface="Calibri"/>
                  <a:ea typeface="Calibri"/>
                  <a:cs typeface="Calibri"/>
                  <a:sym typeface="Calibri"/>
                </a:rPr>
                <a:t>State Correction:</a:t>
              </a:r>
              <a:r>
                <a:rPr b="0" lang="en-US" sz="1000">
                  <a:solidFill>
                    <a:srgbClr val="E8F4FD"/>
                  </a:solidFill>
                  <a:latin typeface="Calibri"/>
                  <a:ea typeface="Calibri"/>
                  <a:cs typeface="Calibri"/>
                  <a:sym typeface="Calibri"/>
                </a:rPr>
                <a:t> </a:t>
              </a:r>
              <a:r>
                <a:rPr lang="en-US" sz="1000">
                  <a:solidFill>
                    <a:srgbClr val="E8F4FD"/>
                  </a:solidFill>
                  <a:latin typeface="Calibri"/>
                  <a:ea typeface="Calibri"/>
                  <a:cs typeface="Calibri"/>
                  <a:sym typeface="Calibri"/>
                </a:rPr>
                <a:t>Restore Global GBHR to the checkpointed GBHR stored with conflicting instruction. </a:t>
              </a:r>
              <a:endParaRPr b="0" sz="1000">
                <a:solidFill>
                  <a:srgbClr val="E8F4FD"/>
                </a:solidFill>
                <a:latin typeface="Calibri"/>
                <a:ea typeface="Calibri"/>
                <a:cs typeface="Calibri"/>
                <a:sym typeface="Calibri"/>
              </a:endParaRPr>
            </a:p>
            <a:p>
              <a:pPr indent="0" lvl="0" marL="457200" rtl="0" algn="l">
                <a:spcBef>
                  <a:spcPts val="450"/>
                </a:spcBef>
                <a:spcAft>
                  <a:spcPts val="450"/>
                </a:spcAft>
                <a:buNone/>
              </a:pPr>
              <a:r>
                <a:t/>
              </a:r>
              <a:endParaRPr b="0" sz="1000">
                <a:solidFill>
                  <a:srgbClr val="E8F4FD"/>
                </a:solidFill>
                <a:latin typeface="Calibri"/>
                <a:ea typeface="Calibri"/>
                <a:cs typeface="Calibri"/>
                <a:sym typeface="Calibri"/>
              </a:endParaRPr>
            </a:p>
          </p:txBody>
        </p:sp>
      </p:grpSp>
      <p:sp>
        <p:nvSpPr>
          <p:cNvPr id="101" name="Google Shape;101;g3e073069206_0_60"/>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6" name="Shape 106"/>
        <p:cNvGrpSpPr/>
        <p:nvPr/>
      </p:nvGrpSpPr>
      <p:grpSpPr>
        <a:xfrm>
          <a:off x="0" y="0"/>
          <a:ext cx="0" cy="0"/>
          <a:chOff x="0" y="0"/>
          <a:chExt cx="0" cy="0"/>
        </a:xfrm>
      </p:grpSpPr>
      <p:sp>
        <p:nvSpPr>
          <p:cNvPr id="107" name="Google Shape;107;p4"/>
          <p:cNvSpPr/>
          <p:nvPr/>
        </p:nvSpPr>
        <p:spPr>
          <a:xfrm>
            <a:off x="0" y="0"/>
            <a:ext cx="9144000" cy="50292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4"/>
          <p:cNvSpPr/>
          <p:nvPr/>
        </p:nvSpPr>
        <p:spPr>
          <a:xfrm>
            <a:off x="365760" y="73152"/>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Hybrid Prediction Policies</a:t>
            </a:r>
            <a:endParaRPr sz="2200">
              <a:solidFill>
                <a:schemeClr val="dk1"/>
              </a:solidFill>
              <a:latin typeface="Calibri"/>
              <a:ea typeface="Calibri"/>
              <a:cs typeface="Calibri"/>
              <a:sym typeface="Calibri"/>
            </a:endParaRPr>
          </a:p>
        </p:txBody>
      </p:sp>
      <p:sp>
        <p:nvSpPr>
          <p:cNvPr id="109" name="Google Shape;109;p4"/>
          <p:cNvSpPr/>
          <p:nvPr/>
        </p:nvSpPr>
        <p:spPr>
          <a:xfrm>
            <a:off x="365760" y="594360"/>
            <a:ext cx="84124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1300"/>
              <a:buFont typeface="Calibri"/>
              <a:buNone/>
            </a:pPr>
            <a:r>
              <a:rPr i="1" lang="en-US" sz="1300">
                <a:solidFill>
                  <a:srgbClr val="8EACC4"/>
                </a:solidFill>
                <a:latin typeface="Calibri"/>
                <a:ea typeface="Calibri"/>
                <a:cs typeface="Calibri"/>
                <a:sym typeface="Calibri"/>
              </a:rPr>
              <a:t>The key architectural question: when SVP and VTAGE both have a prediction, which one fires?</a:t>
            </a:r>
            <a:endParaRPr sz="1300">
              <a:solidFill>
                <a:schemeClr val="dk1"/>
              </a:solidFill>
              <a:latin typeface="Calibri"/>
              <a:ea typeface="Calibri"/>
              <a:cs typeface="Calibri"/>
              <a:sym typeface="Calibri"/>
            </a:endParaRPr>
          </a:p>
        </p:txBody>
      </p:sp>
      <p:sp>
        <p:nvSpPr>
          <p:cNvPr id="110" name="Google Shape;110;p4"/>
          <p:cNvSpPr/>
          <p:nvPr/>
        </p:nvSpPr>
        <p:spPr>
          <a:xfrm>
            <a:off x="274320" y="1051560"/>
            <a:ext cx="4160520" cy="3931920"/>
          </a:xfrm>
          <a:prstGeom prst="rect">
            <a:avLst/>
          </a:prstGeom>
          <a:solidFill>
            <a:srgbClr val="0D2137"/>
          </a:solidFill>
          <a:ln cap="flat" cmpd="sng" w="254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1" name="Google Shape;111;p4"/>
          <p:cNvSpPr/>
          <p:nvPr/>
        </p:nvSpPr>
        <p:spPr>
          <a:xfrm>
            <a:off x="274320" y="1051560"/>
            <a:ext cx="4160520" cy="384048"/>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2" name="Google Shape;112;p4"/>
          <p:cNvSpPr/>
          <p:nvPr/>
        </p:nvSpPr>
        <p:spPr>
          <a:xfrm>
            <a:off x="365760" y="1097280"/>
            <a:ext cx="39776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A1628"/>
              </a:buClr>
              <a:buSzPts val="1300"/>
              <a:buFont typeface="Calibri"/>
              <a:buNone/>
            </a:pPr>
            <a:r>
              <a:rPr b="1" lang="en-US" sz="1300">
                <a:solidFill>
                  <a:srgbClr val="0A1628"/>
                </a:solidFill>
                <a:latin typeface="Calibri"/>
                <a:ea typeface="Calibri"/>
                <a:cs typeface="Calibri"/>
                <a:sym typeface="Calibri"/>
              </a:rPr>
              <a:t>SVP Supremacy </a:t>
            </a:r>
            <a:endParaRPr sz="1300">
              <a:solidFill>
                <a:schemeClr val="dk1"/>
              </a:solidFill>
              <a:latin typeface="Calibri"/>
              <a:ea typeface="Calibri"/>
              <a:cs typeface="Calibri"/>
              <a:sym typeface="Calibri"/>
            </a:endParaRPr>
          </a:p>
        </p:txBody>
      </p:sp>
      <p:sp>
        <p:nvSpPr>
          <p:cNvPr id="113" name="Google Shape;113;p4"/>
          <p:cNvSpPr/>
          <p:nvPr/>
        </p:nvSpPr>
        <p:spPr>
          <a:xfrm>
            <a:off x="411480" y="1554480"/>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100"/>
              <a:buFont typeface="Calibri"/>
              <a:buNone/>
            </a:pPr>
            <a:r>
              <a:rPr b="1" lang="en-US" sz="1100">
                <a:solidFill>
                  <a:srgbClr val="00B4D8"/>
                </a:solidFill>
                <a:latin typeface="Calibri"/>
                <a:ea typeface="Calibri"/>
                <a:cs typeface="Calibri"/>
                <a:sym typeface="Calibri"/>
              </a:rPr>
              <a:t>How it works</a:t>
            </a:r>
            <a:endParaRPr sz="1100">
              <a:solidFill>
                <a:schemeClr val="dk1"/>
              </a:solidFill>
              <a:latin typeface="Calibri"/>
              <a:ea typeface="Calibri"/>
              <a:cs typeface="Calibri"/>
              <a:sym typeface="Calibri"/>
            </a:endParaRPr>
          </a:p>
        </p:txBody>
      </p:sp>
      <p:sp>
        <p:nvSpPr>
          <p:cNvPr id="114" name="Google Shape;114;p4"/>
          <p:cNvSpPr/>
          <p:nvPr/>
        </p:nvSpPr>
        <p:spPr>
          <a:xfrm>
            <a:off x="411480" y="1783080"/>
            <a:ext cx="3886200" cy="9601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When SVP reaches maximum confidence, it overrides VTAGE entirely — regardless of VTAGE's confidence level. SVP is treated as the ground truth for stride-predictable instructions. SVP is listed as alternate for potential allocation blocking.</a:t>
            </a:r>
            <a:endParaRPr sz="1100">
              <a:solidFill>
                <a:schemeClr val="dk1"/>
              </a:solidFill>
              <a:latin typeface="Calibri"/>
              <a:ea typeface="Calibri"/>
              <a:cs typeface="Calibri"/>
              <a:sym typeface="Calibri"/>
            </a:endParaRPr>
          </a:p>
        </p:txBody>
      </p:sp>
      <p:sp>
        <p:nvSpPr>
          <p:cNvPr id="115" name="Google Shape;115;p4"/>
          <p:cNvSpPr/>
          <p:nvPr/>
        </p:nvSpPr>
        <p:spPr>
          <a:xfrm>
            <a:off x="411480" y="2834640"/>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D6A0"/>
              </a:buClr>
              <a:buSzPts val="1100"/>
              <a:buFont typeface="Calibri"/>
              <a:buNone/>
            </a:pPr>
            <a:r>
              <a:rPr b="1" lang="en-US" sz="1100">
                <a:solidFill>
                  <a:srgbClr val="06D6A0"/>
                </a:solidFill>
                <a:latin typeface="Calibri"/>
                <a:ea typeface="Calibri"/>
                <a:cs typeface="Calibri"/>
                <a:sym typeface="Calibri"/>
              </a:rPr>
              <a:t>Why it makes sense</a:t>
            </a:r>
            <a:endParaRPr sz="1100">
              <a:solidFill>
                <a:schemeClr val="dk1"/>
              </a:solidFill>
              <a:latin typeface="Calibri"/>
              <a:ea typeface="Calibri"/>
              <a:cs typeface="Calibri"/>
              <a:sym typeface="Calibri"/>
            </a:endParaRPr>
          </a:p>
        </p:txBody>
      </p:sp>
      <p:sp>
        <p:nvSpPr>
          <p:cNvPr id="116" name="Google Shape;116;p4"/>
          <p:cNvSpPr/>
          <p:nvPr/>
        </p:nvSpPr>
        <p:spPr>
          <a:xfrm>
            <a:off x="411480" y="3063240"/>
            <a:ext cx="38862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SVP's mathematical model is deterministic and highly accurate on simple patterns. Letting it take precedence prevents VTAGE from corrupting clean stride predictions.</a:t>
            </a:r>
            <a:endParaRPr sz="1100">
              <a:solidFill>
                <a:schemeClr val="dk1"/>
              </a:solidFill>
              <a:latin typeface="Calibri"/>
              <a:ea typeface="Calibri"/>
              <a:cs typeface="Calibri"/>
              <a:sym typeface="Calibri"/>
            </a:endParaRPr>
          </a:p>
        </p:txBody>
      </p:sp>
      <p:sp>
        <p:nvSpPr>
          <p:cNvPr id="117" name="Google Shape;117;p4"/>
          <p:cNvSpPr/>
          <p:nvPr/>
        </p:nvSpPr>
        <p:spPr>
          <a:xfrm>
            <a:off x="411480" y="4050792"/>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6B35"/>
              </a:buClr>
              <a:buSzPts val="1100"/>
              <a:buFont typeface="Calibri"/>
              <a:buNone/>
            </a:pPr>
            <a:r>
              <a:rPr b="1" lang="en-US" sz="1100">
                <a:solidFill>
                  <a:srgbClr val="FF6B35"/>
                </a:solidFill>
                <a:latin typeface="Calibri"/>
                <a:ea typeface="Calibri"/>
                <a:cs typeface="Calibri"/>
                <a:sym typeface="Calibri"/>
              </a:rPr>
              <a:t>Trade-off</a:t>
            </a:r>
            <a:endParaRPr sz="1100">
              <a:solidFill>
                <a:schemeClr val="dk1"/>
              </a:solidFill>
              <a:latin typeface="Calibri"/>
              <a:ea typeface="Calibri"/>
              <a:cs typeface="Calibri"/>
              <a:sym typeface="Calibri"/>
            </a:endParaRPr>
          </a:p>
        </p:txBody>
      </p:sp>
      <p:sp>
        <p:nvSpPr>
          <p:cNvPr id="118" name="Google Shape;118;p4"/>
          <p:cNvSpPr/>
          <p:nvPr/>
        </p:nvSpPr>
        <p:spPr>
          <a:xfrm>
            <a:off x="411480" y="4270248"/>
            <a:ext cx="388620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1050"/>
              <a:buFont typeface="Calibri"/>
              <a:buNone/>
            </a:pPr>
            <a:r>
              <a:rPr lang="en-US" sz="1050">
                <a:solidFill>
                  <a:srgbClr val="8EACC4"/>
                </a:solidFill>
                <a:latin typeface="Calibri"/>
                <a:ea typeface="Calibri"/>
                <a:cs typeface="Calibri"/>
                <a:sym typeface="Calibri"/>
              </a:rPr>
              <a:t>Fully confident VTAGE entries can still be overridden by SVP, wasting that learned state.</a:t>
            </a:r>
            <a:endParaRPr sz="1050">
              <a:solidFill>
                <a:schemeClr val="dk1"/>
              </a:solidFill>
              <a:latin typeface="Calibri"/>
              <a:ea typeface="Calibri"/>
              <a:cs typeface="Calibri"/>
              <a:sym typeface="Calibri"/>
            </a:endParaRPr>
          </a:p>
        </p:txBody>
      </p:sp>
      <p:sp>
        <p:nvSpPr>
          <p:cNvPr id="119" name="Google Shape;119;p4"/>
          <p:cNvSpPr/>
          <p:nvPr/>
        </p:nvSpPr>
        <p:spPr>
          <a:xfrm>
            <a:off x="4709160" y="1051560"/>
            <a:ext cx="4160520" cy="3931920"/>
          </a:xfrm>
          <a:prstGeom prst="rect">
            <a:avLst/>
          </a:prstGeom>
          <a:solidFill>
            <a:srgbClr val="0D2137"/>
          </a:solidFill>
          <a:ln cap="flat" cmpd="sng" w="254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0" name="Google Shape;120;p4"/>
          <p:cNvSpPr/>
          <p:nvPr/>
        </p:nvSpPr>
        <p:spPr>
          <a:xfrm>
            <a:off x="4709160" y="1051560"/>
            <a:ext cx="4160520" cy="384048"/>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4"/>
          <p:cNvSpPr/>
          <p:nvPr/>
        </p:nvSpPr>
        <p:spPr>
          <a:xfrm>
            <a:off x="4800600" y="1097280"/>
            <a:ext cx="397764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A1628"/>
              </a:buClr>
              <a:buSzPts val="1300"/>
              <a:buFont typeface="Calibri"/>
              <a:buNone/>
            </a:pPr>
            <a:r>
              <a:rPr b="1" lang="en-US" sz="1300">
                <a:solidFill>
                  <a:srgbClr val="0A1628"/>
                </a:solidFill>
                <a:latin typeface="Calibri"/>
                <a:ea typeface="Calibri"/>
                <a:cs typeface="Calibri"/>
                <a:sym typeface="Calibri"/>
              </a:rPr>
              <a:t>Modified SVP Supremacy </a:t>
            </a:r>
            <a:endParaRPr sz="1300">
              <a:solidFill>
                <a:schemeClr val="dk1"/>
              </a:solidFill>
              <a:latin typeface="Calibri"/>
              <a:ea typeface="Calibri"/>
              <a:cs typeface="Calibri"/>
              <a:sym typeface="Calibri"/>
            </a:endParaRPr>
          </a:p>
        </p:txBody>
      </p:sp>
      <p:sp>
        <p:nvSpPr>
          <p:cNvPr id="122" name="Google Shape;122;p4"/>
          <p:cNvSpPr/>
          <p:nvPr/>
        </p:nvSpPr>
        <p:spPr>
          <a:xfrm>
            <a:off x="4846320" y="1554480"/>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100"/>
              <a:buFont typeface="Calibri"/>
              <a:buNone/>
            </a:pPr>
            <a:r>
              <a:rPr b="1" lang="en-US" sz="1100">
                <a:solidFill>
                  <a:srgbClr val="FFD166"/>
                </a:solidFill>
                <a:latin typeface="Calibri"/>
                <a:ea typeface="Calibri"/>
                <a:cs typeface="Calibri"/>
                <a:sym typeface="Calibri"/>
              </a:rPr>
              <a:t>How it works</a:t>
            </a:r>
            <a:endParaRPr sz="1100">
              <a:solidFill>
                <a:schemeClr val="dk1"/>
              </a:solidFill>
              <a:latin typeface="Calibri"/>
              <a:ea typeface="Calibri"/>
              <a:cs typeface="Calibri"/>
              <a:sym typeface="Calibri"/>
            </a:endParaRPr>
          </a:p>
        </p:txBody>
      </p:sp>
      <p:sp>
        <p:nvSpPr>
          <p:cNvPr id="123" name="Google Shape;123;p4"/>
          <p:cNvSpPr/>
          <p:nvPr/>
        </p:nvSpPr>
        <p:spPr>
          <a:xfrm>
            <a:off x="4846320" y="1783080"/>
            <a:ext cx="3886200" cy="9601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SVP overrides VTAGE only when VTAGE has NOT yet reached its maximum confidence. Once VTAGE achieves full confidence (counter = 63), it wins. SVP can block allocation regardless of which predictor wins.</a:t>
            </a:r>
            <a:endParaRPr sz="1100">
              <a:solidFill>
                <a:schemeClr val="dk1"/>
              </a:solidFill>
              <a:latin typeface="Calibri"/>
              <a:ea typeface="Calibri"/>
              <a:cs typeface="Calibri"/>
              <a:sym typeface="Calibri"/>
            </a:endParaRPr>
          </a:p>
        </p:txBody>
      </p:sp>
      <p:sp>
        <p:nvSpPr>
          <p:cNvPr id="124" name="Google Shape;124;p4"/>
          <p:cNvSpPr/>
          <p:nvPr/>
        </p:nvSpPr>
        <p:spPr>
          <a:xfrm>
            <a:off x="4846320" y="2834640"/>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D6A0"/>
              </a:buClr>
              <a:buSzPts val="1100"/>
              <a:buFont typeface="Calibri"/>
              <a:buNone/>
            </a:pPr>
            <a:r>
              <a:rPr b="1" lang="en-US" sz="1100">
                <a:solidFill>
                  <a:srgbClr val="06D6A0"/>
                </a:solidFill>
                <a:latin typeface="Calibri"/>
                <a:ea typeface="Calibri"/>
                <a:cs typeface="Calibri"/>
                <a:sym typeface="Calibri"/>
              </a:rPr>
              <a:t>Why it makes sense</a:t>
            </a:r>
            <a:endParaRPr sz="1100">
              <a:solidFill>
                <a:schemeClr val="dk1"/>
              </a:solidFill>
              <a:latin typeface="Calibri"/>
              <a:ea typeface="Calibri"/>
              <a:cs typeface="Calibri"/>
              <a:sym typeface="Calibri"/>
            </a:endParaRPr>
          </a:p>
        </p:txBody>
      </p:sp>
      <p:sp>
        <p:nvSpPr>
          <p:cNvPr id="125" name="Google Shape;125;p4"/>
          <p:cNvSpPr/>
          <p:nvPr/>
        </p:nvSpPr>
        <p:spPr>
          <a:xfrm>
            <a:off x="4846320" y="3063240"/>
            <a:ext cx="38862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00"/>
              <a:buFont typeface="Calibri"/>
              <a:buNone/>
            </a:pPr>
            <a:r>
              <a:rPr lang="en-US" sz="1100">
                <a:solidFill>
                  <a:srgbClr val="E8F4FD"/>
                </a:solidFill>
                <a:latin typeface="Calibri"/>
                <a:ea typeface="Calibri"/>
                <a:cs typeface="Calibri"/>
                <a:sym typeface="Calibri"/>
              </a:rPr>
              <a:t>A fully confident VTAGE entry captures context-dependent value patterns through branch history. Confidence is trained probabilistically, so a counter value of 63 is not a count of 63 observations.</a:t>
            </a:r>
            <a:endParaRPr sz="1100">
              <a:solidFill>
                <a:schemeClr val="dk1"/>
              </a:solidFill>
              <a:latin typeface="Calibri"/>
              <a:ea typeface="Calibri"/>
              <a:cs typeface="Calibri"/>
              <a:sym typeface="Calibri"/>
            </a:endParaRPr>
          </a:p>
        </p:txBody>
      </p:sp>
      <p:sp>
        <p:nvSpPr>
          <p:cNvPr id="126" name="Google Shape;126;p4"/>
          <p:cNvSpPr/>
          <p:nvPr/>
        </p:nvSpPr>
        <p:spPr>
          <a:xfrm>
            <a:off x="4846320" y="4050792"/>
            <a:ext cx="3886200" cy="228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6B35"/>
              </a:buClr>
              <a:buSzPts val="1100"/>
              <a:buFont typeface="Calibri"/>
              <a:buNone/>
            </a:pPr>
            <a:r>
              <a:rPr b="1" lang="en-US" sz="1100">
                <a:solidFill>
                  <a:srgbClr val="FF6B35"/>
                </a:solidFill>
                <a:latin typeface="Calibri"/>
                <a:ea typeface="Calibri"/>
                <a:cs typeface="Calibri"/>
                <a:sym typeface="Calibri"/>
              </a:rPr>
              <a:t>Trade-off</a:t>
            </a:r>
            <a:endParaRPr sz="1100">
              <a:solidFill>
                <a:schemeClr val="dk1"/>
              </a:solidFill>
              <a:latin typeface="Calibri"/>
              <a:ea typeface="Calibri"/>
              <a:cs typeface="Calibri"/>
              <a:sym typeface="Calibri"/>
            </a:endParaRPr>
          </a:p>
        </p:txBody>
      </p:sp>
      <p:sp>
        <p:nvSpPr>
          <p:cNvPr id="127" name="Google Shape;127;p4"/>
          <p:cNvSpPr/>
          <p:nvPr/>
        </p:nvSpPr>
        <p:spPr>
          <a:xfrm>
            <a:off x="4846320" y="4270248"/>
            <a:ext cx="3886200" cy="5943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1050"/>
              <a:buFont typeface="Calibri"/>
              <a:buNone/>
            </a:pPr>
            <a:r>
              <a:rPr lang="en-US" sz="1050">
                <a:solidFill>
                  <a:srgbClr val="8EACC4"/>
                </a:solidFill>
                <a:latin typeface="Calibri"/>
                <a:ea typeface="Calibri"/>
                <a:cs typeface="Calibri"/>
                <a:sym typeface="Calibri"/>
              </a:rPr>
              <a:t>Slightly more confident mispredictions from VTAGE on chaotic workloads, mitigated by the high confidence bar and asymmetric penalty.</a:t>
            </a:r>
            <a:endParaRPr sz="1050">
              <a:solidFill>
                <a:schemeClr val="dk1"/>
              </a:solidFill>
              <a:latin typeface="Calibri"/>
              <a:ea typeface="Calibri"/>
              <a:cs typeface="Calibri"/>
              <a:sym typeface="Calibri"/>
            </a:endParaRPr>
          </a:p>
        </p:txBody>
      </p:sp>
      <p:sp>
        <p:nvSpPr>
          <p:cNvPr id="128" name="Google Shape;128;p4"/>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3" name="Shape 133"/>
        <p:cNvGrpSpPr/>
        <p:nvPr/>
      </p:nvGrpSpPr>
      <p:grpSpPr>
        <a:xfrm>
          <a:off x="0" y="0"/>
          <a:ext cx="0" cy="0"/>
          <a:chOff x="0" y="0"/>
          <a:chExt cx="0" cy="0"/>
        </a:xfrm>
      </p:grpSpPr>
      <p:sp>
        <p:nvSpPr>
          <p:cNvPr id="134" name="Google Shape;134;p5"/>
          <p:cNvSpPr/>
          <p:nvPr/>
        </p:nvSpPr>
        <p:spPr>
          <a:xfrm>
            <a:off x="0" y="0"/>
            <a:ext cx="9144000" cy="50280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5" name="Google Shape;135;p5"/>
          <p:cNvSpPr/>
          <p:nvPr/>
        </p:nvSpPr>
        <p:spPr>
          <a:xfrm>
            <a:off x="228600" y="54950"/>
            <a:ext cx="8429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Inspiration from Literature — What We Borrowed &amp; What We Changed</a:t>
            </a:r>
            <a:endParaRPr sz="2200">
              <a:solidFill>
                <a:schemeClr val="dk1"/>
              </a:solidFill>
              <a:latin typeface="Calibri"/>
              <a:ea typeface="Calibri"/>
              <a:cs typeface="Calibri"/>
              <a:sym typeface="Calibri"/>
            </a:endParaRPr>
          </a:p>
        </p:txBody>
      </p:sp>
      <p:sp>
        <p:nvSpPr>
          <p:cNvPr id="136" name="Google Shape;136;p5"/>
          <p:cNvSpPr/>
          <p:nvPr/>
        </p:nvSpPr>
        <p:spPr>
          <a:xfrm>
            <a:off x="228600" y="781050"/>
            <a:ext cx="2743200" cy="4134000"/>
          </a:xfrm>
          <a:prstGeom prst="rect">
            <a:avLst/>
          </a:prstGeom>
          <a:solidFill>
            <a:srgbClr val="0D4F8B"/>
          </a:solidFill>
          <a:ln cap="flat" cmpd="sng" w="19050">
            <a:solidFill>
              <a:srgbClr val="00B4D8"/>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37" name="Google Shape;137;p5"/>
          <p:cNvSpPr/>
          <p:nvPr/>
        </p:nvSpPr>
        <p:spPr>
          <a:xfrm>
            <a:off x="228600" y="781050"/>
            <a:ext cx="2743200" cy="3429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38" name="Google Shape;138;p5"/>
          <p:cNvSpPr/>
          <p:nvPr/>
        </p:nvSpPr>
        <p:spPr>
          <a:xfrm>
            <a:off x="228600" y="781050"/>
            <a:ext cx="2743200" cy="342900"/>
          </a:xfrm>
          <a:prstGeom prst="rect">
            <a:avLst/>
          </a:prstGeom>
          <a:solidFill>
            <a:srgbClr val="000000">
              <a:alpha val="0"/>
            </a:srgbClr>
          </a:solidFill>
          <a:ln>
            <a:noFill/>
          </a:ln>
        </p:spPr>
        <p:txBody>
          <a:bodyPr anchorCtr="0" anchor="ctr" bIns="0" lIns="95250" spcFirstLastPara="1" rIns="95250" wrap="square" tIns="0">
            <a:noAutofit/>
          </a:bodyPr>
          <a:lstStyle/>
          <a:p>
            <a:pPr indent="0" lvl="0" marL="0" rtl="0" algn="ctr">
              <a:spcBef>
                <a:spcPts val="0"/>
              </a:spcBef>
              <a:spcAft>
                <a:spcPts val="0"/>
              </a:spcAft>
              <a:buNone/>
            </a:pPr>
            <a:r>
              <a:rPr b="1" lang="en-US" sz="1150">
                <a:solidFill>
                  <a:srgbClr val="FFFFFF"/>
                </a:solidFill>
                <a:latin typeface="Calibri"/>
                <a:ea typeface="Calibri"/>
                <a:cs typeface="Calibri"/>
                <a:sym typeface="Calibri"/>
              </a:rPr>
              <a:t>Borrowed from Literature</a:t>
            </a:r>
            <a:endParaRPr b="1" sz="1150">
              <a:solidFill>
                <a:srgbClr val="FFFFFF"/>
              </a:solidFill>
              <a:latin typeface="Calibri"/>
              <a:ea typeface="Calibri"/>
              <a:cs typeface="Calibri"/>
              <a:sym typeface="Calibri"/>
            </a:endParaRPr>
          </a:p>
        </p:txBody>
      </p:sp>
      <p:sp>
        <p:nvSpPr>
          <p:cNvPr id="139" name="Google Shape;139;p5"/>
          <p:cNvSpPr/>
          <p:nvPr/>
        </p:nvSpPr>
        <p:spPr>
          <a:xfrm>
            <a:off x="3200400" y="781050"/>
            <a:ext cx="2743200" cy="4134000"/>
          </a:xfrm>
          <a:prstGeom prst="rect">
            <a:avLst/>
          </a:prstGeom>
          <a:solidFill>
            <a:srgbClr val="0D2E1A"/>
          </a:solidFill>
          <a:ln cap="flat" cmpd="sng" w="19050">
            <a:solidFill>
              <a:srgbClr val="06D6A0"/>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40" name="Google Shape;140;p5"/>
          <p:cNvSpPr/>
          <p:nvPr/>
        </p:nvSpPr>
        <p:spPr>
          <a:xfrm>
            <a:off x="3200400" y="781050"/>
            <a:ext cx="2743200" cy="342900"/>
          </a:xfrm>
          <a:prstGeom prst="rect">
            <a:avLst/>
          </a:prstGeom>
          <a:solidFill>
            <a:srgbClr val="06D6A0"/>
          </a:solidFill>
          <a:ln cap="flat" cmpd="sng" w="12700">
            <a:solidFill>
              <a:srgbClr val="06D6A0"/>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41" name="Google Shape;141;p5"/>
          <p:cNvSpPr/>
          <p:nvPr/>
        </p:nvSpPr>
        <p:spPr>
          <a:xfrm>
            <a:off x="3200400" y="781050"/>
            <a:ext cx="2743200" cy="342900"/>
          </a:xfrm>
          <a:prstGeom prst="rect">
            <a:avLst/>
          </a:prstGeom>
          <a:solidFill>
            <a:srgbClr val="000000">
              <a:alpha val="0"/>
            </a:srgbClr>
          </a:solidFill>
          <a:ln>
            <a:noFill/>
          </a:ln>
        </p:spPr>
        <p:txBody>
          <a:bodyPr anchorCtr="0" anchor="ctr" bIns="0" lIns="95250" spcFirstLastPara="1" rIns="95250" wrap="square" tIns="0">
            <a:noAutofit/>
          </a:bodyPr>
          <a:lstStyle/>
          <a:p>
            <a:pPr indent="0" lvl="0" marL="0" rtl="0" algn="ctr">
              <a:spcBef>
                <a:spcPts val="0"/>
              </a:spcBef>
              <a:spcAft>
                <a:spcPts val="0"/>
              </a:spcAft>
              <a:buNone/>
            </a:pPr>
            <a:r>
              <a:rPr b="1" lang="en-US" sz="1150">
                <a:solidFill>
                  <a:srgbClr val="0A1628"/>
                </a:solidFill>
                <a:latin typeface="Calibri"/>
                <a:ea typeface="Calibri"/>
                <a:cs typeface="Calibri"/>
                <a:sym typeface="Calibri"/>
              </a:rPr>
              <a:t>Our Divergences &amp; Innovations</a:t>
            </a:r>
            <a:endParaRPr b="1" sz="1150">
              <a:solidFill>
                <a:srgbClr val="0A1628"/>
              </a:solidFill>
              <a:latin typeface="Calibri"/>
              <a:ea typeface="Calibri"/>
              <a:cs typeface="Calibri"/>
              <a:sym typeface="Calibri"/>
            </a:endParaRPr>
          </a:p>
        </p:txBody>
      </p:sp>
      <p:sp>
        <p:nvSpPr>
          <p:cNvPr id="142" name="Google Shape;142;p5"/>
          <p:cNvSpPr/>
          <p:nvPr/>
        </p:nvSpPr>
        <p:spPr>
          <a:xfrm>
            <a:off x="6172200" y="781050"/>
            <a:ext cx="2743200" cy="4134000"/>
          </a:xfrm>
          <a:prstGeom prst="rect">
            <a:avLst/>
          </a:prstGeom>
          <a:solidFill>
            <a:srgbClr val="2A1A0A"/>
          </a:solidFill>
          <a:ln cap="flat" cmpd="sng" w="19050">
            <a:solidFill>
              <a:srgbClr val="FFD166"/>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43" name="Google Shape;143;p5"/>
          <p:cNvSpPr/>
          <p:nvPr/>
        </p:nvSpPr>
        <p:spPr>
          <a:xfrm>
            <a:off x="6172200" y="781050"/>
            <a:ext cx="2743200" cy="342900"/>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44" name="Google Shape;144;p5"/>
          <p:cNvSpPr/>
          <p:nvPr/>
        </p:nvSpPr>
        <p:spPr>
          <a:xfrm>
            <a:off x="6172200" y="781050"/>
            <a:ext cx="2743200" cy="342900"/>
          </a:xfrm>
          <a:prstGeom prst="rect">
            <a:avLst/>
          </a:prstGeom>
          <a:solidFill>
            <a:srgbClr val="000000">
              <a:alpha val="0"/>
            </a:srgbClr>
          </a:solidFill>
          <a:ln>
            <a:noFill/>
          </a:ln>
        </p:spPr>
        <p:txBody>
          <a:bodyPr anchorCtr="0" anchor="ctr" bIns="0" lIns="95250" spcFirstLastPara="1" rIns="95250" wrap="square" tIns="0">
            <a:noAutofit/>
          </a:bodyPr>
          <a:lstStyle/>
          <a:p>
            <a:pPr indent="0" lvl="0" marL="0" rtl="0" algn="ctr">
              <a:spcBef>
                <a:spcPts val="0"/>
              </a:spcBef>
              <a:spcAft>
                <a:spcPts val="0"/>
              </a:spcAft>
              <a:buNone/>
            </a:pPr>
            <a:r>
              <a:rPr b="1" lang="en-US" sz="1150">
                <a:solidFill>
                  <a:srgbClr val="0A1628"/>
                </a:solidFill>
                <a:latin typeface="Calibri"/>
                <a:ea typeface="Calibri"/>
                <a:cs typeface="Calibri"/>
                <a:sym typeface="Calibri"/>
              </a:rPr>
              <a:t>Configuration Innovations</a:t>
            </a:r>
            <a:endParaRPr b="1" sz="1150">
              <a:solidFill>
                <a:srgbClr val="0A1628"/>
              </a:solidFill>
              <a:latin typeface="Calibri"/>
              <a:ea typeface="Calibri"/>
              <a:cs typeface="Calibri"/>
              <a:sym typeface="Calibri"/>
            </a:endParaRPr>
          </a:p>
        </p:txBody>
      </p:sp>
      <p:sp>
        <p:nvSpPr>
          <p:cNvPr id="145" name="Google Shape;145;p5"/>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6" name="Google Shape;146;p5"/>
          <p:cNvSpPr txBox="1"/>
          <p:nvPr/>
        </p:nvSpPr>
        <p:spPr>
          <a:xfrm>
            <a:off x="323850" y="1190625"/>
            <a:ext cx="2552700" cy="3619500"/>
          </a:xfrm>
          <a:prstGeom prst="rect">
            <a:avLst/>
          </a:prstGeom>
          <a:solidFill>
            <a:srgbClr val="000000">
              <a:alpha val="0"/>
            </a:srgbClr>
          </a:solidFill>
          <a:ln>
            <a:noFill/>
          </a:ln>
        </p:spPr>
        <p:txBody>
          <a:bodyPr anchorCtr="0" anchor="t" bIns="0" lIns="0" spcFirstLastPara="1" rIns="0" wrap="square" tIns="47625">
            <a:noAutofit/>
          </a:bodyPr>
          <a:lstStyle/>
          <a:p>
            <a:pPr indent="0" lvl="0" marL="0" rtl="0" algn="l">
              <a:spcBef>
                <a:spcPts val="0"/>
              </a:spcBef>
              <a:spcAft>
                <a:spcPts val="0"/>
              </a:spcAft>
              <a:buNone/>
            </a:pPr>
            <a:r>
              <a:rPr b="1" lang="en-US" sz="900">
                <a:solidFill>
                  <a:srgbClr val="00B4D8"/>
                </a:solidFill>
                <a:latin typeface="Calibri"/>
                <a:ea typeface="Calibri"/>
                <a:cs typeface="Calibri"/>
                <a:sym typeface="Calibri"/>
              </a:rPr>
              <a:t>Stochastic Confidence Training:</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Confidence increases randomly after correct predictions (Loads/FP 1-in-2, ALU 1-in-8), requiring proof of long-term stability.</a:t>
            </a:r>
            <a:endParaRPr b="0" sz="850">
              <a:solidFill>
                <a:srgbClr val="E8F4FD"/>
              </a:solidFill>
              <a:latin typeface="Calibri"/>
              <a:ea typeface="Calibri"/>
              <a:cs typeface="Calibri"/>
              <a:sym typeface="Calibri"/>
            </a:endParaRPr>
          </a:p>
          <a:p>
            <a:pPr indent="0" lvl="0" marL="0" rtl="0" algn="l">
              <a:spcBef>
                <a:spcPts val="525"/>
              </a:spcBef>
              <a:spcAft>
                <a:spcPts val="0"/>
              </a:spcAft>
              <a:buNone/>
            </a:pPr>
            <a:r>
              <a:rPr b="1" lang="en-US" sz="900">
                <a:solidFill>
                  <a:srgbClr val="00B4D8"/>
                </a:solidFill>
                <a:latin typeface="Calibri"/>
                <a:ea typeface="Calibri"/>
                <a:cs typeface="Calibri"/>
                <a:sym typeface="Calibri"/>
              </a:rPr>
              <a:t>TAGE "Useful-Bit" Economics</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Entries only gain/lose "usefulness" if uniquely correct/incorrect, preserving valuable data (from TAGE paper).</a:t>
            </a:r>
            <a:endParaRPr b="0" sz="850">
              <a:solidFill>
                <a:srgbClr val="E8F4FD"/>
              </a:solidFill>
              <a:latin typeface="Calibri"/>
              <a:ea typeface="Calibri"/>
              <a:cs typeface="Calibri"/>
              <a:sym typeface="Calibri"/>
            </a:endParaRPr>
          </a:p>
          <a:p>
            <a:pPr indent="0" lvl="0" marL="0" rtl="0" algn="l">
              <a:spcBef>
                <a:spcPts val="525"/>
              </a:spcBef>
              <a:spcAft>
                <a:spcPts val="0"/>
              </a:spcAft>
              <a:buNone/>
            </a:pPr>
            <a:r>
              <a:rPr b="1" lang="en-US" sz="900">
                <a:solidFill>
                  <a:srgbClr val="00B4D8"/>
                </a:solidFill>
                <a:latin typeface="Calibri"/>
                <a:ea typeface="Calibri"/>
                <a:cs typeface="Calibri"/>
                <a:sym typeface="Calibri"/>
              </a:rPr>
              <a:t>Instruction-Type-Aware Allocation</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Priority allocation for Loads/FP; generic ALU heavily throttled.</a:t>
            </a:r>
            <a:endParaRPr b="0" sz="850">
              <a:solidFill>
                <a:srgbClr val="E8F4FD"/>
              </a:solidFill>
              <a:latin typeface="Calibri"/>
              <a:ea typeface="Calibri"/>
              <a:cs typeface="Calibri"/>
              <a:sym typeface="Calibri"/>
            </a:endParaRPr>
          </a:p>
          <a:p>
            <a:pPr indent="0" lvl="0" marL="0" rtl="0" algn="l">
              <a:spcBef>
                <a:spcPts val="525"/>
              </a:spcBef>
              <a:spcAft>
                <a:spcPts val="0"/>
              </a:spcAft>
              <a:buNone/>
            </a:pPr>
            <a:r>
              <a:rPr b="1" lang="en-US" sz="900">
                <a:solidFill>
                  <a:srgbClr val="00B4D8"/>
                </a:solidFill>
                <a:latin typeface="Calibri"/>
                <a:ea typeface="Calibri"/>
                <a:cs typeface="Calibri"/>
                <a:sym typeface="Calibri"/>
              </a:rPr>
              <a:t>TICK-Based Usefulness Decay</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Global counter periodically decrements usefulness bits to evict stale entries.</a:t>
            </a:r>
            <a:endParaRPr b="0" sz="850">
              <a:solidFill>
                <a:srgbClr val="E8F4FD"/>
              </a:solidFill>
              <a:latin typeface="Calibri"/>
              <a:ea typeface="Calibri"/>
              <a:cs typeface="Calibri"/>
              <a:sym typeface="Calibri"/>
            </a:endParaRPr>
          </a:p>
          <a:p>
            <a:pPr indent="0" lvl="0" marL="0" rtl="0" algn="l">
              <a:spcBef>
                <a:spcPts val="525"/>
              </a:spcBef>
              <a:spcAft>
                <a:spcPts val="0"/>
              </a:spcAft>
              <a:buNone/>
            </a:pPr>
            <a:r>
              <a:rPr b="1" lang="en-US" sz="900">
                <a:solidFill>
                  <a:srgbClr val="00B4D8"/>
                </a:solidFill>
                <a:latin typeface="Calibri"/>
                <a:ea typeface="Calibri"/>
                <a:cs typeface="Calibri"/>
                <a:sym typeface="Calibri"/>
              </a:rPr>
              <a:t>Geometric History Lengths</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History lengths across tables use geometric interpolation between min and max (a TAGE technique for pattern coverage efficiency).</a:t>
            </a:r>
            <a:endParaRPr b="0" sz="850">
              <a:solidFill>
                <a:srgbClr val="E8F4FD"/>
              </a:solidFill>
              <a:latin typeface="Calibri"/>
              <a:ea typeface="Calibri"/>
              <a:cs typeface="Calibri"/>
              <a:sym typeface="Calibri"/>
            </a:endParaRPr>
          </a:p>
          <a:p>
            <a:pPr indent="0" lvl="0" marL="0" rtl="0" algn="l">
              <a:spcBef>
                <a:spcPts val="525"/>
              </a:spcBef>
              <a:spcAft>
                <a:spcPts val="0"/>
              </a:spcAft>
              <a:buNone/>
            </a:pPr>
            <a:r>
              <a:rPr b="1" lang="en-US" sz="900">
                <a:solidFill>
                  <a:srgbClr val="00B4D8"/>
                </a:solidFill>
                <a:latin typeface="Calibri"/>
                <a:ea typeface="Calibri"/>
                <a:cs typeface="Calibri"/>
                <a:sym typeface="Calibri"/>
              </a:rPr>
              <a:t>VTAGE Supremacy Over Base</a:t>
            </a:r>
            <a:endParaRPr b="1" sz="900">
              <a:solidFill>
                <a:srgbClr val="00B4D8"/>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If one predictor is confident, it predicts. If both are confident, VTAGE takes priority over SVP, favoring history-based proof over stride math.</a:t>
            </a:r>
            <a:endParaRPr b="0" sz="850">
              <a:solidFill>
                <a:srgbClr val="E8F4FD"/>
              </a:solidFill>
              <a:latin typeface="Calibri"/>
              <a:ea typeface="Calibri"/>
              <a:cs typeface="Calibri"/>
              <a:sym typeface="Calibri"/>
            </a:endParaRPr>
          </a:p>
        </p:txBody>
      </p:sp>
      <p:sp>
        <p:nvSpPr>
          <p:cNvPr id="147" name="Google Shape;147;p5"/>
          <p:cNvSpPr txBox="1"/>
          <p:nvPr/>
        </p:nvSpPr>
        <p:spPr>
          <a:xfrm>
            <a:off x="3295650" y="1190625"/>
            <a:ext cx="2552700" cy="3619500"/>
          </a:xfrm>
          <a:prstGeom prst="rect">
            <a:avLst/>
          </a:prstGeom>
          <a:solidFill>
            <a:srgbClr val="000000">
              <a:alpha val="0"/>
            </a:srgbClr>
          </a:solidFill>
          <a:ln>
            <a:noFill/>
          </a:ln>
        </p:spPr>
        <p:txBody>
          <a:bodyPr anchorCtr="0" anchor="t" bIns="0" lIns="0" spcFirstLastPara="1" rIns="0" wrap="square" tIns="47625">
            <a:noAutofit/>
          </a:bodyPr>
          <a:lstStyle/>
          <a:p>
            <a:pPr indent="0" lvl="0" marL="0" rtl="0" algn="l">
              <a:spcBef>
                <a:spcPts val="0"/>
              </a:spcBef>
              <a:spcAft>
                <a:spcPts val="0"/>
              </a:spcAft>
              <a:buNone/>
            </a:pPr>
            <a:r>
              <a:rPr b="1" lang="en-US" sz="900">
                <a:solidFill>
                  <a:srgbClr val="06D6A0"/>
                </a:solidFill>
                <a:latin typeface="Calibri"/>
                <a:ea typeface="Calibri"/>
                <a:cs typeface="Calibri"/>
                <a:sym typeface="Calibri"/>
              </a:rPr>
              <a:t>No Last Value Predictor</a:t>
            </a:r>
            <a:endParaRPr b="1" sz="900">
              <a:solidFill>
                <a:srgbClr val="06D6A0"/>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Typical last value predictor replaced as VTAGE base with the more influential SVP.</a:t>
            </a:r>
            <a:endParaRPr b="0" sz="850">
              <a:solidFill>
                <a:srgbClr val="E8F4FD"/>
              </a:solidFill>
              <a:latin typeface="Calibri"/>
              <a:ea typeface="Calibri"/>
              <a:cs typeface="Calibri"/>
              <a:sym typeface="Calibri"/>
            </a:endParaRPr>
          </a:p>
          <a:p>
            <a:pPr indent="0" lvl="0" marL="0" rtl="0" algn="l">
              <a:spcBef>
                <a:spcPts val="675"/>
              </a:spcBef>
              <a:spcAft>
                <a:spcPts val="0"/>
              </a:spcAft>
              <a:buNone/>
            </a:pPr>
            <a:r>
              <a:rPr b="1" lang="en-US" sz="900">
                <a:solidFill>
                  <a:srgbClr val="06D6A0"/>
                </a:solidFill>
                <a:latin typeface="Calibri"/>
                <a:ea typeface="Calibri"/>
                <a:cs typeface="Calibri"/>
                <a:sym typeface="Calibri"/>
              </a:rPr>
              <a:t>Provider/Alternate Architecture</a:t>
            </a:r>
            <a:endParaRPr b="1" sz="900">
              <a:solidFill>
                <a:srgbClr val="06D6A0"/>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When VTAGE hits, the longest history is the provider; the alternate is a shorter VTAGE match or base SVP. Innovation: If SVP is the correct alternate, it hard-vetoes VTAGE allocation, preventing redundancy.</a:t>
            </a:r>
            <a:endParaRPr b="0" sz="850">
              <a:solidFill>
                <a:srgbClr val="E8F4FD"/>
              </a:solidFill>
              <a:latin typeface="Calibri"/>
              <a:ea typeface="Calibri"/>
              <a:cs typeface="Calibri"/>
              <a:sym typeface="Calibri"/>
            </a:endParaRPr>
          </a:p>
          <a:p>
            <a:pPr indent="0" lvl="0" marL="0" rtl="0" algn="l">
              <a:spcBef>
                <a:spcPts val="675"/>
              </a:spcBef>
              <a:spcAft>
                <a:spcPts val="0"/>
              </a:spcAft>
              <a:buNone/>
            </a:pPr>
            <a:r>
              <a:rPr b="1" lang="en-US" sz="900">
                <a:solidFill>
                  <a:srgbClr val="06D6A0"/>
                </a:solidFill>
                <a:latin typeface="Calibri"/>
                <a:ea typeface="Calibri"/>
                <a:cs typeface="Calibri"/>
                <a:sym typeface="Calibri"/>
              </a:rPr>
              <a:t>Anti-Aliasing SVP Shield</a:t>
            </a:r>
            <a:endParaRPr b="1" sz="900">
              <a:solidFill>
                <a:srgbClr val="06D6A0"/>
              </a:solidFill>
              <a:latin typeface="Calibri"/>
              <a:ea typeface="Calibri"/>
              <a:cs typeface="Calibri"/>
              <a:sym typeface="Calibri"/>
            </a:endParaRPr>
          </a:p>
          <a:p>
            <a:pPr indent="0" lvl="0" marL="0" rtl="0" algn="l">
              <a:spcBef>
                <a:spcPts val="150"/>
              </a:spcBef>
              <a:spcAft>
                <a:spcPts val="0"/>
              </a:spcAft>
              <a:buNone/>
            </a:pPr>
            <a:r>
              <a:rPr b="0" lang="en-US" sz="850">
                <a:solidFill>
                  <a:srgbClr val="E8F4FD"/>
                </a:solidFill>
                <a:latin typeface="Calibri"/>
                <a:ea typeface="Calibri"/>
                <a:cs typeface="Calibri"/>
                <a:sym typeface="Calibri"/>
              </a:rPr>
              <a:t>If VTAGE correctly predicts a PC at max confidence upon retirement, it blocks new PCs from evicting established SVP entries.</a:t>
            </a:r>
            <a:endParaRPr b="0" sz="850">
              <a:solidFill>
                <a:srgbClr val="E8F4FD"/>
              </a:solidFill>
              <a:latin typeface="Calibri"/>
              <a:ea typeface="Calibri"/>
              <a:cs typeface="Calibri"/>
              <a:sym typeface="Calibri"/>
            </a:endParaRPr>
          </a:p>
          <a:p>
            <a:pPr indent="0" lvl="0" marL="0" rtl="0" algn="l">
              <a:spcBef>
                <a:spcPts val="675"/>
              </a:spcBef>
              <a:spcAft>
                <a:spcPts val="0"/>
              </a:spcAft>
              <a:buNone/>
            </a:pPr>
            <a:r>
              <a:rPr b="1" lang="en-US" sz="900">
                <a:solidFill>
                  <a:srgbClr val="06D6A0"/>
                </a:solidFill>
                <a:latin typeface="Calibri"/>
                <a:ea typeface="Calibri"/>
                <a:cs typeface="Calibri"/>
                <a:sym typeface="Calibri"/>
              </a:rPr>
              <a:t>Conditional-Branch-Only History</a:t>
            </a:r>
            <a:endParaRPr b="1" sz="900">
              <a:solidFill>
                <a:srgbClr val="06D6A0"/>
              </a:solidFill>
              <a:latin typeface="Calibri"/>
              <a:ea typeface="Calibri"/>
              <a:cs typeface="Calibri"/>
              <a:sym typeface="Calibri"/>
            </a:endParaRPr>
          </a:p>
          <a:p>
            <a:pPr indent="0" lvl="0" marL="0" rtl="0" algn="l">
              <a:spcBef>
                <a:spcPts val="150"/>
              </a:spcBef>
              <a:spcAft>
                <a:spcPts val="0"/>
              </a:spcAft>
              <a:buNone/>
            </a:pPr>
            <a:r>
              <a:rPr lang="en-US" sz="850">
                <a:solidFill>
                  <a:srgbClr val="E8F4FD"/>
                </a:solidFill>
                <a:latin typeface="Calibri"/>
                <a:ea typeface="Calibri"/>
                <a:cs typeface="Calibri"/>
                <a:sym typeface="Calibri"/>
              </a:rPr>
              <a:t> Global branch history register (GBHR) shifts only on conditional branches, using taken/not-taken outcomes; unconditional branches and non-branches are excluded.</a:t>
            </a:r>
            <a:endParaRPr b="0" sz="850">
              <a:solidFill>
                <a:srgbClr val="E8F4FD"/>
              </a:solidFill>
              <a:latin typeface="Calibri"/>
              <a:ea typeface="Calibri"/>
              <a:cs typeface="Calibri"/>
              <a:sym typeface="Calibri"/>
            </a:endParaRPr>
          </a:p>
          <a:p>
            <a:pPr indent="0" lvl="0" marL="0" rtl="0" algn="l">
              <a:spcBef>
                <a:spcPts val="675"/>
              </a:spcBef>
              <a:spcAft>
                <a:spcPts val="0"/>
              </a:spcAft>
              <a:buNone/>
            </a:pPr>
            <a:r>
              <a:rPr b="1" lang="en-US" sz="900">
                <a:solidFill>
                  <a:srgbClr val="06D6A0"/>
                </a:solidFill>
                <a:latin typeface="Calibri"/>
                <a:ea typeface="Calibri"/>
                <a:cs typeface="Calibri"/>
                <a:sym typeface="Calibri"/>
              </a:rPr>
              <a:t>Asymmetric Penalty by Instruction Type</a:t>
            </a:r>
            <a:endParaRPr b="1" sz="900">
              <a:solidFill>
                <a:srgbClr val="06D6A0"/>
              </a:solidFill>
              <a:latin typeface="Calibri"/>
              <a:ea typeface="Calibri"/>
              <a:cs typeface="Calibri"/>
              <a:sym typeface="Calibri"/>
            </a:endParaRPr>
          </a:p>
          <a:p>
            <a:pPr indent="0" lvl="0" marL="0" rtl="0" algn="l">
              <a:spcBef>
                <a:spcPts val="150"/>
              </a:spcBef>
              <a:spcAft>
                <a:spcPts val="0"/>
              </a:spcAft>
              <a:buNone/>
            </a:pPr>
            <a:r>
              <a:rPr lang="en-US" sz="850">
                <a:solidFill>
                  <a:srgbClr val="E8F4FD"/>
                </a:solidFill>
                <a:latin typeface="Calibri"/>
                <a:ea typeface="Calibri"/>
                <a:cs typeface="Calibri"/>
                <a:sym typeface="Calibri"/>
              </a:rPr>
              <a:t>Mispredicted ALU instructions reset to zero. Memory/FP receive a soft fractional penalty because their patterns tend to reappear.</a:t>
            </a:r>
            <a:endParaRPr b="0" sz="850">
              <a:solidFill>
                <a:srgbClr val="E8F4FD"/>
              </a:solidFill>
              <a:latin typeface="Calibri"/>
              <a:ea typeface="Calibri"/>
              <a:cs typeface="Calibri"/>
              <a:sym typeface="Calibri"/>
            </a:endParaRPr>
          </a:p>
        </p:txBody>
      </p:sp>
      <p:sp>
        <p:nvSpPr>
          <p:cNvPr id="148" name="Google Shape;148;p5"/>
          <p:cNvSpPr txBox="1"/>
          <p:nvPr/>
        </p:nvSpPr>
        <p:spPr>
          <a:xfrm>
            <a:off x="6267450" y="1190625"/>
            <a:ext cx="2552700" cy="3619500"/>
          </a:xfrm>
          <a:prstGeom prst="rect">
            <a:avLst/>
          </a:prstGeom>
          <a:solidFill>
            <a:srgbClr val="000000">
              <a:alpha val="0"/>
            </a:srgbClr>
          </a:solidFill>
          <a:ln>
            <a:noFill/>
          </a:ln>
        </p:spPr>
        <p:txBody>
          <a:bodyPr anchorCtr="0" anchor="t" bIns="0" lIns="0" spcFirstLastPara="1" rIns="0" wrap="square" tIns="47625">
            <a:noAutofit/>
          </a:bodyPr>
          <a:lstStyle/>
          <a:p>
            <a:pPr indent="0" lvl="0" marL="0" rtl="0" algn="l">
              <a:spcBef>
                <a:spcPts val="0"/>
              </a:spcBef>
              <a:spcAft>
                <a:spcPts val="0"/>
              </a:spcAft>
              <a:buNone/>
            </a:pPr>
            <a:r>
              <a:rPr b="1" lang="en-US" sz="850">
                <a:solidFill>
                  <a:schemeClr val="accent4"/>
                </a:solidFill>
                <a:latin typeface="Calibri"/>
                <a:ea typeface="Calibri"/>
                <a:cs typeface="Calibri"/>
                <a:sym typeface="Calibri"/>
              </a:rPr>
              <a:t>Decoupled Confidence Ceilings</a:t>
            </a:r>
            <a:endParaRPr b="1" sz="850">
              <a:solidFill>
                <a:schemeClr val="accent4"/>
              </a:solidFill>
              <a:latin typeface="Calibri"/>
              <a:ea typeface="Calibri"/>
              <a:cs typeface="Calibri"/>
              <a:sym typeface="Calibri"/>
            </a:endParaRPr>
          </a:p>
          <a:p>
            <a:pPr indent="0" lvl="0" marL="0" rtl="0" algn="l">
              <a:spcBef>
                <a:spcPts val="0"/>
              </a:spcBef>
              <a:spcAft>
                <a:spcPts val="0"/>
              </a:spcAft>
              <a:buNone/>
            </a:pPr>
            <a:r>
              <a:rPr lang="en-US" sz="850">
                <a:solidFill>
                  <a:srgbClr val="E8F4FD"/>
                </a:solidFill>
                <a:latin typeface="Calibri"/>
                <a:ea typeface="Calibri"/>
                <a:cs typeface="Calibri"/>
                <a:sym typeface="Calibri"/>
              </a:rPr>
              <a:t>SVP predicts quickly (max 47). VTAGE requires more validation (max 63) before overriding, suppressing noise.</a:t>
            </a:r>
            <a:endParaRPr sz="850">
              <a:solidFill>
                <a:srgbClr val="E8F4FD"/>
              </a:solidFill>
              <a:latin typeface="Calibri"/>
              <a:ea typeface="Calibri"/>
              <a:cs typeface="Calibri"/>
              <a:sym typeface="Calibri"/>
            </a:endParaRPr>
          </a:p>
          <a:p>
            <a:pPr indent="0" lvl="0" marL="0" rtl="0" algn="l">
              <a:spcBef>
                <a:spcPts val="0"/>
              </a:spcBef>
              <a:spcAft>
                <a:spcPts val="0"/>
              </a:spcAft>
              <a:buNone/>
            </a:pPr>
            <a:r>
              <a:t/>
            </a:r>
            <a:endParaRPr sz="850">
              <a:solidFill>
                <a:srgbClr val="E8F4FD"/>
              </a:solidFill>
              <a:latin typeface="Calibri"/>
              <a:ea typeface="Calibri"/>
              <a:cs typeface="Calibri"/>
              <a:sym typeface="Calibri"/>
            </a:endParaRPr>
          </a:p>
          <a:p>
            <a:pPr indent="0" lvl="0" marL="0" rtl="0" algn="l">
              <a:spcBef>
                <a:spcPts val="0"/>
              </a:spcBef>
              <a:spcAft>
                <a:spcPts val="0"/>
              </a:spcAft>
              <a:buNone/>
            </a:pPr>
            <a:r>
              <a:rPr b="1" lang="en-US" sz="850">
                <a:solidFill>
                  <a:srgbClr val="FFD166"/>
                </a:solidFill>
                <a:latin typeface="Calibri"/>
                <a:ea typeface="Calibri"/>
                <a:cs typeface="Calibri"/>
                <a:sym typeface="Calibri"/>
              </a:rPr>
              <a:t>5-Table History Sweep (3–54 branches)</a:t>
            </a:r>
            <a:endParaRPr b="1" sz="850">
              <a:solidFill>
                <a:srgbClr val="FFD166"/>
              </a:solidFill>
              <a:latin typeface="Calibri"/>
              <a:ea typeface="Calibri"/>
              <a:cs typeface="Calibri"/>
              <a:sym typeface="Calibri"/>
            </a:endParaRPr>
          </a:p>
          <a:p>
            <a:pPr indent="0" lvl="0" marL="0" rtl="0" algn="l">
              <a:spcBef>
                <a:spcPts val="0"/>
              </a:spcBef>
              <a:spcAft>
                <a:spcPts val="0"/>
              </a:spcAft>
              <a:buNone/>
            </a:pPr>
            <a:r>
              <a:rPr lang="en-US" sz="850">
                <a:solidFill>
                  <a:srgbClr val="E8F4FD"/>
                </a:solidFill>
                <a:latin typeface="Calibri"/>
                <a:ea typeface="Calibri"/>
                <a:cs typeface="Calibri"/>
                <a:sym typeface="Calibri"/>
              </a:rPr>
              <a:t>Five tables geometrically sweep history lengths from 3 to 54 branches, optimized for short loops to longer cross-function patterns within the 32KB budget.</a:t>
            </a:r>
            <a:endParaRPr sz="850">
              <a:solidFill>
                <a:srgbClr val="E8F4FD"/>
              </a:solidFill>
              <a:latin typeface="Calibri"/>
              <a:ea typeface="Calibri"/>
              <a:cs typeface="Calibri"/>
              <a:sym typeface="Calibri"/>
            </a:endParaRPr>
          </a:p>
          <a:p>
            <a:pPr indent="0" lvl="0" marL="0" rtl="0" algn="l">
              <a:spcBef>
                <a:spcPts val="0"/>
              </a:spcBef>
              <a:spcAft>
                <a:spcPts val="0"/>
              </a:spcAft>
              <a:buNone/>
            </a:pPr>
            <a:r>
              <a:t/>
            </a:r>
            <a:endParaRPr sz="850">
              <a:solidFill>
                <a:srgbClr val="E8F4FD"/>
              </a:solidFill>
              <a:latin typeface="Calibri"/>
              <a:ea typeface="Calibri"/>
              <a:cs typeface="Calibri"/>
              <a:sym typeface="Calibri"/>
            </a:endParaRPr>
          </a:p>
          <a:p>
            <a:pPr indent="0" lvl="0" marL="0" rtl="0" algn="l">
              <a:spcBef>
                <a:spcPts val="0"/>
              </a:spcBef>
              <a:spcAft>
                <a:spcPts val="0"/>
              </a:spcAft>
              <a:buNone/>
            </a:pPr>
            <a:r>
              <a:rPr b="1" lang="en-US" sz="850">
                <a:solidFill>
                  <a:srgbClr val="FFD166"/>
                </a:solidFill>
                <a:latin typeface="Calibri"/>
                <a:ea typeface="Calibri"/>
                <a:cs typeface="Calibri"/>
                <a:sym typeface="Calibri"/>
              </a:rPr>
              <a:t>32KB Capacity Allocation</a:t>
            </a:r>
            <a:endParaRPr b="1" sz="850">
              <a:solidFill>
                <a:srgbClr val="FFD166"/>
              </a:solidFill>
              <a:latin typeface="Calibri"/>
              <a:ea typeface="Calibri"/>
              <a:cs typeface="Calibri"/>
              <a:sym typeface="Calibri"/>
            </a:endParaRPr>
          </a:p>
          <a:p>
            <a:pPr indent="0" lvl="0" marL="0" rtl="0" algn="l">
              <a:spcBef>
                <a:spcPts val="0"/>
              </a:spcBef>
              <a:spcAft>
                <a:spcPts val="0"/>
              </a:spcAft>
              <a:buNone/>
            </a:pPr>
            <a:r>
              <a:rPr lang="en-US" sz="850">
                <a:solidFill>
                  <a:srgbClr val="E8F4FD"/>
                </a:solidFill>
                <a:latin typeface="Calibri"/>
                <a:ea typeface="Calibri"/>
                <a:cs typeface="Calibri"/>
                <a:sym typeface="Calibri"/>
              </a:rPr>
              <a:t>SVP and five VTAGE tables share a strict 32 KB storage budget.</a:t>
            </a:r>
            <a:endParaRPr sz="850">
              <a:solidFill>
                <a:srgbClr val="E8F4FD"/>
              </a:solidFill>
              <a:latin typeface="Calibri"/>
              <a:ea typeface="Calibri"/>
              <a:cs typeface="Calibri"/>
              <a:sym typeface="Calibri"/>
            </a:endParaRPr>
          </a:p>
          <a:p>
            <a:pPr indent="0" lvl="0" marL="0" rtl="0" algn="l">
              <a:spcBef>
                <a:spcPts val="0"/>
              </a:spcBef>
              <a:spcAft>
                <a:spcPts val="0"/>
              </a:spcAft>
              <a:buNone/>
            </a:pPr>
            <a:r>
              <a:t/>
            </a:r>
            <a:endParaRPr sz="850">
              <a:solidFill>
                <a:srgbClr val="E8F4FD"/>
              </a:solidFill>
              <a:latin typeface="Calibri"/>
              <a:ea typeface="Calibri"/>
              <a:cs typeface="Calibri"/>
              <a:sym typeface="Calibri"/>
            </a:endParaRPr>
          </a:p>
          <a:p>
            <a:pPr indent="0" lvl="0" marL="0" rtl="0" algn="l">
              <a:spcBef>
                <a:spcPts val="0"/>
              </a:spcBef>
              <a:spcAft>
                <a:spcPts val="0"/>
              </a:spcAft>
              <a:buNone/>
            </a:pPr>
            <a:r>
              <a:rPr b="1" lang="en-US" sz="850">
                <a:solidFill>
                  <a:srgbClr val="FFD166"/>
                </a:solidFill>
                <a:latin typeface="Calibri"/>
                <a:ea typeface="Calibri"/>
                <a:cs typeface="Calibri"/>
                <a:sym typeface="Calibri"/>
              </a:rPr>
              <a:t>VPQ Capacity Optimization</a:t>
            </a:r>
            <a:endParaRPr b="1" sz="850">
              <a:solidFill>
                <a:srgbClr val="FFD166"/>
              </a:solidFill>
              <a:latin typeface="Calibri"/>
              <a:ea typeface="Calibri"/>
              <a:cs typeface="Calibri"/>
              <a:sym typeface="Calibri"/>
            </a:endParaRPr>
          </a:p>
          <a:p>
            <a:pPr indent="0" lvl="0" marL="0" rtl="0" algn="l">
              <a:spcBef>
                <a:spcPts val="0"/>
              </a:spcBef>
              <a:spcAft>
                <a:spcPts val="0"/>
              </a:spcAft>
              <a:buNone/>
            </a:pPr>
            <a:r>
              <a:rPr lang="en-US" sz="850">
                <a:solidFill>
                  <a:srgbClr val="E8F4FD"/>
                </a:solidFill>
                <a:latin typeface="Calibri"/>
                <a:ea typeface="Calibri"/>
                <a:cs typeface="Calibri"/>
                <a:sym typeface="Calibri"/>
              </a:rPr>
              <a:t>The Value Prediction Queue (VPQ) is locked at 256 entries. Increasing to 300 entries showed minimal IPC gains, so capacity was capped and reallocated to VTAGE tables.</a:t>
            </a:r>
            <a:endParaRPr sz="850">
              <a:solidFill>
                <a:srgbClr val="E8F4FD"/>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 name="Shape 153"/>
        <p:cNvGrpSpPr/>
        <p:nvPr/>
      </p:nvGrpSpPr>
      <p:grpSpPr>
        <a:xfrm>
          <a:off x="0" y="0"/>
          <a:ext cx="0" cy="0"/>
          <a:chOff x="0" y="0"/>
          <a:chExt cx="0" cy="0"/>
        </a:xfrm>
      </p:grpSpPr>
      <p:sp>
        <p:nvSpPr>
          <p:cNvPr id="154" name="Google Shape;154;p6"/>
          <p:cNvSpPr/>
          <p:nvPr/>
        </p:nvSpPr>
        <p:spPr>
          <a:xfrm>
            <a:off x="0" y="0"/>
            <a:ext cx="9144000" cy="50292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p:nvPr/>
        </p:nvSpPr>
        <p:spPr>
          <a:xfrm>
            <a:off x="365760" y="73152"/>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Championship Configuration</a:t>
            </a:r>
            <a:endParaRPr sz="2200">
              <a:solidFill>
                <a:schemeClr val="dk1"/>
              </a:solidFill>
              <a:latin typeface="Calibri"/>
              <a:ea typeface="Calibri"/>
              <a:cs typeface="Calibri"/>
              <a:sym typeface="Calibri"/>
            </a:endParaRPr>
          </a:p>
        </p:txBody>
      </p:sp>
      <p:sp>
        <p:nvSpPr>
          <p:cNvPr id="156" name="Google Shape;156;p6"/>
          <p:cNvSpPr/>
          <p:nvPr/>
        </p:nvSpPr>
        <p:spPr>
          <a:xfrm>
            <a:off x="274320" y="621792"/>
            <a:ext cx="8595360" cy="548640"/>
          </a:xfrm>
          <a:prstGeom prst="rect">
            <a:avLst/>
          </a:prstGeom>
          <a:solidFill>
            <a:srgbClr val="0A0F1A"/>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7" name="Google Shape;157;p6"/>
          <p:cNvSpPr/>
          <p:nvPr/>
        </p:nvSpPr>
        <p:spPr>
          <a:xfrm>
            <a:off x="365760" y="649224"/>
            <a:ext cx="841248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F5D4"/>
              </a:buClr>
              <a:buSzPts val="1600"/>
              <a:buFont typeface="Consolas"/>
              <a:buNone/>
            </a:pPr>
            <a:r>
              <a:rPr b="1" lang="en-US" sz="1600">
                <a:solidFill>
                  <a:srgbClr val="00F5D4"/>
                </a:solidFill>
                <a:latin typeface="Consolas"/>
                <a:ea typeface="Consolas"/>
                <a:cs typeface="Consolas"/>
                <a:sym typeface="Consolas"/>
              </a:rPr>
              <a:t>--vp-vtage=256,10,10,47,5,3,54,63,8,11,1</a:t>
            </a:r>
            <a:endParaRPr sz="1600">
              <a:solidFill>
                <a:schemeClr val="dk1"/>
              </a:solidFill>
              <a:latin typeface="Calibri"/>
              <a:ea typeface="Calibri"/>
              <a:cs typeface="Calibri"/>
              <a:sym typeface="Calibri"/>
            </a:endParaRPr>
          </a:p>
        </p:txBody>
      </p:sp>
      <p:sp>
        <p:nvSpPr>
          <p:cNvPr id="158" name="Google Shape;158;p6"/>
          <p:cNvSpPr/>
          <p:nvPr/>
        </p:nvSpPr>
        <p:spPr>
          <a:xfrm>
            <a:off x="274320" y="1261872"/>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6"/>
          <p:cNvSpPr/>
          <p:nvPr/>
        </p:nvSpPr>
        <p:spPr>
          <a:xfrm>
            <a:off x="365760" y="1335024"/>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VPQ Size</a:t>
            </a:r>
            <a:endParaRPr sz="1050">
              <a:solidFill>
                <a:schemeClr val="dk1"/>
              </a:solidFill>
              <a:latin typeface="Calibri"/>
              <a:ea typeface="Calibri"/>
              <a:cs typeface="Calibri"/>
              <a:sym typeface="Calibri"/>
            </a:endParaRPr>
          </a:p>
        </p:txBody>
      </p:sp>
      <p:sp>
        <p:nvSpPr>
          <p:cNvPr id="160" name="Google Shape;160;p6"/>
          <p:cNvSpPr/>
          <p:nvPr/>
        </p:nvSpPr>
        <p:spPr>
          <a:xfrm>
            <a:off x="1737360" y="1335024"/>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256</a:t>
            </a:r>
            <a:endParaRPr sz="1300">
              <a:solidFill>
                <a:schemeClr val="dk1"/>
              </a:solidFill>
              <a:latin typeface="Calibri"/>
              <a:ea typeface="Calibri"/>
              <a:cs typeface="Calibri"/>
              <a:sym typeface="Calibri"/>
            </a:endParaRPr>
          </a:p>
        </p:txBody>
      </p:sp>
      <p:sp>
        <p:nvSpPr>
          <p:cNvPr id="161" name="Google Shape;161;p6"/>
          <p:cNvSpPr/>
          <p:nvPr/>
        </p:nvSpPr>
        <p:spPr>
          <a:xfrm>
            <a:off x="2377440" y="1353312"/>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256 in-flight prediction slots</a:t>
            </a:r>
            <a:endParaRPr sz="950">
              <a:solidFill>
                <a:schemeClr val="dk1"/>
              </a:solidFill>
              <a:latin typeface="Calibri"/>
              <a:ea typeface="Calibri"/>
              <a:cs typeface="Calibri"/>
              <a:sym typeface="Calibri"/>
            </a:endParaRPr>
          </a:p>
        </p:txBody>
      </p:sp>
      <p:sp>
        <p:nvSpPr>
          <p:cNvPr id="162" name="Google Shape;162;p6"/>
          <p:cNvSpPr/>
          <p:nvPr/>
        </p:nvSpPr>
        <p:spPr>
          <a:xfrm>
            <a:off x="274320" y="1837944"/>
            <a:ext cx="4160520" cy="502920"/>
          </a:xfrm>
          <a:prstGeom prst="rect">
            <a:avLst/>
          </a:prstGeom>
          <a:solidFill>
            <a:srgbClr val="0A1628"/>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3" name="Google Shape;163;p6"/>
          <p:cNvSpPr/>
          <p:nvPr/>
        </p:nvSpPr>
        <p:spPr>
          <a:xfrm>
            <a:off x="365760" y="1911096"/>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SVP Index Bits</a:t>
            </a:r>
            <a:endParaRPr sz="1050">
              <a:solidFill>
                <a:schemeClr val="dk1"/>
              </a:solidFill>
              <a:latin typeface="Calibri"/>
              <a:ea typeface="Calibri"/>
              <a:cs typeface="Calibri"/>
              <a:sym typeface="Calibri"/>
            </a:endParaRPr>
          </a:p>
        </p:txBody>
      </p:sp>
      <p:sp>
        <p:nvSpPr>
          <p:cNvPr id="164" name="Google Shape;164;p6"/>
          <p:cNvSpPr/>
          <p:nvPr/>
        </p:nvSpPr>
        <p:spPr>
          <a:xfrm>
            <a:off x="1737360" y="1911096"/>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10</a:t>
            </a:r>
            <a:endParaRPr sz="1300">
              <a:solidFill>
                <a:schemeClr val="dk1"/>
              </a:solidFill>
              <a:latin typeface="Calibri"/>
              <a:ea typeface="Calibri"/>
              <a:cs typeface="Calibri"/>
              <a:sym typeface="Calibri"/>
            </a:endParaRPr>
          </a:p>
        </p:txBody>
      </p:sp>
      <p:sp>
        <p:nvSpPr>
          <p:cNvPr id="165" name="Google Shape;165;p6"/>
          <p:cNvSpPr/>
          <p:nvPr/>
        </p:nvSpPr>
        <p:spPr>
          <a:xfrm>
            <a:off x="2377440" y="1929384"/>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1,024 SVP table entries</a:t>
            </a:r>
            <a:endParaRPr sz="950">
              <a:solidFill>
                <a:schemeClr val="dk1"/>
              </a:solidFill>
              <a:latin typeface="Calibri"/>
              <a:ea typeface="Calibri"/>
              <a:cs typeface="Calibri"/>
              <a:sym typeface="Calibri"/>
            </a:endParaRPr>
          </a:p>
        </p:txBody>
      </p:sp>
      <p:sp>
        <p:nvSpPr>
          <p:cNvPr id="166" name="Google Shape;166;p6"/>
          <p:cNvSpPr/>
          <p:nvPr/>
        </p:nvSpPr>
        <p:spPr>
          <a:xfrm>
            <a:off x="274320" y="2414016"/>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7" name="Google Shape;167;p6"/>
          <p:cNvSpPr/>
          <p:nvPr/>
        </p:nvSpPr>
        <p:spPr>
          <a:xfrm>
            <a:off x="365760" y="2487168"/>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SVP Tag Bits</a:t>
            </a:r>
            <a:endParaRPr sz="1050">
              <a:solidFill>
                <a:schemeClr val="dk1"/>
              </a:solidFill>
              <a:latin typeface="Calibri"/>
              <a:ea typeface="Calibri"/>
              <a:cs typeface="Calibri"/>
              <a:sym typeface="Calibri"/>
            </a:endParaRPr>
          </a:p>
        </p:txBody>
      </p:sp>
      <p:sp>
        <p:nvSpPr>
          <p:cNvPr id="168" name="Google Shape;168;p6"/>
          <p:cNvSpPr/>
          <p:nvPr/>
        </p:nvSpPr>
        <p:spPr>
          <a:xfrm>
            <a:off x="1737360" y="2487168"/>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10</a:t>
            </a:r>
            <a:endParaRPr sz="1300">
              <a:solidFill>
                <a:schemeClr val="dk1"/>
              </a:solidFill>
              <a:latin typeface="Calibri"/>
              <a:ea typeface="Calibri"/>
              <a:cs typeface="Calibri"/>
              <a:sym typeface="Calibri"/>
            </a:endParaRPr>
          </a:p>
        </p:txBody>
      </p:sp>
      <p:sp>
        <p:nvSpPr>
          <p:cNvPr id="169" name="Google Shape;169;p6"/>
          <p:cNvSpPr/>
          <p:nvPr/>
        </p:nvSpPr>
        <p:spPr>
          <a:xfrm>
            <a:off x="2377440" y="2505456"/>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Tag precision for SVP lookup</a:t>
            </a:r>
            <a:endParaRPr sz="950">
              <a:solidFill>
                <a:schemeClr val="dk1"/>
              </a:solidFill>
              <a:latin typeface="Calibri"/>
              <a:ea typeface="Calibri"/>
              <a:cs typeface="Calibri"/>
              <a:sym typeface="Calibri"/>
            </a:endParaRPr>
          </a:p>
        </p:txBody>
      </p:sp>
      <p:sp>
        <p:nvSpPr>
          <p:cNvPr id="170" name="Google Shape;170;p6"/>
          <p:cNvSpPr/>
          <p:nvPr/>
        </p:nvSpPr>
        <p:spPr>
          <a:xfrm>
            <a:off x="274320" y="2990088"/>
            <a:ext cx="4160520" cy="502920"/>
          </a:xfrm>
          <a:prstGeom prst="rect">
            <a:avLst/>
          </a:prstGeom>
          <a:solidFill>
            <a:srgbClr val="0A1628"/>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6"/>
          <p:cNvSpPr/>
          <p:nvPr/>
        </p:nvSpPr>
        <p:spPr>
          <a:xfrm>
            <a:off x="365760" y="3063240"/>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SVP Conf Max</a:t>
            </a:r>
            <a:endParaRPr sz="1050">
              <a:solidFill>
                <a:schemeClr val="dk1"/>
              </a:solidFill>
              <a:latin typeface="Calibri"/>
              <a:ea typeface="Calibri"/>
              <a:cs typeface="Calibri"/>
              <a:sym typeface="Calibri"/>
            </a:endParaRPr>
          </a:p>
        </p:txBody>
      </p:sp>
      <p:sp>
        <p:nvSpPr>
          <p:cNvPr id="172" name="Google Shape;172;p6"/>
          <p:cNvSpPr/>
          <p:nvPr/>
        </p:nvSpPr>
        <p:spPr>
          <a:xfrm>
            <a:off x="1737360" y="3063240"/>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47</a:t>
            </a:r>
            <a:endParaRPr sz="1300">
              <a:solidFill>
                <a:schemeClr val="dk1"/>
              </a:solidFill>
              <a:latin typeface="Calibri"/>
              <a:ea typeface="Calibri"/>
              <a:cs typeface="Calibri"/>
              <a:sym typeface="Calibri"/>
            </a:endParaRPr>
          </a:p>
        </p:txBody>
      </p:sp>
      <p:sp>
        <p:nvSpPr>
          <p:cNvPr id="173" name="Google Shape;173;p6"/>
          <p:cNvSpPr/>
          <p:nvPr/>
        </p:nvSpPr>
        <p:spPr>
          <a:xfrm>
            <a:off x="2377440" y="3081528"/>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SVP fires sooner — helps structured workloads like perlbench &amp; h264ref</a:t>
            </a:r>
            <a:endParaRPr sz="950">
              <a:solidFill>
                <a:schemeClr val="dk1"/>
              </a:solidFill>
              <a:latin typeface="Calibri"/>
              <a:ea typeface="Calibri"/>
              <a:cs typeface="Calibri"/>
              <a:sym typeface="Calibri"/>
            </a:endParaRPr>
          </a:p>
        </p:txBody>
      </p:sp>
      <p:sp>
        <p:nvSpPr>
          <p:cNvPr id="174" name="Google Shape;174;p6"/>
          <p:cNvSpPr/>
          <p:nvPr/>
        </p:nvSpPr>
        <p:spPr>
          <a:xfrm>
            <a:off x="274320" y="3566160"/>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6"/>
          <p:cNvSpPr/>
          <p:nvPr/>
        </p:nvSpPr>
        <p:spPr>
          <a:xfrm>
            <a:off x="365760" y="3639312"/>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VTAGE Tables (N)</a:t>
            </a:r>
            <a:endParaRPr sz="1050">
              <a:solidFill>
                <a:schemeClr val="dk1"/>
              </a:solidFill>
              <a:latin typeface="Calibri"/>
              <a:ea typeface="Calibri"/>
              <a:cs typeface="Calibri"/>
              <a:sym typeface="Calibri"/>
            </a:endParaRPr>
          </a:p>
        </p:txBody>
      </p:sp>
      <p:sp>
        <p:nvSpPr>
          <p:cNvPr id="176" name="Google Shape;176;p6"/>
          <p:cNvSpPr/>
          <p:nvPr/>
        </p:nvSpPr>
        <p:spPr>
          <a:xfrm>
            <a:off x="1737360" y="3639312"/>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5</a:t>
            </a:r>
            <a:endParaRPr sz="1300">
              <a:solidFill>
                <a:schemeClr val="dk1"/>
              </a:solidFill>
              <a:latin typeface="Calibri"/>
              <a:ea typeface="Calibri"/>
              <a:cs typeface="Calibri"/>
              <a:sym typeface="Calibri"/>
            </a:endParaRPr>
          </a:p>
        </p:txBody>
      </p:sp>
      <p:sp>
        <p:nvSpPr>
          <p:cNvPr id="177" name="Google Shape;177;p6"/>
          <p:cNvSpPr/>
          <p:nvPr/>
        </p:nvSpPr>
        <p:spPr>
          <a:xfrm>
            <a:off x="2377440" y="3657600"/>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Five tables with geometrically spaced history lengths</a:t>
            </a:r>
            <a:endParaRPr sz="950">
              <a:solidFill>
                <a:schemeClr val="dk1"/>
              </a:solidFill>
              <a:latin typeface="Calibri"/>
              <a:ea typeface="Calibri"/>
              <a:cs typeface="Calibri"/>
              <a:sym typeface="Calibri"/>
            </a:endParaRPr>
          </a:p>
        </p:txBody>
      </p:sp>
      <p:sp>
        <p:nvSpPr>
          <p:cNvPr id="178" name="Google Shape;178;p6"/>
          <p:cNvSpPr/>
          <p:nvPr/>
        </p:nvSpPr>
        <p:spPr>
          <a:xfrm>
            <a:off x="274320" y="4142232"/>
            <a:ext cx="4160520" cy="502920"/>
          </a:xfrm>
          <a:prstGeom prst="rect">
            <a:avLst/>
          </a:prstGeom>
          <a:solidFill>
            <a:srgbClr val="0A1628"/>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6"/>
          <p:cNvSpPr/>
          <p:nvPr/>
        </p:nvSpPr>
        <p:spPr>
          <a:xfrm>
            <a:off x="365760" y="4215384"/>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Min History</a:t>
            </a:r>
            <a:endParaRPr sz="1050">
              <a:solidFill>
                <a:schemeClr val="dk1"/>
              </a:solidFill>
              <a:latin typeface="Calibri"/>
              <a:ea typeface="Calibri"/>
              <a:cs typeface="Calibri"/>
              <a:sym typeface="Calibri"/>
            </a:endParaRPr>
          </a:p>
        </p:txBody>
      </p:sp>
      <p:sp>
        <p:nvSpPr>
          <p:cNvPr id="180" name="Google Shape;180;p6"/>
          <p:cNvSpPr/>
          <p:nvPr/>
        </p:nvSpPr>
        <p:spPr>
          <a:xfrm>
            <a:off x="1737360" y="4215384"/>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3</a:t>
            </a:r>
            <a:endParaRPr sz="1300">
              <a:solidFill>
                <a:schemeClr val="dk1"/>
              </a:solidFill>
              <a:latin typeface="Calibri"/>
              <a:ea typeface="Calibri"/>
              <a:cs typeface="Calibri"/>
              <a:sym typeface="Calibri"/>
            </a:endParaRPr>
          </a:p>
        </p:txBody>
      </p:sp>
      <p:sp>
        <p:nvSpPr>
          <p:cNvPr id="181" name="Google Shape;181;p6"/>
          <p:cNvSpPr/>
          <p:nvPr/>
        </p:nvSpPr>
        <p:spPr>
          <a:xfrm>
            <a:off x="2377440" y="4233672"/>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Shortest history: captures innermost loops</a:t>
            </a:r>
            <a:endParaRPr sz="950">
              <a:solidFill>
                <a:schemeClr val="dk1"/>
              </a:solidFill>
              <a:latin typeface="Calibri"/>
              <a:ea typeface="Calibri"/>
              <a:cs typeface="Calibri"/>
              <a:sym typeface="Calibri"/>
            </a:endParaRPr>
          </a:p>
        </p:txBody>
      </p:sp>
      <p:sp>
        <p:nvSpPr>
          <p:cNvPr id="182" name="Google Shape;182;p6"/>
          <p:cNvSpPr/>
          <p:nvPr/>
        </p:nvSpPr>
        <p:spPr>
          <a:xfrm>
            <a:off x="4663440" y="1261872"/>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3" name="Google Shape;183;p6"/>
          <p:cNvSpPr/>
          <p:nvPr/>
        </p:nvSpPr>
        <p:spPr>
          <a:xfrm>
            <a:off x="4754880" y="1335024"/>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Max History</a:t>
            </a:r>
            <a:endParaRPr sz="1050">
              <a:solidFill>
                <a:schemeClr val="dk1"/>
              </a:solidFill>
              <a:latin typeface="Calibri"/>
              <a:ea typeface="Calibri"/>
              <a:cs typeface="Calibri"/>
              <a:sym typeface="Calibri"/>
            </a:endParaRPr>
          </a:p>
        </p:txBody>
      </p:sp>
      <p:sp>
        <p:nvSpPr>
          <p:cNvPr id="184" name="Google Shape;184;p6"/>
          <p:cNvSpPr/>
          <p:nvPr/>
        </p:nvSpPr>
        <p:spPr>
          <a:xfrm>
            <a:off x="6126480" y="1335024"/>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54</a:t>
            </a:r>
            <a:endParaRPr sz="1300">
              <a:solidFill>
                <a:schemeClr val="dk1"/>
              </a:solidFill>
              <a:latin typeface="Calibri"/>
              <a:ea typeface="Calibri"/>
              <a:cs typeface="Calibri"/>
              <a:sym typeface="Calibri"/>
            </a:endParaRPr>
          </a:p>
        </p:txBody>
      </p:sp>
      <p:sp>
        <p:nvSpPr>
          <p:cNvPr id="185" name="Google Shape;185;p6"/>
          <p:cNvSpPr/>
          <p:nvPr/>
        </p:nvSpPr>
        <p:spPr>
          <a:xfrm>
            <a:off x="6766560" y="1353312"/>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Longest history: captures function-level context</a:t>
            </a:r>
            <a:endParaRPr sz="950">
              <a:solidFill>
                <a:schemeClr val="dk1"/>
              </a:solidFill>
              <a:latin typeface="Calibri"/>
              <a:ea typeface="Calibri"/>
              <a:cs typeface="Calibri"/>
              <a:sym typeface="Calibri"/>
            </a:endParaRPr>
          </a:p>
        </p:txBody>
      </p:sp>
      <p:sp>
        <p:nvSpPr>
          <p:cNvPr id="186" name="Google Shape;186;p6"/>
          <p:cNvSpPr/>
          <p:nvPr/>
        </p:nvSpPr>
        <p:spPr>
          <a:xfrm>
            <a:off x="4663440" y="1837944"/>
            <a:ext cx="4160520" cy="502920"/>
          </a:xfrm>
          <a:prstGeom prst="rect">
            <a:avLst/>
          </a:prstGeom>
          <a:solidFill>
            <a:srgbClr val="0A1628"/>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7" name="Google Shape;187;p6"/>
          <p:cNvSpPr/>
          <p:nvPr/>
        </p:nvSpPr>
        <p:spPr>
          <a:xfrm>
            <a:off x="4754880" y="1911096"/>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VTAGE Conf Max</a:t>
            </a:r>
            <a:endParaRPr sz="1050">
              <a:solidFill>
                <a:schemeClr val="dk1"/>
              </a:solidFill>
              <a:latin typeface="Calibri"/>
              <a:ea typeface="Calibri"/>
              <a:cs typeface="Calibri"/>
              <a:sym typeface="Calibri"/>
            </a:endParaRPr>
          </a:p>
        </p:txBody>
      </p:sp>
      <p:sp>
        <p:nvSpPr>
          <p:cNvPr id="188" name="Google Shape;188;p6"/>
          <p:cNvSpPr/>
          <p:nvPr/>
        </p:nvSpPr>
        <p:spPr>
          <a:xfrm>
            <a:off x="6126480" y="1911096"/>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63</a:t>
            </a:r>
            <a:endParaRPr sz="1300">
              <a:solidFill>
                <a:schemeClr val="dk1"/>
              </a:solidFill>
              <a:latin typeface="Calibri"/>
              <a:ea typeface="Calibri"/>
              <a:cs typeface="Calibri"/>
              <a:sym typeface="Calibri"/>
            </a:endParaRPr>
          </a:p>
        </p:txBody>
      </p:sp>
      <p:sp>
        <p:nvSpPr>
          <p:cNvPr id="189" name="Google Shape;189;p6"/>
          <p:cNvSpPr/>
          <p:nvPr/>
        </p:nvSpPr>
        <p:spPr>
          <a:xfrm>
            <a:off x="6766560" y="1929384"/>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High confidence bar with probabilistic training</a:t>
            </a:r>
            <a:endParaRPr sz="950">
              <a:solidFill>
                <a:schemeClr val="dk1"/>
              </a:solidFill>
              <a:latin typeface="Calibri"/>
              <a:ea typeface="Calibri"/>
              <a:cs typeface="Calibri"/>
              <a:sym typeface="Calibri"/>
            </a:endParaRPr>
          </a:p>
        </p:txBody>
      </p:sp>
      <p:sp>
        <p:nvSpPr>
          <p:cNvPr id="190" name="Google Shape;190;p6"/>
          <p:cNvSpPr/>
          <p:nvPr/>
        </p:nvSpPr>
        <p:spPr>
          <a:xfrm>
            <a:off x="4663440" y="2414016"/>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1" name="Google Shape;191;p6"/>
          <p:cNvSpPr/>
          <p:nvPr/>
        </p:nvSpPr>
        <p:spPr>
          <a:xfrm>
            <a:off x="4754880" y="2487168"/>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VTAGE Index Bits</a:t>
            </a:r>
            <a:endParaRPr sz="1050">
              <a:solidFill>
                <a:schemeClr val="dk1"/>
              </a:solidFill>
              <a:latin typeface="Calibri"/>
              <a:ea typeface="Calibri"/>
              <a:cs typeface="Calibri"/>
              <a:sym typeface="Calibri"/>
            </a:endParaRPr>
          </a:p>
        </p:txBody>
      </p:sp>
      <p:sp>
        <p:nvSpPr>
          <p:cNvPr id="192" name="Google Shape;192;p6"/>
          <p:cNvSpPr/>
          <p:nvPr/>
        </p:nvSpPr>
        <p:spPr>
          <a:xfrm>
            <a:off x="6126480" y="2487168"/>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8</a:t>
            </a:r>
            <a:endParaRPr sz="1300">
              <a:solidFill>
                <a:schemeClr val="dk1"/>
              </a:solidFill>
              <a:latin typeface="Calibri"/>
              <a:ea typeface="Calibri"/>
              <a:cs typeface="Calibri"/>
              <a:sym typeface="Calibri"/>
            </a:endParaRPr>
          </a:p>
        </p:txBody>
      </p:sp>
      <p:sp>
        <p:nvSpPr>
          <p:cNvPr id="193" name="Google Shape;193;p6"/>
          <p:cNvSpPr/>
          <p:nvPr/>
        </p:nvSpPr>
        <p:spPr>
          <a:xfrm>
            <a:off x="6766560" y="2505456"/>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256 entries per VTAGE table</a:t>
            </a:r>
            <a:endParaRPr sz="950">
              <a:solidFill>
                <a:schemeClr val="dk1"/>
              </a:solidFill>
              <a:latin typeface="Calibri"/>
              <a:ea typeface="Calibri"/>
              <a:cs typeface="Calibri"/>
              <a:sym typeface="Calibri"/>
            </a:endParaRPr>
          </a:p>
        </p:txBody>
      </p:sp>
      <p:sp>
        <p:nvSpPr>
          <p:cNvPr id="194" name="Google Shape;194;p6"/>
          <p:cNvSpPr/>
          <p:nvPr/>
        </p:nvSpPr>
        <p:spPr>
          <a:xfrm>
            <a:off x="4663440" y="2990088"/>
            <a:ext cx="4160520" cy="502920"/>
          </a:xfrm>
          <a:prstGeom prst="rect">
            <a:avLst/>
          </a:prstGeom>
          <a:solidFill>
            <a:srgbClr val="0A1628"/>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5" name="Google Shape;195;p6"/>
          <p:cNvSpPr/>
          <p:nvPr/>
        </p:nvSpPr>
        <p:spPr>
          <a:xfrm>
            <a:off x="4754880" y="3063240"/>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VTAGE Tag Bits</a:t>
            </a:r>
            <a:endParaRPr sz="1050">
              <a:solidFill>
                <a:schemeClr val="dk1"/>
              </a:solidFill>
              <a:latin typeface="Calibri"/>
              <a:ea typeface="Calibri"/>
              <a:cs typeface="Calibri"/>
              <a:sym typeface="Calibri"/>
            </a:endParaRPr>
          </a:p>
        </p:txBody>
      </p:sp>
      <p:sp>
        <p:nvSpPr>
          <p:cNvPr id="196" name="Google Shape;196;p6"/>
          <p:cNvSpPr/>
          <p:nvPr/>
        </p:nvSpPr>
        <p:spPr>
          <a:xfrm>
            <a:off x="6126480" y="3063240"/>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11</a:t>
            </a:r>
            <a:endParaRPr sz="1300">
              <a:solidFill>
                <a:schemeClr val="dk1"/>
              </a:solidFill>
              <a:latin typeface="Calibri"/>
              <a:ea typeface="Calibri"/>
              <a:cs typeface="Calibri"/>
              <a:sym typeface="Calibri"/>
            </a:endParaRPr>
          </a:p>
        </p:txBody>
      </p:sp>
      <p:sp>
        <p:nvSpPr>
          <p:cNvPr id="197" name="Google Shape;197;p6"/>
          <p:cNvSpPr/>
          <p:nvPr/>
        </p:nvSpPr>
        <p:spPr>
          <a:xfrm>
            <a:off x="6766560" y="3081528"/>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Precise tag matching — reduces aliasing</a:t>
            </a:r>
            <a:endParaRPr sz="950">
              <a:solidFill>
                <a:schemeClr val="dk1"/>
              </a:solidFill>
              <a:latin typeface="Calibri"/>
              <a:ea typeface="Calibri"/>
              <a:cs typeface="Calibri"/>
              <a:sym typeface="Calibri"/>
            </a:endParaRPr>
          </a:p>
        </p:txBody>
      </p:sp>
      <p:sp>
        <p:nvSpPr>
          <p:cNvPr id="198" name="Google Shape;198;p6"/>
          <p:cNvSpPr/>
          <p:nvPr/>
        </p:nvSpPr>
        <p:spPr>
          <a:xfrm>
            <a:off x="4663440" y="3566160"/>
            <a:ext cx="4160520" cy="50292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6"/>
          <p:cNvSpPr/>
          <p:nvPr/>
        </p:nvSpPr>
        <p:spPr>
          <a:xfrm>
            <a:off x="4754880" y="3639312"/>
            <a:ext cx="137160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B4D8"/>
              </a:buClr>
              <a:buSzPts val="1050"/>
              <a:buFont typeface="Calibri"/>
              <a:buNone/>
            </a:pPr>
            <a:r>
              <a:rPr b="1" lang="en-US" sz="1050">
                <a:solidFill>
                  <a:srgbClr val="00B4D8"/>
                </a:solidFill>
                <a:latin typeface="Calibri"/>
                <a:ea typeface="Calibri"/>
                <a:cs typeface="Calibri"/>
                <a:sym typeface="Calibri"/>
              </a:rPr>
              <a:t>e_mode</a:t>
            </a:r>
            <a:endParaRPr sz="1050">
              <a:solidFill>
                <a:schemeClr val="dk1"/>
              </a:solidFill>
              <a:latin typeface="Calibri"/>
              <a:ea typeface="Calibri"/>
              <a:cs typeface="Calibri"/>
              <a:sym typeface="Calibri"/>
            </a:endParaRPr>
          </a:p>
        </p:txBody>
      </p:sp>
      <p:sp>
        <p:nvSpPr>
          <p:cNvPr id="200" name="Google Shape;200;p6"/>
          <p:cNvSpPr/>
          <p:nvPr/>
        </p:nvSpPr>
        <p:spPr>
          <a:xfrm>
            <a:off x="6126480" y="3639312"/>
            <a:ext cx="640080" cy="34747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300"/>
              <a:buFont typeface="Consolas"/>
              <a:buNone/>
            </a:pPr>
            <a:r>
              <a:rPr b="1" lang="en-US" sz="1300">
                <a:solidFill>
                  <a:srgbClr val="FFD166"/>
                </a:solidFill>
                <a:latin typeface="Consolas"/>
                <a:ea typeface="Consolas"/>
                <a:cs typeface="Consolas"/>
                <a:sym typeface="Consolas"/>
              </a:rPr>
              <a:t>ON</a:t>
            </a:r>
            <a:endParaRPr sz="1300">
              <a:solidFill>
                <a:schemeClr val="dk1"/>
              </a:solidFill>
              <a:latin typeface="Calibri"/>
              <a:ea typeface="Calibri"/>
              <a:cs typeface="Calibri"/>
              <a:sym typeface="Calibri"/>
            </a:endParaRPr>
          </a:p>
        </p:txBody>
      </p:sp>
      <p:sp>
        <p:nvSpPr>
          <p:cNvPr id="201" name="Google Shape;201;p6"/>
          <p:cNvSpPr/>
          <p:nvPr/>
        </p:nvSpPr>
        <p:spPr>
          <a:xfrm>
            <a:off x="6766560" y="3657600"/>
            <a:ext cx="201168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950"/>
              <a:buFont typeface="Calibri"/>
              <a:buNone/>
            </a:pPr>
            <a:r>
              <a:rPr lang="en-US" sz="950">
                <a:solidFill>
                  <a:srgbClr val="8EACC4"/>
                </a:solidFill>
                <a:latin typeface="Calibri"/>
                <a:ea typeface="Calibri"/>
                <a:cs typeface="Calibri"/>
                <a:sym typeface="Calibri"/>
              </a:rPr>
              <a:t>Instruction-type-aware training rates enabled</a:t>
            </a:r>
            <a:endParaRPr sz="950">
              <a:solidFill>
                <a:schemeClr val="dk1"/>
              </a:solidFill>
              <a:latin typeface="Calibri"/>
              <a:ea typeface="Calibri"/>
              <a:cs typeface="Calibri"/>
              <a:sym typeface="Calibri"/>
            </a:endParaRPr>
          </a:p>
        </p:txBody>
      </p:sp>
      <p:sp>
        <p:nvSpPr>
          <p:cNvPr id="202" name="Google Shape;202;p6"/>
          <p:cNvSpPr/>
          <p:nvPr/>
        </p:nvSpPr>
        <p:spPr>
          <a:xfrm>
            <a:off x="274320" y="4690872"/>
            <a:ext cx="8595360" cy="347472"/>
          </a:xfrm>
          <a:prstGeom prst="rect">
            <a:avLst/>
          </a:prstGeom>
          <a:solidFill>
            <a:srgbClr val="0A1A0A"/>
          </a:solidFill>
          <a:ln cap="flat" cmpd="sng" w="1905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3" name="Google Shape;203;p6"/>
          <p:cNvSpPr/>
          <p:nvPr/>
        </p:nvSpPr>
        <p:spPr>
          <a:xfrm>
            <a:off x="365760" y="4727448"/>
            <a:ext cx="8412480" cy="2743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6D6A0"/>
              </a:buClr>
              <a:buSzPts val="1200"/>
              <a:buFont typeface="Calibri"/>
              <a:buNone/>
            </a:pPr>
            <a:r>
              <a:rPr b="1" lang="en-US" sz="1200">
                <a:solidFill>
                  <a:srgbClr val="06D6A0"/>
                </a:solidFill>
                <a:latin typeface="Calibri"/>
                <a:ea typeface="Calibri"/>
                <a:cs typeface="Calibri"/>
                <a:sym typeface="Calibri"/>
              </a:rPr>
              <a:t>Storage Budget: TOTAL = 31.97 KB  |  BUDGET = 32 KB</a:t>
            </a:r>
            <a:endParaRPr sz="1200">
              <a:solidFill>
                <a:schemeClr val="dk1"/>
              </a:solidFill>
              <a:latin typeface="Calibri"/>
              <a:ea typeface="Calibri"/>
              <a:cs typeface="Calibri"/>
              <a:sym typeface="Calibri"/>
            </a:endParaRPr>
          </a:p>
        </p:txBody>
      </p:sp>
      <p:sp>
        <p:nvSpPr>
          <p:cNvPr id="204" name="Google Shape;204;p6"/>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09" name="Shape 209"/>
        <p:cNvGrpSpPr/>
        <p:nvPr/>
      </p:nvGrpSpPr>
      <p:grpSpPr>
        <a:xfrm>
          <a:off x="0" y="0"/>
          <a:ext cx="0" cy="0"/>
          <a:chOff x="0" y="0"/>
          <a:chExt cx="0" cy="0"/>
        </a:xfrm>
      </p:grpSpPr>
      <p:sp>
        <p:nvSpPr>
          <p:cNvPr id="210" name="Google Shape;210;p7"/>
          <p:cNvSpPr/>
          <p:nvPr/>
        </p:nvSpPr>
        <p:spPr>
          <a:xfrm>
            <a:off x="0" y="0"/>
            <a:ext cx="9144000" cy="50292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7"/>
          <p:cNvSpPr/>
          <p:nvPr/>
        </p:nvSpPr>
        <p:spPr>
          <a:xfrm>
            <a:off x="365760" y="73152"/>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IPC Results — Championship Run</a:t>
            </a:r>
            <a:endParaRPr sz="2200">
              <a:solidFill>
                <a:schemeClr val="dk1"/>
              </a:solidFill>
              <a:latin typeface="Calibri"/>
              <a:ea typeface="Calibri"/>
              <a:cs typeface="Calibri"/>
              <a:sym typeface="Calibri"/>
            </a:endParaRPr>
          </a:p>
        </p:txBody>
      </p:sp>
      <p:sp>
        <p:nvSpPr>
          <p:cNvPr id="212" name="Google Shape;212;p7"/>
          <p:cNvSpPr/>
          <p:nvPr/>
        </p:nvSpPr>
        <p:spPr>
          <a:xfrm>
            <a:off x="6309360" y="658368"/>
            <a:ext cx="2606040" cy="960120"/>
          </a:xfrm>
          <a:prstGeom prst="rect">
            <a:avLst/>
          </a:prstGeom>
          <a:solidFill>
            <a:srgbClr val="0D2137"/>
          </a:solidFill>
          <a:ln cap="flat" cmpd="sng" w="19050">
            <a:solidFill>
              <a:srgbClr val="00F5D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3" name="Google Shape;213;p7"/>
          <p:cNvSpPr/>
          <p:nvPr/>
        </p:nvSpPr>
        <p:spPr>
          <a:xfrm>
            <a:off x="6309360" y="694944"/>
            <a:ext cx="260604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F5D4"/>
              </a:buClr>
              <a:buSzPts val="2200"/>
              <a:buFont typeface="Calibri"/>
              <a:buNone/>
            </a:pPr>
            <a:r>
              <a:rPr b="1" lang="en-US" sz="2200">
                <a:solidFill>
                  <a:srgbClr val="00F5D4"/>
                </a:solidFill>
                <a:latin typeface="Calibri"/>
                <a:ea typeface="Calibri"/>
                <a:cs typeface="Calibri"/>
                <a:sym typeface="Calibri"/>
              </a:rPr>
              <a:t>2.054</a:t>
            </a:r>
            <a:endParaRPr sz="2200">
              <a:solidFill>
                <a:schemeClr val="dk1"/>
              </a:solidFill>
              <a:latin typeface="Calibri"/>
              <a:ea typeface="Calibri"/>
              <a:cs typeface="Calibri"/>
              <a:sym typeface="Calibri"/>
            </a:endParaRPr>
          </a:p>
        </p:txBody>
      </p:sp>
      <p:sp>
        <p:nvSpPr>
          <p:cNvPr id="214" name="Google Shape;214;p7"/>
          <p:cNvSpPr/>
          <p:nvPr/>
        </p:nvSpPr>
        <p:spPr>
          <a:xfrm>
            <a:off x="6309360" y="1133856"/>
            <a:ext cx="2606040" cy="24688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Harmonic Mean</a:t>
            </a:r>
            <a:endParaRPr sz="1100">
              <a:solidFill>
                <a:schemeClr val="dk1"/>
              </a:solidFill>
              <a:latin typeface="Calibri"/>
              <a:ea typeface="Calibri"/>
              <a:cs typeface="Calibri"/>
              <a:sym typeface="Calibri"/>
            </a:endParaRPr>
          </a:p>
        </p:txBody>
      </p:sp>
      <p:sp>
        <p:nvSpPr>
          <p:cNvPr id="215" name="Google Shape;215;p7"/>
          <p:cNvSpPr/>
          <p:nvPr/>
        </p:nvSpPr>
        <p:spPr>
          <a:xfrm>
            <a:off x="6309360" y="1362456"/>
            <a:ext cx="2606040" cy="2103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vs 1.66 baseline</a:t>
            </a:r>
            <a:endParaRPr sz="1000">
              <a:solidFill>
                <a:schemeClr val="dk1"/>
              </a:solidFill>
              <a:latin typeface="Calibri"/>
              <a:ea typeface="Calibri"/>
              <a:cs typeface="Calibri"/>
              <a:sym typeface="Calibri"/>
            </a:endParaRPr>
          </a:p>
        </p:txBody>
      </p:sp>
      <p:sp>
        <p:nvSpPr>
          <p:cNvPr id="216" name="Google Shape;216;p7"/>
          <p:cNvSpPr/>
          <p:nvPr/>
        </p:nvSpPr>
        <p:spPr>
          <a:xfrm>
            <a:off x="6309360" y="1709928"/>
            <a:ext cx="2606040" cy="960120"/>
          </a:xfrm>
          <a:prstGeom prst="rect">
            <a:avLst/>
          </a:prstGeom>
          <a:solidFill>
            <a:srgbClr val="0D2137"/>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7" name="Google Shape;217;p7"/>
          <p:cNvSpPr/>
          <p:nvPr/>
        </p:nvSpPr>
        <p:spPr>
          <a:xfrm>
            <a:off x="6309360" y="1746504"/>
            <a:ext cx="260604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B4D8"/>
              </a:buClr>
              <a:buSzPts val="2200"/>
              <a:buFont typeface="Calibri"/>
              <a:buNone/>
            </a:pPr>
            <a:r>
              <a:rPr b="1" lang="en-US" sz="2200">
                <a:solidFill>
                  <a:srgbClr val="00B4D8"/>
                </a:solidFill>
                <a:latin typeface="Calibri"/>
                <a:ea typeface="Calibri"/>
                <a:cs typeface="Calibri"/>
                <a:sym typeface="Calibri"/>
              </a:rPr>
              <a:t>+12.4%</a:t>
            </a:r>
            <a:endParaRPr sz="2200">
              <a:solidFill>
                <a:schemeClr val="dk1"/>
              </a:solidFill>
              <a:latin typeface="Calibri"/>
              <a:ea typeface="Calibri"/>
              <a:cs typeface="Calibri"/>
              <a:sym typeface="Calibri"/>
            </a:endParaRPr>
          </a:p>
        </p:txBody>
      </p:sp>
      <p:sp>
        <p:nvSpPr>
          <p:cNvPr id="218" name="Google Shape;218;p7"/>
          <p:cNvSpPr/>
          <p:nvPr/>
        </p:nvSpPr>
        <p:spPr>
          <a:xfrm>
            <a:off x="6309360" y="2185416"/>
            <a:ext cx="2606040" cy="24688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perlbench</a:t>
            </a:r>
            <a:endParaRPr sz="1100">
              <a:solidFill>
                <a:schemeClr val="dk1"/>
              </a:solidFill>
              <a:latin typeface="Calibri"/>
              <a:ea typeface="Calibri"/>
              <a:cs typeface="Calibri"/>
              <a:sym typeface="Calibri"/>
            </a:endParaRPr>
          </a:p>
        </p:txBody>
      </p:sp>
      <p:sp>
        <p:nvSpPr>
          <p:cNvPr id="219" name="Google Shape;219;p7"/>
          <p:cNvSpPr/>
          <p:nvPr/>
        </p:nvSpPr>
        <p:spPr>
          <a:xfrm>
            <a:off x="6309360" y="2414016"/>
            <a:ext cx="2606040" cy="2103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5.01 → 5.63 IPC</a:t>
            </a:r>
            <a:endParaRPr sz="1000">
              <a:solidFill>
                <a:schemeClr val="dk1"/>
              </a:solidFill>
              <a:latin typeface="Calibri"/>
              <a:ea typeface="Calibri"/>
              <a:cs typeface="Calibri"/>
              <a:sym typeface="Calibri"/>
            </a:endParaRPr>
          </a:p>
        </p:txBody>
      </p:sp>
      <p:sp>
        <p:nvSpPr>
          <p:cNvPr id="220" name="Google Shape;220;p7"/>
          <p:cNvSpPr/>
          <p:nvPr/>
        </p:nvSpPr>
        <p:spPr>
          <a:xfrm>
            <a:off x="6309360" y="2761488"/>
            <a:ext cx="2606040" cy="960120"/>
          </a:xfrm>
          <a:prstGeom prst="rect">
            <a:avLst/>
          </a:prstGeom>
          <a:solidFill>
            <a:srgbClr val="0D2137"/>
          </a:solidFill>
          <a:ln cap="flat" cmpd="sng" w="1905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7"/>
          <p:cNvSpPr/>
          <p:nvPr/>
        </p:nvSpPr>
        <p:spPr>
          <a:xfrm>
            <a:off x="6309360" y="2798064"/>
            <a:ext cx="260604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D166"/>
              </a:buClr>
              <a:buSzPts val="2200"/>
              <a:buFont typeface="Calibri"/>
              <a:buNone/>
            </a:pPr>
            <a:r>
              <a:rPr b="1" lang="en-US" sz="2200">
                <a:solidFill>
                  <a:srgbClr val="FFD166"/>
                </a:solidFill>
                <a:latin typeface="Calibri"/>
                <a:ea typeface="Calibri"/>
                <a:cs typeface="Calibri"/>
                <a:sym typeface="Calibri"/>
              </a:rPr>
              <a:t>+0</a:t>
            </a:r>
            <a:r>
              <a:rPr b="1" lang="en-US" sz="2200">
                <a:solidFill>
                  <a:srgbClr val="FFD166"/>
                </a:solidFill>
                <a:latin typeface="Calibri"/>
                <a:ea typeface="Calibri"/>
                <a:cs typeface="Calibri"/>
                <a:sym typeface="Calibri"/>
              </a:rPr>
              <a:t>%</a:t>
            </a:r>
            <a:endParaRPr sz="2200">
              <a:solidFill>
                <a:schemeClr val="dk1"/>
              </a:solidFill>
              <a:latin typeface="Calibri"/>
              <a:ea typeface="Calibri"/>
              <a:cs typeface="Calibri"/>
              <a:sym typeface="Calibri"/>
            </a:endParaRPr>
          </a:p>
        </p:txBody>
      </p:sp>
      <p:sp>
        <p:nvSpPr>
          <p:cNvPr id="222" name="Google Shape;222;p7"/>
          <p:cNvSpPr/>
          <p:nvPr/>
        </p:nvSpPr>
        <p:spPr>
          <a:xfrm>
            <a:off x="6309360" y="3236976"/>
            <a:ext cx="2606040" cy="24688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sjeng / povray</a:t>
            </a:r>
            <a:endParaRPr sz="1100">
              <a:solidFill>
                <a:schemeClr val="dk1"/>
              </a:solidFill>
              <a:latin typeface="Calibri"/>
              <a:ea typeface="Calibri"/>
              <a:cs typeface="Calibri"/>
              <a:sym typeface="Calibri"/>
            </a:endParaRPr>
          </a:p>
        </p:txBody>
      </p:sp>
      <p:sp>
        <p:nvSpPr>
          <p:cNvPr id="223" name="Google Shape;223;p7"/>
          <p:cNvSpPr/>
          <p:nvPr/>
        </p:nvSpPr>
        <p:spPr>
          <a:xfrm>
            <a:off x="6309360" y="3465576"/>
            <a:ext cx="2606040" cy="210312"/>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Chaotic workloads</a:t>
            </a:r>
            <a:endParaRPr sz="1000">
              <a:solidFill>
                <a:srgbClr val="8EACC4"/>
              </a:solidFill>
              <a:latin typeface="Calibri"/>
              <a:ea typeface="Calibri"/>
              <a:cs typeface="Calibri"/>
              <a:sym typeface="Calibri"/>
            </a:endParaRPr>
          </a:p>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Held Ground on Volatile Traces</a:t>
            </a:r>
            <a:endParaRPr sz="1000">
              <a:solidFill>
                <a:srgbClr val="8EACC4"/>
              </a:solidFill>
              <a:latin typeface="Calibri"/>
              <a:ea typeface="Calibri"/>
              <a:cs typeface="Calibri"/>
              <a:sym typeface="Calibri"/>
            </a:endParaRPr>
          </a:p>
        </p:txBody>
      </p:sp>
      <p:sp>
        <p:nvSpPr>
          <p:cNvPr id="224" name="Google Shape;224;p7"/>
          <p:cNvSpPr/>
          <p:nvPr/>
        </p:nvSpPr>
        <p:spPr>
          <a:xfrm>
            <a:off x="6309360" y="3813048"/>
            <a:ext cx="2606040" cy="960120"/>
          </a:xfrm>
          <a:prstGeom prst="rect">
            <a:avLst/>
          </a:prstGeom>
          <a:solidFill>
            <a:srgbClr val="0D2137"/>
          </a:solidFill>
          <a:ln cap="flat" cmpd="sng" w="1905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7"/>
          <p:cNvSpPr/>
          <p:nvPr/>
        </p:nvSpPr>
        <p:spPr>
          <a:xfrm>
            <a:off x="6309360" y="3849624"/>
            <a:ext cx="2606040"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6D6A0"/>
              </a:buClr>
              <a:buSzPts val="2200"/>
              <a:buFont typeface="Calibri"/>
              <a:buNone/>
            </a:pPr>
            <a:r>
              <a:rPr b="1" lang="en-US" sz="2200">
                <a:solidFill>
                  <a:srgbClr val="06D6A0"/>
                </a:solidFill>
                <a:latin typeface="Calibri"/>
                <a:ea typeface="Calibri"/>
                <a:cs typeface="Calibri"/>
                <a:sym typeface="Calibri"/>
              </a:rPr>
              <a:t>+103.6%</a:t>
            </a:r>
            <a:endParaRPr sz="2200">
              <a:solidFill>
                <a:schemeClr val="dk1"/>
              </a:solidFill>
              <a:latin typeface="Calibri"/>
              <a:ea typeface="Calibri"/>
              <a:cs typeface="Calibri"/>
              <a:sym typeface="Calibri"/>
            </a:endParaRPr>
          </a:p>
        </p:txBody>
      </p:sp>
      <p:sp>
        <p:nvSpPr>
          <p:cNvPr id="226" name="Google Shape;226;p7"/>
          <p:cNvSpPr/>
          <p:nvPr/>
        </p:nvSpPr>
        <p:spPr>
          <a:xfrm>
            <a:off x="6309360" y="4288536"/>
            <a:ext cx="2606040" cy="24688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lang="en-US" sz="1100">
                <a:solidFill>
                  <a:srgbClr val="FFFFFF"/>
                </a:solidFill>
                <a:latin typeface="Calibri"/>
                <a:ea typeface="Calibri"/>
                <a:cs typeface="Calibri"/>
                <a:sym typeface="Calibri"/>
              </a:rPr>
              <a:t>mcf  </a:t>
            </a:r>
            <a:endParaRPr sz="1100">
              <a:solidFill>
                <a:schemeClr val="dk1"/>
              </a:solidFill>
              <a:latin typeface="Calibri"/>
              <a:ea typeface="Calibri"/>
              <a:cs typeface="Calibri"/>
              <a:sym typeface="Calibri"/>
            </a:endParaRPr>
          </a:p>
        </p:txBody>
      </p:sp>
      <p:sp>
        <p:nvSpPr>
          <p:cNvPr id="227" name="Google Shape;227;p7"/>
          <p:cNvSpPr/>
          <p:nvPr/>
        </p:nvSpPr>
        <p:spPr>
          <a:xfrm>
            <a:off x="6309360" y="4517136"/>
            <a:ext cx="2606100" cy="210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Memory workload</a:t>
            </a:r>
            <a:endParaRPr sz="1000">
              <a:solidFill>
                <a:srgbClr val="8EACC4"/>
              </a:solidFill>
              <a:latin typeface="Calibri"/>
              <a:ea typeface="Calibri"/>
              <a:cs typeface="Calibri"/>
              <a:sym typeface="Calibri"/>
            </a:endParaRPr>
          </a:p>
          <a:p>
            <a:pPr indent="0" lvl="0" marL="0" marR="0" rtl="0" algn="ctr">
              <a:spcBef>
                <a:spcPts val="0"/>
              </a:spcBef>
              <a:spcAft>
                <a:spcPts val="0"/>
              </a:spcAft>
              <a:buClr>
                <a:srgbClr val="8EACC4"/>
              </a:buClr>
              <a:buSzPts val="1000"/>
              <a:buFont typeface="Calibri"/>
              <a:buNone/>
            </a:pPr>
            <a:r>
              <a:rPr lang="en-US" sz="1000">
                <a:solidFill>
                  <a:srgbClr val="8EACC4"/>
                </a:solidFill>
                <a:latin typeface="Calibri"/>
                <a:ea typeface="Calibri"/>
                <a:cs typeface="Calibri"/>
                <a:sym typeface="Calibri"/>
              </a:rPr>
              <a:t>0.82 -&gt; 1.67 IPC</a:t>
            </a:r>
            <a:endParaRPr sz="1000">
              <a:solidFill>
                <a:srgbClr val="8EACC4"/>
              </a:solidFill>
              <a:latin typeface="Calibri"/>
              <a:ea typeface="Calibri"/>
              <a:cs typeface="Calibri"/>
              <a:sym typeface="Calibri"/>
            </a:endParaRPr>
          </a:p>
        </p:txBody>
      </p:sp>
      <p:pic>
        <p:nvPicPr>
          <p:cNvPr id="228" name="Google Shape;228;p7"/>
          <p:cNvPicPr preferRelativeResize="0"/>
          <p:nvPr/>
        </p:nvPicPr>
        <p:blipFill>
          <a:blip r:embed="rId3">
            <a:alphaModFix/>
          </a:blip>
          <a:stretch>
            <a:fillRect/>
          </a:stretch>
        </p:blipFill>
        <p:spPr>
          <a:xfrm>
            <a:off x="152400" y="691896"/>
            <a:ext cx="5807698" cy="4299205"/>
          </a:xfrm>
          <a:prstGeom prst="rect">
            <a:avLst/>
          </a:prstGeom>
          <a:noFill/>
          <a:ln>
            <a:noFill/>
          </a:ln>
        </p:spPr>
      </p:pic>
      <p:sp>
        <p:nvSpPr>
          <p:cNvPr id="229" name="Google Shape;229;p7"/>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4" name="Shape 234"/>
        <p:cNvGrpSpPr/>
        <p:nvPr/>
      </p:nvGrpSpPr>
      <p:grpSpPr>
        <a:xfrm>
          <a:off x="0" y="0"/>
          <a:ext cx="0" cy="0"/>
          <a:chOff x="0" y="0"/>
          <a:chExt cx="0" cy="0"/>
        </a:xfrm>
      </p:grpSpPr>
      <p:sp>
        <p:nvSpPr>
          <p:cNvPr id="235" name="Google Shape;235;p8"/>
          <p:cNvSpPr/>
          <p:nvPr/>
        </p:nvSpPr>
        <p:spPr>
          <a:xfrm>
            <a:off x="0" y="0"/>
            <a:ext cx="9144000" cy="50292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p8"/>
          <p:cNvSpPr/>
          <p:nvPr/>
        </p:nvSpPr>
        <p:spPr>
          <a:xfrm>
            <a:off x="365760" y="73152"/>
            <a:ext cx="82296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VP Metrics — What the Data Reveals</a:t>
            </a:r>
            <a:endParaRPr sz="2200">
              <a:solidFill>
                <a:schemeClr val="dk1"/>
              </a:solidFill>
              <a:latin typeface="Calibri"/>
              <a:ea typeface="Calibri"/>
              <a:cs typeface="Calibri"/>
              <a:sym typeface="Calibri"/>
            </a:endParaRPr>
          </a:p>
        </p:txBody>
      </p:sp>
      <p:sp>
        <p:nvSpPr>
          <p:cNvPr id="237" name="Google Shape;237;p8"/>
          <p:cNvSpPr/>
          <p:nvPr/>
        </p:nvSpPr>
        <p:spPr>
          <a:xfrm>
            <a:off x="274320" y="640080"/>
            <a:ext cx="4206240" cy="1828800"/>
          </a:xfrm>
          <a:prstGeom prst="rect">
            <a:avLst/>
          </a:prstGeom>
          <a:solidFill>
            <a:srgbClr val="0D2137"/>
          </a:solidFill>
          <a:ln cap="flat" cmpd="sng" w="1905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8"/>
          <p:cNvSpPr/>
          <p:nvPr/>
        </p:nvSpPr>
        <p:spPr>
          <a:xfrm>
            <a:off x="274320" y="640080"/>
            <a:ext cx="73152" cy="1828800"/>
          </a:xfrm>
          <a:prstGeom prst="rect">
            <a:avLst/>
          </a:prstGeom>
          <a:solidFill>
            <a:srgbClr val="06D6A0"/>
          </a:solidFill>
          <a:ln cap="flat" cmpd="sng" w="1270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8"/>
          <p:cNvSpPr/>
          <p:nvPr/>
        </p:nvSpPr>
        <p:spPr>
          <a:xfrm>
            <a:off x="438912" y="731520"/>
            <a:ext cx="39319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6D6A0"/>
              </a:buClr>
              <a:buSzPts val="1200"/>
              <a:buFont typeface="Calibri"/>
              <a:buNone/>
            </a:pPr>
            <a:r>
              <a:rPr b="1" lang="en-US" sz="1200">
                <a:solidFill>
                  <a:srgbClr val="06D6A0"/>
                </a:solidFill>
                <a:latin typeface="Calibri"/>
                <a:ea typeface="Calibri"/>
                <a:cs typeface="Calibri"/>
                <a:sym typeface="Calibri"/>
              </a:rPr>
              <a:t>Confident &amp; Correct</a:t>
            </a:r>
            <a:endParaRPr sz="1200">
              <a:solidFill>
                <a:schemeClr val="dk1"/>
              </a:solidFill>
              <a:latin typeface="Calibri"/>
              <a:ea typeface="Calibri"/>
              <a:cs typeface="Calibri"/>
              <a:sym typeface="Calibri"/>
            </a:endParaRPr>
          </a:p>
        </p:txBody>
      </p:sp>
      <p:sp>
        <p:nvSpPr>
          <p:cNvPr id="240" name="Google Shape;240;p8"/>
          <p:cNvSpPr/>
          <p:nvPr/>
        </p:nvSpPr>
        <p:spPr>
          <a:xfrm>
            <a:off x="438912" y="1051560"/>
            <a:ext cx="3931920" cy="1325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50"/>
              <a:buFont typeface="Calibri"/>
              <a:buNone/>
            </a:pPr>
            <a:r>
              <a:rPr lang="en-US" sz="1150">
                <a:solidFill>
                  <a:srgbClr val="E8F4FD"/>
                </a:solidFill>
                <a:latin typeface="Calibri"/>
                <a:ea typeface="Calibri"/>
                <a:cs typeface="Calibri"/>
                <a:sym typeface="Calibri"/>
              </a:rPr>
              <a:t>perlbench confident correct predictions skyrocket from 2.24 million (SVP) to 5.28 million. This is an approximately 135% increase. VTAGE successfully maps complex control-flow loops that simple stride math is physically incapable of learning.</a:t>
            </a:r>
            <a:endParaRPr sz="1150">
              <a:solidFill>
                <a:schemeClr val="dk1"/>
              </a:solidFill>
              <a:latin typeface="Calibri"/>
              <a:ea typeface="Calibri"/>
              <a:cs typeface="Calibri"/>
              <a:sym typeface="Calibri"/>
            </a:endParaRPr>
          </a:p>
        </p:txBody>
      </p:sp>
      <p:sp>
        <p:nvSpPr>
          <p:cNvPr id="241" name="Google Shape;241;p8"/>
          <p:cNvSpPr/>
          <p:nvPr/>
        </p:nvSpPr>
        <p:spPr>
          <a:xfrm>
            <a:off x="4709160" y="640080"/>
            <a:ext cx="4206240" cy="1828800"/>
          </a:xfrm>
          <a:prstGeom prst="rect">
            <a:avLst/>
          </a:prstGeom>
          <a:solidFill>
            <a:srgbClr val="0D2137"/>
          </a:solidFill>
          <a:ln cap="flat" cmpd="sng" w="19050">
            <a:solidFill>
              <a:srgbClr val="EF476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8"/>
          <p:cNvSpPr/>
          <p:nvPr/>
        </p:nvSpPr>
        <p:spPr>
          <a:xfrm>
            <a:off x="4709160" y="640080"/>
            <a:ext cx="73152" cy="1828800"/>
          </a:xfrm>
          <a:prstGeom prst="rect">
            <a:avLst/>
          </a:prstGeom>
          <a:solidFill>
            <a:srgbClr val="EF476F"/>
          </a:solidFill>
          <a:ln cap="flat" cmpd="sng" w="12700">
            <a:solidFill>
              <a:srgbClr val="EF476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8"/>
          <p:cNvSpPr/>
          <p:nvPr/>
        </p:nvSpPr>
        <p:spPr>
          <a:xfrm>
            <a:off x="4873752" y="731520"/>
            <a:ext cx="39319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F476F"/>
              </a:buClr>
              <a:buSzPts val="1200"/>
              <a:buFont typeface="Calibri"/>
              <a:buNone/>
            </a:pPr>
            <a:r>
              <a:rPr b="1" lang="en-US" sz="1200">
                <a:solidFill>
                  <a:srgbClr val="EF476F"/>
                </a:solidFill>
                <a:latin typeface="Calibri"/>
                <a:ea typeface="Calibri"/>
                <a:cs typeface="Calibri"/>
                <a:sym typeface="Calibri"/>
              </a:rPr>
              <a:t>Confident &amp; Wrong (Mispredictions)</a:t>
            </a:r>
            <a:endParaRPr sz="1200">
              <a:solidFill>
                <a:schemeClr val="dk1"/>
              </a:solidFill>
              <a:latin typeface="Calibri"/>
              <a:ea typeface="Calibri"/>
              <a:cs typeface="Calibri"/>
              <a:sym typeface="Calibri"/>
            </a:endParaRPr>
          </a:p>
        </p:txBody>
      </p:sp>
      <p:sp>
        <p:nvSpPr>
          <p:cNvPr id="244" name="Google Shape;244;p8"/>
          <p:cNvSpPr/>
          <p:nvPr/>
        </p:nvSpPr>
        <p:spPr>
          <a:xfrm>
            <a:off x="4873752" y="1051560"/>
            <a:ext cx="3931800" cy="13260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50"/>
              <a:buFont typeface="Calibri"/>
              <a:buNone/>
            </a:pPr>
            <a:r>
              <a:rPr lang="en-US" sz="1150">
                <a:solidFill>
                  <a:srgbClr val="E8F4FD"/>
                </a:solidFill>
                <a:latin typeface="Calibri"/>
                <a:ea typeface="Calibri"/>
                <a:cs typeface="Calibri"/>
                <a:sym typeface="Calibri"/>
              </a:rPr>
              <a:t>Confident mispredictions on povray drop from 5,438 (SVP) to just 2,415 — a 55% reduction in pipeline flushes. The high VTAGE confidence ceiling of 63 acts as a natural misprediction filter on chaotic workloads where patterns quickly shift.</a:t>
            </a:r>
            <a:endParaRPr sz="1150">
              <a:solidFill>
                <a:schemeClr val="dk1"/>
              </a:solidFill>
              <a:latin typeface="Calibri"/>
              <a:ea typeface="Calibri"/>
              <a:cs typeface="Calibri"/>
              <a:sym typeface="Calibri"/>
            </a:endParaRPr>
          </a:p>
        </p:txBody>
      </p:sp>
      <p:sp>
        <p:nvSpPr>
          <p:cNvPr id="245" name="Google Shape;245;p8"/>
          <p:cNvSpPr/>
          <p:nvPr/>
        </p:nvSpPr>
        <p:spPr>
          <a:xfrm>
            <a:off x="274320" y="2651760"/>
            <a:ext cx="4206240" cy="1828800"/>
          </a:xfrm>
          <a:prstGeom prst="rect">
            <a:avLst/>
          </a:prstGeom>
          <a:solidFill>
            <a:srgbClr val="0D2137"/>
          </a:solidFill>
          <a:ln cap="flat" cmpd="sng" w="1905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8"/>
          <p:cNvSpPr/>
          <p:nvPr/>
        </p:nvSpPr>
        <p:spPr>
          <a:xfrm>
            <a:off x="274320" y="2651760"/>
            <a:ext cx="73152" cy="1828800"/>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8"/>
          <p:cNvSpPr/>
          <p:nvPr/>
        </p:nvSpPr>
        <p:spPr>
          <a:xfrm>
            <a:off x="438912" y="2743200"/>
            <a:ext cx="39319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166"/>
              </a:buClr>
              <a:buSzPts val="1200"/>
              <a:buFont typeface="Calibri"/>
              <a:buNone/>
            </a:pPr>
            <a:r>
              <a:rPr b="1" lang="en-US" sz="1200">
                <a:solidFill>
                  <a:srgbClr val="FFD166"/>
                </a:solidFill>
                <a:latin typeface="Calibri"/>
                <a:ea typeface="Calibri"/>
                <a:cs typeface="Calibri"/>
                <a:sym typeface="Calibri"/>
              </a:rPr>
              <a:t>Unconfident but Correct (Silent IPC)</a:t>
            </a:r>
            <a:endParaRPr sz="1200">
              <a:solidFill>
                <a:schemeClr val="dk1"/>
              </a:solidFill>
              <a:latin typeface="Calibri"/>
              <a:ea typeface="Calibri"/>
              <a:cs typeface="Calibri"/>
              <a:sym typeface="Calibri"/>
            </a:endParaRPr>
          </a:p>
        </p:txBody>
      </p:sp>
      <p:sp>
        <p:nvSpPr>
          <p:cNvPr id="248" name="Google Shape;248;p8"/>
          <p:cNvSpPr/>
          <p:nvPr/>
        </p:nvSpPr>
        <p:spPr>
          <a:xfrm>
            <a:off x="438912" y="3063240"/>
            <a:ext cx="3931920" cy="1325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50"/>
              <a:buFont typeface="Calibri"/>
              <a:buNone/>
            </a:pPr>
            <a:r>
              <a:rPr lang="en-US" sz="1150">
                <a:solidFill>
                  <a:srgbClr val="E8F4FD"/>
                </a:solidFill>
                <a:latin typeface="Calibri"/>
                <a:ea typeface="Calibri"/>
                <a:cs typeface="Calibri"/>
                <a:sym typeface="Calibri"/>
              </a:rPr>
              <a:t>mcf silent correct predictions jump from 504K (SVP) to 1.88 million. The predictor is successfully tracking nearly 3x more correct pointer-chasing paths beneath the surface, representing massive unexplored IPC potential.</a:t>
            </a:r>
            <a:endParaRPr sz="1150">
              <a:solidFill>
                <a:schemeClr val="dk1"/>
              </a:solidFill>
              <a:latin typeface="Calibri"/>
              <a:ea typeface="Calibri"/>
              <a:cs typeface="Calibri"/>
              <a:sym typeface="Calibri"/>
            </a:endParaRPr>
          </a:p>
        </p:txBody>
      </p:sp>
      <p:sp>
        <p:nvSpPr>
          <p:cNvPr id="249" name="Google Shape;249;p8"/>
          <p:cNvSpPr/>
          <p:nvPr/>
        </p:nvSpPr>
        <p:spPr>
          <a:xfrm>
            <a:off x="4709160" y="2651760"/>
            <a:ext cx="4206240" cy="1828800"/>
          </a:xfrm>
          <a:prstGeom prst="rect">
            <a:avLst/>
          </a:prstGeom>
          <a:solidFill>
            <a:srgbClr val="0D2137"/>
          </a:solidFill>
          <a:ln cap="flat" cmpd="sng" w="19050">
            <a:solidFill>
              <a:srgbClr val="FF6B3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0" name="Google Shape;250;p8"/>
          <p:cNvSpPr/>
          <p:nvPr/>
        </p:nvSpPr>
        <p:spPr>
          <a:xfrm>
            <a:off x="4709160" y="2651760"/>
            <a:ext cx="73152" cy="1828800"/>
          </a:xfrm>
          <a:prstGeom prst="rect">
            <a:avLst/>
          </a:prstGeom>
          <a:solidFill>
            <a:srgbClr val="FF6B35"/>
          </a:solidFill>
          <a:ln cap="flat" cmpd="sng" w="12700">
            <a:solidFill>
              <a:srgbClr val="FF6B3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8"/>
          <p:cNvSpPr/>
          <p:nvPr/>
        </p:nvSpPr>
        <p:spPr>
          <a:xfrm>
            <a:off x="4873752" y="2743200"/>
            <a:ext cx="39319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6B35"/>
              </a:buClr>
              <a:buSzPts val="1200"/>
              <a:buFont typeface="Calibri"/>
              <a:buNone/>
            </a:pPr>
            <a:r>
              <a:rPr b="1" lang="en-US" sz="1200">
                <a:solidFill>
                  <a:srgbClr val="FF6B35"/>
                </a:solidFill>
                <a:latin typeface="Calibri"/>
                <a:ea typeface="Calibri"/>
                <a:cs typeface="Calibri"/>
                <a:sym typeface="Calibri"/>
              </a:rPr>
              <a:t>Complete Misses</a:t>
            </a:r>
            <a:endParaRPr sz="1200">
              <a:solidFill>
                <a:schemeClr val="dk1"/>
              </a:solidFill>
              <a:latin typeface="Calibri"/>
              <a:ea typeface="Calibri"/>
              <a:cs typeface="Calibri"/>
              <a:sym typeface="Calibri"/>
            </a:endParaRPr>
          </a:p>
        </p:txBody>
      </p:sp>
      <p:sp>
        <p:nvSpPr>
          <p:cNvPr id="252" name="Google Shape;252;p8"/>
          <p:cNvSpPr/>
          <p:nvPr/>
        </p:nvSpPr>
        <p:spPr>
          <a:xfrm>
            <a:off x="4873752" y="3063240"/>
            <a:ext cx="3931920" cy="13258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150"/>
              <a:buFont typeface="Calibri"/>
              <a:buNone/>
            </a:pPr>
            <a:r>
              <a:rPr lang="en-US" sz="1150">
                <a:solidFill>
                  <a:srgbClr val="E8F4FD"/>
                </a:solidFill>
                <a:latin typeface="Calibri"/>
                <a:ea typeface="Calibri"/>
                <a:cs typeface="Calibri"/>
                <a:sym typeface="Calibri"/>
              </a:rPr>
              <a:t>omnetpp drops from 1.91 million misses under the SVP to exactly 358,151 misses in our hybrid. VTAGE's branch-history context fills in predictions for complex pointer-chasing graph traversals that the baseline stride predictor is completely blind to.</a:t>
            </a:r>
            <a:endParaRPr sz="1150">
              <a:solidFill>
                <a:schemeClr val="dk1"/>
              </a:solidFill>
              <a:latin typeface="Calibri"/>
              <a:ea typeface="Calibri"/>
              <a:cs typeface="Calibri"/>
              <a:sym typeface="Calibri"/>
            </a:endParaRPr>
          </a:p>
        </p:txBody>
      </p:sp>
      <p:sp>
        <p:nvSpPr>
          <p:cNvPr id="253" name="Google Shape;253;p8"/>
          <p:cNvSpPr/>
          <p:nvPr/>
        </p:nvSpPr>
        <p:spPr>
          <a:xfrm>
            <a:off x="274320" y="4599432"/>
            <a:ext cx="8595360" cy="384048"/>
          </a:xfrm>
          <a:prstGeom prst="rect">
            <a:avLst/>
          </a:prstGeom>
          <a:solidFill>
            <a:srgbClr val="0A1A0A"/>
          </a:solidFill>
          <a:ln cap="flat" cmpd="sng" w="1270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8"/>
          <p:cNvSpPr/>
          <p:nvPr/>
        </p:nvSpPr>
        <p:spPr>
          <a:xfrm>
            <a:off x="365760" y="4636008"/>
            <a:ext cx="8412480" cy="310896"/>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6D6A0"/>
              </a:buClr>
              <a:buSzPts val="1100"/>
              <a:buFont typeface="Calibri"/>
              <a:buNone/>
            </a:pPr>
            <a:r>
              <a:rPr i="1" lang="en-US" sz="1100">
                <a:solidFill>
                  <a:srgbClr val="06D6A0"/>
                </a:solidFill>
                <a:latin typeface="Calibri"/>
                <a:ea typeface="Calibri"/>
                <a:cs typeface="Calibri"/>
                <a:sym typeface="Calibri"/>
              </a:rPr>
              <a:t>Key takeaway: conf_max=63 reduces confident mispredictions on chaotic workloads. Decoupling SVP conf_max to 47 recovers structured workload performance.</a:t>
            </a:r>
            <a:endParaRPr sz="1100">
              <a:solidFill>
                <a:schemeClr val="dk1"/>
              </a:solidFill>
              <a:latin typeface="Calibri"/>
              <a:ea typeface="Calibri"/>
              <a:cs typeface="Calibri"/>
              <a:sym typeface="Calibri"/>
            </a:endParaRPr>
          </a:p>
        </p:txBody>
      </p:sp>
      <p:sp>
        <p:nvSpPr>
          <p:cNvPr id="255" name="Google Shape;255;p8"/>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60" name="Shape 260"/>
        <p:cNvGrpSpPr/>
        <p:nvPr/>
      </p:nvGrpSpPr>
      <p:grpSpPr>
        <a:xfrm>
          <a:off x="0" y="0"/>
          <a:ext cx="0" cy="0"/>
          <a:chOff x="0" y="0"/>
          <a:chExt cx="0" cy="0"/>
        </a:xfrm>
      </p:grpSpPr>
      <p:sp>
        <p:nvSpPr>
          <p:cNvPr id="261" name="Google Shape;261;p9"/>
          <p:cNvSpPr/>
          <p:nvPr/>
        </p:nvSpPr>
        <p:spPr>
          <a:xfrm>
            <a:off x="0" y="0"/>
            <a:ext cx="9144000" cy="502800"/>
          </a:xfrm>
          <a:prstGeom prst="rect">
            <a:avLst/>
          </a:prstGeom>
          <a:solidFill>
            <a:srgbClr val="0D2137"/>
          </a:solidFill>
          <a:ln cap="flat" cmpd="sng" w="12700">
            <a:solidFill>
              <a:srgbClr val="0D2137"/>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9"/>
          <p:cNvSpPr/>
          <p:nvPr/>
        </p:nvSpPr>
        <p:spPr>
          <a:xfrm>
            <a:off x="365760" y="73152"/>
            <a:ext cx="82296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Calibri"/>
              <a:buNone/>
            </a:pPr>
            <a:r>
              <a:rPr b="1" lang="en-US" sz="2200">
                <a:solidFill>
                  <a:srgbClr val="FFFFFF"/>
                </a:solidFill>
                <a:latin typeface="Calibri"/>
                <a:ea typeface="Calibri"/>
                <a:cs typeface="Calibri"/>
                <a:sym typeface="Calibri"/>
              </a:rPr>
              <a:t>Exploration — Software, Hardware &amp; Their Interactions</a:t>
            </a:r>
            <a:endParaRPr sz="2200">
              <a:solidFill>
                <a:schemeClr val="dk1"/>
              </a:solidFill>
              <a:latin typeface="Calibri"/>
              <a:ea typeface="Calibri"/>
              <a:cs typeface="Calibri"/>
              <a:sym typeface="Calibri"/>
            </a:endParaRPr>
          </a:p>
        </p:txBody>
      </p:sp>
      <p:sp>
        <p:nvSpPr>
          <p:cNvPr id="263" name="Google Shape;263;p9"/>
          <p:cNvSpPr/>
          <p:nvPr/>
        </p:nvSpPr>
        <p:spPr>
          <a:xfrm>
            <a:off x="365760" y="594360"/>
            <a:ext cx="8412600" cy="347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EACC4"/>
              </a:buClr>
              <a:buSzPts val="1200"/>
              <a:buFont typeface="Calibri"/>
              <a:buNone/>
            </a:pPr>
            <a:r>
              <a:rPr i="1" lang="en-US" sz="1200">
                <a:solidFill>
                  <a:srgbClr val="8EACC4"/>
                </a:solidFill>
                <a:latin typeface="Calibri"/>
                <a:ea typeface="Calibri"/>
                <a:cs typeface="Calibri"/>
                <a:sym typeface="Calibri"/>
              </a:rPr>
              <a:t>The critical insight: every software change creates a new hardware configuration optimum. We tested these as a joint space, not independently.</a:t>
            </a:r>
            <a:endParaRPr sz="1200">
              <a:solidFill>
                <a:schemeClr val="dk1"/>
              </a:solidFill>
              <a:latin typeface="Calibri"/>
              <a:ea typeface="Calibri"/>
              <a:cs typeface="Calibri"/>
              <a:sym typeface="Calibri"/>
            </a:endParaRPr>
          </a:p>
        </p:txBody>
      </p:sp>
      <p:sp>
        <p:nvSpPr>
          <p:cNvPr id="264" name="Google Shape;264;p9"/>
          <p:cNvSpPr/>
          <p:nvPr/>
        </p:nvSpPr>
        <p:spPr>
          <a:xfrm>
            <a:off x="274320" y="1005840"/>
            <a:ext cx="2788800" cy="3977700"/>
          </a:xfrm>
          <a:prstGeom prst="rect">
            <a:avLst/>
          </a:prstGeom>
          <a:solidFill>
            <a:srgbClr val="0D4F8B"/>
          </a:solidFill>
          <a:ln cap="flat" cmpd="sng" w="1905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9"/>
          <p:cNvSpPr/>
          <p:nvPr/>
        </p:nvSpPr>
        <p:spPr>
          <a:xfrm>
            <a:off x="274320" y="1005840"/>
            <a:ext cx="2788800" cy="3474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9"/>
          <p:cNvSpPr/>
          <p:nvPr/>
        </p:nvSpPr>
        <p:spPr>
          <a:xfrm>
            <a:off x="347472" y="1024128"/>
            <a:ext cx="2651700" cy="2925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A1628"/>
              </a:buClr>
              <a:buSzPts val="1200"/>
              <a:buFont typeface="Calibri"/>
              <a:buNone/>
            </a:pPr>
            <a:r>
              <a:rPr b="1" lang="en-US" sz="1200">
                <a:solidFill>
                  <a:srgbClr val="0A1628"/>
                </a:solidFill>
                <a:latin typeface="Calibri"/>
                <a:ea typeface="Calibri"/>
                <a:cs typeface="Calibri"/>
                <a:sym typeface="Calibri"/>
              </a:rPr>
              <a:t>Hardware Geometry</a:t>
            </a:r>
            <a:endParaRPr sz="1200">
              <a:solidFill>
                <a:schemeClr val="dk1"/>
              </a:solidFill>
              <a:latin typeface="Calibri"/>
              <a:ea typeface="Calibri"/>
              <a:cs typeface="Calibri"/>
              <a:sym typeface="Calibri"/>
            </a:endParaRPr>
          </a:p>
        </p:txBody>
      </p:sp>
      <p:sp>
        <p:nvSpPr>
          <p:cNvPr id="267" name="Google Shape;267;p9"/>
          <p:cNvSpPr/>
          <p:nvPr/>
        </p:nvSpPr>
        <p:spPr>
          <a:xfrm>
            <a:off x="384048" y="1417320"/>
            <a:ext cx="2560200" cy="3429000"/>
          </a:xfrm>
          <a:prstGeom prst="rect">
            <a:avLst/>
          </a:prstGeom>
          <a:solidFill>
            <a:srgbClr val="000000">
              <a:alpha val="0"/>
            </a:srgbClr>
          </a:solidFill>
          <a:ln>
            <a:noFill/>
          </a:ln>
        </p:spPr>
        <p:txBody>
          <a:bodyPr anchorCtr="0" anchor="t" bIns="45700" lIns="91400" spcFirstLastPara="1" rIns="91400" wrap="square" tIns="45700">
            <a:noAutofit/>
          </a:bodyPr>
          <a:lstStyle/>
          <a:p>
            <a:pPr indent="-298450" lvl="0" marL="457200" rtl="0" algn="l">
              <a:spcBef>
                <a:spcPts val="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Number of VTAGE tables: 4, 5, 6</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History range: 16, 24, 32, 48, 64 branches</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Entries per table: 128, 256, 512</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VPQ Buffer Sizing: 128, 256, 300 entries</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SVP Table Capacity: 512, 1024, 2048 entries</a:t>
            </a:r>
            <a:endParaRPr sz="1100">
              <a:solidFill>
                <a:srgbClr val="E8F4FD"/>
              </a:solidFill>
              <a:latin typeface="Calibri"/>
              <a:ea typeface="Calibri"/>
              <a:cs typeface="Calibri"/>
              <a:sym typeface="Calibri"/>
            </a:endParaRPr>
          </a:p>
        </p:txBody>
      </p:sp>
      <p:sp>
        <p:nvSpPr>
          <p:cNvPr id="268" name="Google Shape;268;p9"/>
          <p:cNvSpPr/>
          <p:nvPr/>
        </p:nvSpPr>
        <p:spPr>
          <a:xfrm>
            <a:off x="3246120" y="1005840"/>
            <a:ext cx="2788800" cy="3977700"/>
          </a:xfrm>
          <a:prstGeom prst="rect">
            <a:avLst/>
          </a:prstGeom>
          <a:solidFill>
            <a:srgbClr val="1A1A2A"/>
          </a:solidFill>
          <a:ln cap="flat" cmpd="sng" w="1905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9"/>
          <p:cNvSpPr/>
          <p:nvPr/>
        </p:nvSpPr>
        <p:spPr>
          <a:xfrm>
            <a:off x="3246120" y="1005840"/>
            <a:ext cx="2788800" cy="347400"/>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0" name="Google Shape;270;p9"/>
          <p:cNvSpPr/>
          <p:nvPr/>
        </p:nvSpPr>
        <p:spPr>
          <a:xfrm>
            <a:off x="3319272" y="1024128"/>
            <a:ext cx="2651700" cy="2925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A1628"/>
              </a:buClr>
              <a:buSzPts val="1200"/>
              <a:buFont typeface="Calibri"/>
              <a:buNone/>
            </a:pPr>
            <a:r>
              <a:rPr b="1" lang="en-US" sz="1200">
                <a:solidFill>
                  <a:srgbClr val="0A1628"/>
                </a:solidFill>
                <a:latin typeface="Calibri"/>
                <a:ea typeface="Calibri"/>
                <a:cs typeface="Calibri"/>
                <a:sym typeface="Calibri"/>
              </a:rPr>
              <a:t>Allocation &amp; Table Management</a:t>
            </a:r>
            <a:endParaRPr sz="1200">
              <a:solidFill>
                <a:schemeClr val="dk1"/>
              </a:solidFill>
              <a:latin typeface="Calibri"/>
              <a:ea typeface="Calibri"/>
              <a:cs typeface="Calibri"/>
              <a:sym typeface="Calibri"/>
            </a:endParaRPr>
          </a:p>
        </p:txBody>
      </p:sp>
      <p:sp>
        <p:nvSpPr>
          <p:cNvPr id="271" name="Google Shape;271;p9"/>
          <p:cNvSpPr/>
          <p:nvPr/>
        </p:nvSpPr>
        <p:spPr>
          <a:xfrm>
            <a:off x="3355848" y="1417320"/>
            <a:ext cx="2560200" cy="3429000"/>
          </a:xfrm>
          <a:prstGeom prst="rect">
            <a:avLst/>
          </a:prstGeom>
          <a:solidFill>
            <a:srgbClr val="000000">
              <a:alpha val="0"/>
            </a:srgbClr>
          </a:solidFill>
          <a:ln>
            <a:noFill/>
          </a:ln>
        </p:spPr>
        <p:txBody>
          <a:bodyPr anchorCtr="0" anchor="t" bIns="45700" lIns="91400" spcFirstLastPara="1" rIns="91400" wrap="square" tIns="45700">
            <a:noAutofit/>
          </a:bodyPr>
          <a:lstStyle/>
          <a:p>
            <a:pPr indent="-298450" lvl="0" marL="457200" rtl="0" algn="l">
              <a:spcBef>
                <a:spcPts val="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ALU allocation throttling: 1-in-4, 1-in-8, 1-in-16</a:t>
            </a:r>
            <a:endParaRPr sz="1100">
              <a:solidFill>
                <a:srgbClr val="E8F4FD"/>
              </a:solidFill>
              <a:latin typeface="Calibri"/>
              <a:ea typeface="Calibri"/>
              <a:cs typeface="Calibri"/>
              <a:sym typeface="Calibri"/>
            </a:endParaRPr>
          </a:p>
          <a:p>
            <a:pPr indent="-298450" lvl="0" marL="457200" rtl="0" algn="l">
              <a:spcBef>
                <a:spcPts val="12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TICK decay thresholds: 128, 256, 512, 1024</a:t>
            </a:r>
            <a:endParaRPr sz="1100">
              <a:solidFill>
                <a:srgbClr val="E8F4FD"/>
              </a:solidFill>
              <a:latin typeface="Calibri"/>
              <a:ea typeface="Calibri"/>
              <a:cs typeface="Calibri"/>
              <a:sym typeface="Calibri"/>
            </a:endParaRPr>
          </a:p>
          <a:p>
            <a:pPr indent="-298450" lvl="0" marL="457200" rtl="0" algn="l">
              <a:spcBef>
                <a:spcPts val="12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Veto Evolution: Tested Intra-VTAGE alternate blocking before isolating to Inter-Predictor (SVP) blocking.</a:t>
            </a:r>
            <a:endParaRPr sz="1100">
              <a:solidFill>
                <a:srgbClr val="E8F4FD"/>
              </a:solidFill>
              <a:latin typeface="Calibri"/>
              <a:ea typeface="Calibri"/>
              <a:cs typeface="Calibri"/>
              <a:sym typeface="Calibri"/>
            </a:endParaRPr>
          </a:p>
          <a:p>
            <a:pPr indent="-298450" lvl="0" marL="457200" rtl="0" algn="l">
              <a:spcBef>
                <a:spcPts val="12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Base Training Independence: Tested independent SVP allocation vs. strictly VTAGE-miss-gated allocation.</a:t>
            </a:r>
            <a:endParaRPr sz="1100">
              <a:solidFill>
                <a:srgbClr val="E8F4FD"/>
              </a:solidFill>
              <a:latin typeface="Calibri"/>
              <a:ea typeface="Calibri"/>
              <a:cs typeface="Calibri"/>
              <a:sym typeface="Calibri"/>
            </a:endParaRPr>
          </a:p>
          <a:p>
            <a:pPr indent="-298450" lvl="0" marL="457200" rtl="0" algn="l">
              <a:spcBef>
                <a:spcPts val="12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Confidence-gated eviction: Protecting proven entries from aggressive LRU replacement.</a:t>
            </a:r>
            <a:endParaRPr sz="1100">
              <a:solidFill>
                <a:srgbClr val="E8F4FD"/>
              </a:solidFill>
              <a:latin typeface="Calibri"/>
              <a:ea typeface="Calibri"/>
              <a:cs typeface="Calibri"/>
              <a:sym typeface="Calibri"/>
            </a:endParaRPr>
          </a:p>
        </p:txBody>
      </p:sp>
      <p:sp>
        <p:nvSpPr>
          <p:cNvPr id="272" name="Google Shape;272;p9"/>
          <p:cNvSpPr/>
          <p:nvPr/>
        </p:nvSpPr>
        <p:spPr>
          <a:xfrm>
            <a:off x="6217920" y="1005840"/>
            <a:ext cx="2788800" cy="3977700"/>
          </a:xfrm>
          <a:prstGeom prst="rect">
            <a:avLst/>
          </a:prstGeom>
          <a:solidFill>
            <a:srgbClr val="1A2A1A"/>
          </a:solidFill>
          <a:ln cap="flat" cmpd="sng" w="1905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3" name="Google Shape;273;p9"/>
          <p:cNvSpPr/>
          <p:nvPr/>
        </p:nvSpPr>
        <p:spPr>
          <a:xfrm>
            <a:off x="6217920" y="1005840"/>
            <a:ext cx="2788800" cy="347400"/>
          </a:xfrm>
          <a:prstGeom prst="rect">
            <a:avLst/>
          </a:prstGeom>
          <a:solidFill>
            <a:srgbClr val="06D6A0"/>
          </a:solidFill>
          <a:ln cap="flat" cmpd="sng" w="1270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9"/>
          <p:cNvSpPr/>
          <p:nvPr/>
        </p:nvSpPr>
        <p:spPr>
          <a:xfrm>
            <a:off x="6291072" y="1024128"/>
            <a:ext cx="2651700" cy="2925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A1628"/>
              </a:buClr>
              <a:buSzPts val="1200"/>
              <a:buFont typeface="Calibri"/>
              <a:buNone/>
            </a:pPr>
            <a:r>
              <a:rPr b="1" lang="en-US" sz="1200">
                <a:solidFill>
                  <a:srgbClr val="0A1628"/>
                </a:solidFill>
                <a:latin typeface="Calibri"/>
                <a:ea typeface="Calibri"/>
                <a:cs typeface="Calibri"/>
                <a:sym typeface="Calibri"/>
              </a:rPr>
              <a:t>Training &amp; Prediction Logic</a:t>
            </a:r>
            <a:endParaRPr sz="1200">
              <a:solidFill>
                <a:schemeClr val="dk1"/>
              </a:solidFill>
              <a:latin typeface="Calibri"/>
              <a:ea typeface="Calibri"/>
              <a:cs typeface="Calibri"/>
              <a:sym typeface="Calibri"/>
            </a:endParaRPr>
          </a:p>
        </p:txBody>
      </p:sp>
      <p:sp>
        <p:nvSpPr>
          <p:cNvPr id="275" name="Google Shape;275;p9"/>
          <p:cNvSpPr/>
          <p:nvPr/>
        </p:nvSpPr>
        <p:spPr>
          <a:xfrm>
            <a:off x="6327648" y="1417320"/>
            <a:ext cx="2560200" cy="3429000"/>
          </a:xfrm>
          <a:prstGeom prst="rect">
            <a:avLst/>
          </a:prstGeom>
          <a:solidFill>
            <a:srgbClr val="000000">
              <a:alpha val="0"/>
            </a:srgbClr>
          </a:solidFill>
          <a:ln>
            <a:noFill/>
          </a:ln>
        </p:spPr>
        <p:txBody>
          <a:bodyPr anchorCtr="0" anchor="t" bIns="45700" lIns="91400" spcFirstLastPara="1" rIns="91400" wrap="square" tIns="45700">
            <a:noAutofit/>
          </a:bodyPr>
          <a:lstStyle/>
          <a:p>
            <a:pPr indent="-298450" lvl="0" marL="457200" rtl="0" algn="l">
              <a:spcBef>
                <a:spcPts val="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Stochastic training rates per instruction type</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Misprediction penalty: soft dock vs full reset</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Seznec Folded Hashing: Tested complex indexing by shifting the GBHR and XORing it with the PC.</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Modified vs original SVP supremacy policy</a:t>
            </a:r>
            <a:endParaRPr sz="1100">
              <a:solidFill>
                <a:srgbClr val="E8F4FD"/>
              </a:solidFill>
              <a:latin typeface="Calibri"/>
              <a:ea typeface="Calibri"/>
              <a:cs typeface="Calibri"/>
              <a:sym typeface="Calibri"/>
            </a:endParaRPr>
          </a:p>
          <a:p>
            <a:pPr indent="-298450" lvl="0" marL="457200" rtl="0" algn="l">
              <a:spcBef>
                <a:spcPts val="1500"/>
              </a:spcBef>
              <a:spcAft>
                <a:spcPts val="0"/>
              </a:spcAft>
              <a:buClr>
                <a:srgbClr val="E8F4FD"/>
              </a:buClr>
              <a:buSzPts val="1100"/>
              <a:buFont typeface="Calibri"/>
              <a:buChar char="●"/>
            </a:pPr>
            <a:r>
              <a:rPr lang="en-US" sz="1100">
                <a:solidFill>
                  <a:srgbClr val="E8F4FD"/>
                </a:solidFill>
                <a:latin typeface="Calibri"/>
                <a:ea typeface="Calibri"/>
                <a:cs typeface="Calibri"/>
                <a:sym typeface="Calibri"/>
              </a:rPr>
              <a:t>Misprediction Timeout: Experimented with implementing a "penalty box" cooldown period after a burst of consecutive mispredictions.</a:t>
            </a:r>
            <a:endParaRPr sz="1100">
              <a:solidFill>
                <a:srgbClr val="E8F4FD"/>
              </a:solidFill>
              <a:latin typeface="Calibri"/>
              <a:ea typeface="Calibri"/>
              <a:cs typeface="Calibri"/>
              <a:sym typeface="Calibri"/>
            </a:endParaRPr>
          </a:p>
        </p:txBody>
      </p:sp>
      <p:sp>
        <p:nvSpPr>
          <p:cNvPr id="276" name="Google Shape;276;p9"/>
          <p:cNvSpPr/>
          <p:nvPr/>
        </p:nvSpPr>
        <p:spPr>
          <a:xfrm>
            <a:off x="274320" y="4736592"/>
            <a:ext cx="8595300" cy="274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8EACC4"/>
              </a:buClr>
              <a:buSzPts val="1100"/>
              <a:buFont typeface="Calibri"/>
              <a:buNone/>
            </a:pPr>
            <a:r>
              <a:t/>
            </a:r>
            <a:endParaRPr sz="1100">
              <a:solidFill>
                <a:schemeClr val="dk1"/>
              </a:solidFill>
              <a:latin typeface="Calibri"/>
              <a:ea typeface="Calibri"/>
              <a:cs typeface="Calibri"/>
              <a:sym typeface="Calibri"/>
            </a:endParaRPr>
          </a:p>
        </p:txBody>
      </p:sp>
      <p:sp>
        <p:nvSpPr>
          <p:cNvPr id="277" name="Google Shape;277;p9"/>
          <p:cNvSpPr/>
          <p:nvPr/>
        </p:nvSpPr>
        <p:spPr>
          <a:xfrm>
            <a:off x="365760" y="502920"/>
            <a:ext cx="2286000" cy="366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82" name="Shape 282"/>
        <p:cNvGrpSpPr/>
        <p:nvPr/>
      </p:nvGrpSpPr>
      <p:grpSpPr>
        <a:xfrm>
          <a:off x="0" y="0"/>
          <a:ext cx="0" cy="0"/>
          <a:chOff x="0" y="0"/>
          <a:chExt cx="0" cy="0"/>
        </a:xfrm>
      </p:grpSpPr>
      <p:sp>
        <p:nvSpPr>
          <p:cNvPr id="283" name="Google Shape;283;g3d92ac71dd0_1_31"/>
          <p:cNvSpPr/>
          <p:nvPr/>
        </p:nvSpPr>
        <p:spPr>
          <a:xfrm>
            <a:off x="0" y="0"/>
            <a:ext cx="54900" cy="51435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g3d92ac71dd0_1_31"/>
          <p:cNvSpPr/>
          <p:nvPr/>
        </p:nvSpPr>
        <p:spPr>
          <a:xfrm>
            <a:off x="9089136" y="0"/>
            <a:ext cx="54900" cy="51435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5" name="Google Shape;285;g3d92ac71dd0_1_31"/>
          <p:cNvSpPr/>
          <p:nvPr/>
        </p:nvSpPr>
        <p:spPr>
          <a:xfrm>
            <a:off x="0" y="365760"/>
            <a:ext cx="9144000" cy="549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g3d92ac71dd0_1_31"/>
          <p:cNvSpPr/>
          <p:nvPr/>
        </p:nvSpPr>
        <p:spPr>
          <a:xfrm>
            <a:off x="0" y="4754880"/>
            <a:ext cx="9144000" cy="549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g3d92ac71dd0_1_31"/>
          <p:cNvSpPr/>
          <p:nvPr/>
        </p:nvSpPr>
        <p:spPr>
          <a:xfrm>
            <a:off x="365760" y="457200"/>
            <a:ext cx="82296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libri"/>
              <a:buNone/>
            </a:pPr>
            <a:r>
              <a:rPr b="1" lang="en-US" sz="2800">
                <a:solidFill>
                  <a:srgbClr val="FFFFFF"/>
                </a:solidFill>
                <a:latin typeface="Calibri"/>
                <a:ea typeface="Calibri"/>
                <a:cs typeface="Calibri"/>
                <a:sym typeface="Calibri"/>
              </a:rPr>
              <a:t>Conclusions</a:t>
            </a:r>
            <a:endParaRPr sz="2800">
              <a:solidFill>
                <a:schemeClr val="dk1"/>
              </a:solidFill>
              <a:latin typeface="Calibri"/>
              <a:ea typeface="Calibri"/>
              <a:cs typeface="Calibri"/>
              <a:sym typeface="Calibri"/>
            </a:endParaRPr>
          </a:p>
        </p:txBody>
      </p:sp>
      <p:sp>
        <p:nvSpPr>
          <p:cNvPr id="288" name="Google Shape;288;g3d92ac71dd0_1_31"/>
          <p:cNvSpPr/>
          <p:nvPr/>
        </p:nvSpPr>
        <p:spPr>
          <a:xfrm>
            <a:off x="274320" y="1005840"/>
            <a:ext cx="292500" cy="621900"/>
          </a:xfrm>
          <a:prstGeom prst="rect">
            <a:avLst/>
          </a:prstGeom>
          <a:solidFill>
            <a:srgbClr val="00F5D4"/>
          </a:solidFill>
          <a:ln cap="flat" cmpd="sng" w="12700">
            <a:solidFill>
              <a:srgbClr val="00F5D4"/>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9" name="Google Shape;289;g3d92ac71dd0_1_31"/>
          <p:cNvSpPr/>
          <p:nvPr/>
        </p:nvSpPr>
        <p:spPr>
          <a:xfrm>
            <a:off x="566928" y="1005840"/>
            <a:ext cx="8321100" cy="62190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0" name="Google Shape;290;g3d92ac71dd0_1_31"/>
          <p:cNvSpPr/>
          <p:nvPr/>
        </p:nvSpPr>
        <p:spPr>
          <a:xfrm>
            <a:off x="685800" y="1088136"/>
            <a:ext cx="80925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200"/>
              <a:buFont typeface="Calibri"/>
              <a:buNone/>
            </a:pPr>
            <a:r>
              <a:rPr lang="en-US" sz="1200">
                <a:solidFill>
                  <a:srgbClr val="E8F4FD"/>
                </a:solidFill>
                <a:latin typeface="Calibri"/>
                <a:ea typeface="Calibri"/>
                <a:cs typeface="Calibri"/>
                <a:sym typeface="Calibri"/>
              </a:rPr>
              <a:t>Achieved 2.054 harmonic mean IPC — a meaningful improvement over the 2.02 pure SVP baseline — by pairing SVP's mathematical stride model with VTAGE's history-correlated pattern learning inside a strict 32 KB budget.</a:t>
            </a:r>
            <a:endParaRPr sz="1200">
              <a:solidFill>
                <a:schemeClr val="dk1"/>
              </a:solidFill>
              <a:latin typeface="Calibri"/>
              <a:ea typeface="Calibri"/>
              <a:cs typeface="Calibri"/>
              <a:sym typeface="Calibri"/>
            </a:endParaRPr>
          </a:p>
        </p:txBody>
      </p:sp>
      <p:sp>
        <p:nvSpPr>
          <p:cNvPr id="291" name="Google Shape;291;g3d92ac71dd0_1_31"/>
          <p:cNvSpPr/>
          <p:nvPr/>
        </p:nvSpPr>
        <p:spPr>
          <a:xfrm>
            <a:off x="274320" y="1810512"/>
            <a:ext cx="292500" cy="621900"/>
          </a:xfrm>
          <a:prstGeom prst="rect">
            <a:avLst/>
          </a:prstGeom>
          <a:solidFill>
            <a:srgbClr val="00B4D8"/>
          </a:solidFill>
          <a:ln cap="flat" cmpd="sng" w="12700">
            <a:solidFill>
              <a:srgbClr val="00B4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g3d92ac71dd0_1_31"/>
          <p:cNvSpPr/>
          <p:nvPr/>
        </p:nvSpPr>
        <p:spPr>
          <a:xfrm>
            <a:off x="566928" y="1810512"/>
            <a:ext cx="8321100" cy="621900"/>
          </a:xfrm>
          <a:prstGeom prst="rect">
            <a:avLst/>
          </a:prstGeom>
          <a:solidFill>
            <a:srgbClr val="0A1422"/>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3" name="Google Shape;293;g3d92ac71dd0_1_31"/>
          <p:cNvSpPr/>
          <p:nvPr/>
        </p:nvSpPr>
        <p:spPr>
          <a:xfrm>
            <a:off x="685800" y="1892808"/>
            <a:ext cx="80925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200"/>
              <a:buFont typeface="Calibri"/>
              <a:buNone/>
            </a:pPr>
            <a:r>
              <a:rPr lang="en-US" sz="1200">
                <a:solidFill>
                  <a:srgbClr val="E8F4FD"/>
                </a:solidFill>
                <a:latin typeface="Calibri"/>
                <a:ea typeface="Calibri"/>
                <a:cs typeface="Calibri"/>
                <a:sym typeface="Calibri"/>
              </a:rPr>
              <a:t>The hybrid delivers real architectural value: perlbench gains 12.4% from VTAGE capturing complex control flow, while modified SVP supremacy lets deeply-proven VTAGE entries take precedence over stride predictions.</a:t>
            </a:r>
            <a:endParaRPr sz="1200">
              <a:solidFill>
                <a:schemeClr val="dk1"/>
              </a:solidFill>
              <a:latin typeface="Calibri"/>
              <a:ea typeface="Calibri"/>
              <a:cs typeface="Calibri"/>
              <a:sym typeface="Calibri"/>
            </a:endParaRPr>
          </a:p>
        </p:txBody>
      </p:sp>
      <p:sp>
        <p:nvSpPr>
          <p:cNvPr id="294" name="Google Shape;294;g3d92ac71dd0_1_31"/>
          <p:cNvSpPr/>
          <p:nvPr/>
        </p:nvSpPr>
        <p:spPr>
          <a:xfrm>
            <a:off x="274320" y="2615184"/>
            <a:ext cx="292500" cy="621900"/>
          </a:xfrm>
          <a:prstGeom prst="rect">
            <a:avLst/>
          </a:prstGeom>
          <a:solidFill>
            <a:srgbClr val="FFD166"/>
          </a:solidFill>
          <a:ln cap="flat" cmpd="sng" w="12700">
            <a:solidFill>
              <a:srgbClr val="FFD166"/>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g3d92ac71dd0_1_31"/>
          <p:cNvSpPr/>
          <p:nvPr/>
        </p:nvSpPr>
        <p:spPr>
          <a:xfrm>
            <a:off x="566928" y="2615184"/>
            <a:ext cx="8321100" cy="62190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g3d92ac71dd0_1_31"/>
          <p:cNvSpPr/>
          <p:nvPr/>
        </p:nvSpPr>
        <p:spPr>
          <a:xfrm>
            <a:off x="685800" y="2697480"/>
            <a:ext cx="80925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200"/>
              <a:buFont typeface="Calibri"/>
              <a:buNone/>
            </a:pPr>
            <a:r>
              <a:rPr lang="en-US" sz="1200">
                <a:solidFill>
                  <a:srgbClr val="E8F4FD"/>
                </a:solidFill>
                <a:latin typeface="Calibri"/>
                <a:ea typeface="Calibri"/>
                <a:cs typeface="Calibri"/>
                <a:sym typeface="Calibri"/>
              </a:rPr>
              <a:t>Decoupling confidence ceilings was the single most impactful discovery: conf_max=63 for VTAGE reduces confident mispredictions on chaotic workloads, while conf_max=47 for SVP keeps structured workloads firing aggressively.</a:t>
            </a:r>
            <a:endParaRPr sz="1200">
              <a:solidFill>
                <a:schemeClr val="dk1"/>
              </a:solidFill>
              <a:latin typeface="Calibri"/>
              <a:ea typeface="Calibri"/>
              <a:cs typeface="Calibri"/>
              <a:sym typeface="Calibri"/>
            </a:endParaRPr>
          </a:p>
        </p:txBody>
      </p:sp>
      <p:sp>
        <p:nvSpPr>
          <p:cNvPr id="297" name="Google Shape;297;g3d92ac71dd0_1_31"/>
          <p:cNvSpPr/>
          <p:nvPr/>
        </p:nvSpPr>
        <p:spPr>
          <a:xfrm>
            <a:off x="274320" y="3419856"/>
            <a:ext cx="292500" cy="621900"/>
          </a:xfrm>
          <a:prstGeom prst="rect">
            <a:avLst/>
          </a:prstGeom>
          <a:solidFill>
            <a:srgbClr val="06D6A0"/>
          </a:solidFill>
          <a:ln cap="flat" cmpd="sng" w="12700">
            <a:solidFill>
              <a:srgbClr val="06D6A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8" name="Google Shape;298;g3d92ac71dd0_1_31"/>
          <p:cNvSpPr/>
          <p:nvPr/>
        </p:nvSpPr>
        <p:spPr>
          <a:xfrm>
            <a:off x="566928" y="3419856"/>
            <a:ext cx="8321100" cy="621900"/>
          </a:xfrm>
          <a:prstGeom prst="rect">
            <a:avLst/>
          </a:prstGeom>
          <a:solidFill>
            <a:srgbClr val="0A1422"/>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g3d92ac71dd0_1_31"/>
          <p:cNvSpPr/>
          <p:nvPr/>
        </p:nvSpPr>
        <p:spPr>
          <a:xfrm>
            <a:off x="685800" y="3502152"/>
            <a:ext cx="80925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200"/>
              <a:buFont typeface="Calibri"/>
              <a:buNone/>
            </a:pPr>
            <a:r>
              <a:rPr lang="en-US" sz="1200">
                <a:solidFill>
                  <a:srgbClr val="E8F4FD"/>
                </a:solidFill>
                <a:latin typeface="Calibri"/>
                <a:ea typeface="Calibri"/>
                <a:cs typeface="Calibri"/>
                <a:sym typeface="Calibri"/>
              </a:rPr>
              <a:t>Novel contributions include porting branch-prediction Alternate logic to Value Prediction, designing the anti-aliasing SVP shield, and modifying the SVP supremacy policy — all with measurable IPC impact.</a:t>
            </a:r>
            <a:endParaRPr sz="1200">
              <a:solidFill>
                <a:schemeClr val="dk1"/>
              </a:solidFill>
              <a:latin typeface="Calibri"/>
              <a:ea typeface="Calibri"/>
              <a:cs typeface="Calibri"/>
              <a:sym typeface="Calibri"/>
            </a:endParaRPr>
          </a:p>
        </p:txBody>
      </p:sp>
      <p:sp>
        <p:nvSpPr>
          <p:cNvPr id="300" name="Google Shape;300;g3d92ac71dd0_1_31"/>
          <p:cNvSpPr/>
          <p:nvPr/>
        </p:nvSpPr>
        <p:spPr>
          <a:xfrm>
            <a:off x="274320" y="4224528"/>
            <a:ext cx="292500" cy="621900"/>
          </a:xfrm>
          <a:prstGeom prst="rect">
            <a:avLst/>
          </a:prstGeom>
          <a:solidFill>
            <a:srgbClr val="FF6B35"/>
          </a:solidFill>
          <a:ln cap="flat" cmpd="sng" w="12700">
            <a:solidFill>
              <a:srgbClr val="FF6B3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1" name="Google Shape;301;g3d92ac71dd0_1_31"/>
          <p:cNvSpPr/>
          <p:nvPr/>
        </p:nvSpPr>
        <p:spPr>
          <a:xfrm>
            <a:off x="566928" y="4224528"/>
            <a:ext cx="8321100" cy="621900"/>
          </a:xfrm>
          <a:prstGeom prst="rect">
            <a:avLst/>
          </a:prstGeom>
          <a:solidFill>
            <a:srgbClr val="0D2137"/>
          </a:solidFill>
          <a:ln cap="flat" cmpd="sng" w="9525">
            <a:solidFill>
              <a:srgbClr val="1A2A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2" name="Google Shape;302;g3d92ac71dd0_1_31"/>
          <p:cNvSpPr/>
          <p:nvPr/>
        </p:nvSpPr>
        <p:spPr>
          <a:xfrm>
            <a:off x="685800" y="4306824"/>
            <a:ext cx="8092500" cy="475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F4FD"/>
              </a:buClr>
              <a:buSzPts val="1200"/>
              <a:buFont typeface="Calibri"/>
              <a:buNone/>
            </a:pPr>
            <a:r>
              <a:rPr lang="en-US" sz="1200">
                <a:solidFill>
                  <a:srgbClr val="E8F4FD"/>
                </a:solidFill>
                <a:latin typeface="Calibri"/>
                <a:ea typeface="Calibri"/>
                <a:cs typeface="Calibri"/>
                <a:sym typeface="Calibri"/>
              </a:rPr>
              <a:t>The joint code-configuration space remains vastly unexplored: per-PC confidence thresholds, memory-latency-aware training, confidence-gated eviction, and implementing EVES-style indirect value pointers are among the most promising remaining directions.</a:t>
            </a:r>
            <a:endParaRPr sz="12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g3e073069206_10_30"/>
          <p:cNvSpPr/>
          <p:nvPr/>
        </p:nvSpPr>
        <p:spPr>
          <a:xfrm>
            <a:off x="0" y="0"/>
            <a:ext cx="9144000" cy="5143500"/>
          </a:xfrm>
          <a:prstGeom prst="rect">
            <a:avLst/>
          </a:prstGeom>
          <a:solidFill>
            <a:srgbClr val="0A162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7" name="Google Shape;307;g3e073069206_10_30"/>
          <p:cNvSpPr/>
          <p:nvPr/>
        </p:nvSpPr>
        <p:spPr>
          <a:xfrm>
            <a:off x="0" y="0"/>
            <a:ext cx="9144000" cy="502800"/>
          </a:xfrm>
          <a:prstGeom prst="rect">
            <a:avLst/>
          </a:prstGeom>
          <a:solidFill>
            <a:srgbClr val="0D2137"/>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8" name="Google Shape;308;g3e073069206_10_30"/>
          <p:cNvSpPr txBox="1"/>
          <p:nvPr/>
        </p:nvSpPr>
        <p:spPr>
          <a:xfrm>
            <a:off x="365760" y="73152"/>
            <a:ext cx="8229600" cy="3657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chemeClr val="lt1"/>
                </a:solidFill>
                <a:latin typeface="Calibri"/>
                <a:ea typeface="Calibri"/>
                <a:cs typeface="Calibri"/>
                <a:sym typeface="Calibri"/>
              </a:rPr>
              <a:t>References &amp; Citations</a:t>
            </a:r>
            <a:endParaRPr b="1" sz="2200">
              <a:solidFill>
                <a:schemeClr val="lt1"/>
              </a:solidFill>
              <a:latin typeface="Calibri"/>
              <a:ea typeface="Calibri"/>
              <a:cs typeface="Calibri"/>
              <a:sym typeface="Calibri"/>
            </a:endParaRPr>
          </a:p>
        </p:txBody>
      </p:sp>
      <p:sp>
        <p:nvSpPr>
          <p:cNvPr id="309" name="Google Shape;309;g3e073069206_10_30"/>
          <p:cNvSpPr/>
          <p:nvPr/>
        </p:nvSpPr>
        <p:spPr>
          <a:xfrm>
            <a:off x="365760" y="502920"/>
            <a:ext cx="2286000" cy="36300"/>
          </a:xfrm>
          <a:prstGeom prst="rect">
            <a:avLst/>
          </a:prstGeom>
          <a:solidFill>
            <a:srgbClr val="00B4D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10" name="Google Shape;310;g3e073069206_10_30"/>
          <p:cNvGrpSpPr/>
          <p:nvPr/>
        </p:nvGrpSpPr>
        <p:grpSpPr>
          <a:xfrm>
            <a:off x="365760" y="762000"/>
            <a:ext cx="8412600" cy="619200"/>
            <a:chOff x="0" y="0"/>
            <a:chExt cx="8412600" cy="619200"/>
          </a:xfrm>
        </p:grpSpPr>
        <p:sp>
          <p:nvSpPr>
            <p:cNvPr id="311" name="Google Shape;311;g3e073069206_10_30"/>
            <p:cNvSpPr/>
            <p:nvPr/>
          </p:nvSpPr>
          <p:spPr>
            <a:xfrm>
              <a:off x="0" y="0"/>
              <a:ext cx="8412600" cy="619200"/>
            </a:xfrm>
            <a:prstGeom prst="roundRect">
              <a:avLst>
                <a:gd fmla="val 6153" name="adj"/>
              </a:avLst>
            </a:prstGeom>
            <a:solidFill>
              <a:srgbClr val="0D2137"/>
            </a:solidFill>
            <a:ln cap="flat" cmpd="sng" w="9525">
              <a:solidFill>
                <a:srgbClr val="1A2A3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2" name="Google Shape;312;g3e073069206_10_30"/>
            <p:cNvSpPr txBox="1"/>
            <p:nvPr/>
          </p:nvSpPr>
          <p:spPr>
            <a:xfrm>
              <a:off x="142875" y="0"/>
              <a:ext cx="3810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200">
                  <a:solidFill>
                    <a:srgbClr val="00F5D4"/>
                  </a:solidFill>
                  <a:latin typeface="Consolas"/>
                  <a:ea typeface="Consolas"/>
                  <a:cs typeface="Consolas"/>
                  <a:sym typeface="Consolas"/>
                </a:rPr>
                <a:t>[1]</a:t>
              </a:r>
              <a:endParaRPr b="1" sz="1200">
                <a:solidFill>
                  <a:srgbClr val="00F5D4"/>
                </a:solidFill>
                <a:latin typeface="Consolas"/>
                <a:ea typeface="Consolas"/>
                <a:cs typeface="Consolas"/>
                <a:sym typeface="Consolas"/>
              </a:endParaRPr>
            </a:p>
          </p:txBody>
        </p:sp>
        <p:sp>
          <p:nvSpPr>
            <p:cNvPr id="313" name="Google Shape;313;g3e073069206_10_30"/>
            <p:cNvSpPr txBox="1"/>
            <p:nvPr/>
          </p:nvSpPr>
          <p:spPr>
            <a:xfrm>
              <a:off x="619125" y="0"/>
              <a:ext cx="75249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E8F4FD"/>
                  </a:solidFill>
                  <a:latin typeface="Calibri"/>
                  <a:ea typeface="Calibri"/>
                  <a:cs typeface="Calibri"/>
                  <a:sym typeface="Calibri"/>
                </a:rPr>
                <a:t>Seznec, A. "Exploring value prediction with the EVES predictor." 1st Championship Value Prediction (CVP-1), 2018.</a:t>
              </a:r>
              <a:endParaRPr b="0" sz="1150">
                <a:solidFill>
                  <a:srgbClr val="E8F4FD"/>
                </a:solidFill>
                <a:latin typeface="Calibri"/>
                <a:ea typeface="Calibri"/>
                <a:cs typeface="Calibri"/>
                <a:sym typeface="Calibri"/>
              </a:endParaRPr>
            </a:p>
          </p:txBody>
        </p:sp>
      </p:grpSp>
      <p:grpSp>
        <p:nvGrpSpPr>
          <p:cNvPr id="314" name="Google Shape;314;g3e073069206_10_30"/>
          <p:cNvGrpSpPr/>
          <p:nvPr/>
        </p:nvGrpSpPr>
        <p:grpSpPr>
          <a:xfrm>
            <a:off x="365760" y="1476375"/>
            <a:ext cx="8412600" cy="619200"/>
            <a:chOff x="0" y="0"/>
            <a:chExt cx="8412600" cy="619200"/>
          </a:xfrm>
        </p:grpSpPr>
        <p:sp>
          <p:nvSpPr>
            <p:cNvPr id="315" name="Google Shape;315;g3e073069206_10_30"/>
            <p:cNvSpPr/>
            <p:nvPr/>
          </p:nvSpPr>
          <p:spPr>
            <a:xfrm>
              <a:off x="0" y="0"/>
              <a:ext cx="8412600" cy="619200"/>
            </a:xfrm>
            <a:prstGeom prst="roundRect">
              <a:avLst>
                <a:gd fmla="val 6153" name="adj"/>
              </a:avLst>
            </a:prstGeom>
            <a:solidFill>
              <a:srgbClr val="0D2137"/>
            </a:solidFill>
            <a:ln cap="flat" cmpd="sng" w="9525">
              <a:solidFill>
                <a:srgbClr val="1A2A3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6" name="Google Shape;316;g3e073069206_10_30"/>
            <p:cNvSpPr txBox="1"/>
            <p:nvPr/>
          </p:nvSpPr>
          <p:spPr>
            <a:xfrm>
              <a:off x="142875" y="0"/>
              <a:ext cx="3810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200">
                  <a:solidFill>
                    <a:srgbClr val="00F5D4"/>
                  </a:solidFill>
                  <a:latin typeface="Consolas"/>
                  <a:ea typeface="Consolas"/>
                  <a:cs typeface="Consolas"/>
                  <a:sym typeface="Consolas"/>
                </a:rPr>
                <a:t>[2]</a:t>
              </a:r>
              <a:endParaRPr b="1" sz="1200">
                <a:solidFill>
                  <a:srgbClr val="00F5D4"/>
                </a:solidFill>
                <a:latin typeface="Consolas"/>
                <a:ea typeface="Consolas"/>
                <a:cs typeface="Consolas"/>
                <a:sym typeface="Consolas"/>
              </a:endParaRPr>
            </a:p>
          </p:txBody>
        </p:sp>
        <p:sp>
          <p:nvSpPr>
            <p:cNvPr id="317" name="Google Shape;317;g3e073069206_10_30"/>
            <p:cNvSpPr txBox="1"/>
            <p:nvPr/>
          </p:nvSpPr>
          <p:spPr>
            <a:xfrm>
              <a:off x="619125" y="0"/>
              <a:ext cx="75249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E8F4FD"/>
                  </a:solidFill>
                  <a:latin typeface="Calibri"/>
                  <a:ea typeface="Calibri"/>
                  <a:cs typeface="Calibri"/>
                  <a:sym typeface="Calibri"/>
                </a:rPr>
                <a:t>Perais, A., &amp; Seznec, A. "Practical Data Value Speculation for Future High-end Processors." IEEE 20th International Symposium on High Performance Computer Architecture (HPCA), 2014.</a:t>
              </a:r>
              <a:endParaRPr b="0" sz="1150">
                <a:solidFill>
                  <a:srgbClr val="E8F4FD"/>
                </a:solidFill>
                <a:latin typeface="Calibri"/>
                <a:ea typeface="Calibri"/>
                <a:cs typeface="Calibri"/>
                <a:sym typeface="Calibri"/>
              </a:endParaRPr>
            </a:p>
          </p:txBody>
        </p:sp>
      </p:grpSp>
      <p:grpSp>
        <p:nvGrpSpPr>
          <p:cNvPr id="318" name="Google Shape;318;g3e073069206_10_30"/>
          <p:cNvGrpSpPr/>
          <p:nvPr/>
        </p:nvGrpSpPr>
        <p:grpSpPr>
          <a:xfrm>
            <a:off x="365760" y="2190750"/>
            <a:ext cx="8412600" cy="619200"/>
            <a:chOff x="0" y="0"/>
            <a:chExt cx="8412600" cy="619200"/>
          </a:xfrm>
        </p:grpSpPr>
        <p:sp>
          <p:nvSpPr>
            <p:cNvPr id="319" name="Google Shape;319;g3e073069206_10_30"/>
            <p:cNvSpPr/>
            <p:nvPr/>
          </p:nvSpPr>
          <p:spPr>
            <a:xfrm>
              <a:off x="0" y="0"/>
              <a:ext cx="8412600" cy="619200"/>
            </a:xfrm>
            <a:prstGeom prst="roundRect">
              <a:avLst>
                <a:gd fmla="val 6153" name="adj"/>
              </a:avLst>
            </a:prstGeom>
            <a:solidFill>
              <a:srgbClr val="0D2137"/>
            </a:solidFill>
            <a:ln cap="flat" cmpd="sng" w="9525">
              <a:solidFill>
                <a:srgbClr val="1A2A3A"/>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0" name="Google Shape;320;g3e073069206_10_30"/>
            <p:cNvSpPr txBox="1"/>
            <p:nvPr/>
          </p:nvSpPr>
          <p:spPr>
            <a:xfrm>
              <a:off x="142875" y="0"/>
              <a:ext cx="3810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US" sz="1200">
                  <a:solidFill>
                    <a:srgbClr val="00F5D4"/>
                  </a:solidFill>
                  <a:latin typeface="Consolas"/>
                  <a:ea typeface="Consolas"/>
                  <a:cs typeface="Consolas"/>
                  <a:sym typeface="Consolas"/>
                </a:rPr>
                <a:t>[3]</a:t>
              </a:r>
              <a:endParaRPr b="1" sz="1200">
                <a:solidFill>
                  <a:srgbClr val="00F5D4"/>
                </a:solidFill>
                <a:latin typeface="Consolas"/>
                <a:ea typeface="Consolas"/>
                <a:cs typeface="Consolas"/>
                <a:sym typeface="Consolas"/>
              </a:endParaRPr>
            </a:p>
          </p:txBody>
        </p:sp>
        <p:sp>
          <p:nvSpPr>
            <p:cNvPr id="321" name="Google Shape;321;g3e073069206_10_30"/>
            <p:cNvSpPr txBox="1"/>
            <p:nvPr/>
          </p:nvSpPr>
          <p:spPr>
            <a:xfrm>
              <a:off x="619125" y="0"/>
              <a:ext cx="7524900" cy="6192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E8F4FD"/>
                  </a:solidFill>
                  <a:latin typeface="Calibri"/>
                  <a:ea typeface="Calibri"/>
                  <a:cs typeface="Calibri"/>
                  <a:sym typeface="Calibri"/>
                </a:rPr>
                <a:t>Seznec, A. "A case for (partially) Tagged Geometric history length branch prediction." Journal of Instruction-Level Parallelism, 2006.</a:t>
              </a:r>
              <a:endParaRPr b="0" sz="1150">
                <a:solidFill>
                  <a:srgbClr val="E8F4FD"/>
                </a:solidFill>
                <a:latin typeface="Calibri"/>
                <a:ea typeface="Calibri"/>
                <a:cs typeface="Calibri"/>
                <a:sym typeface="Calibri"/>
              </a:endParaRPr>
            </a:p>
          </p:txBody>
        </p:sp>
      </p:grpSp>
      <p:sp>
        <p:nvSpPr>
          <p:cNvPr id="322" name="Google Shape;322;g3e073069206_10_30"/>
          <p:cNvSpPr/>
          <p:nvPr/>
        </p:nvSpPr>
        <p:spPr>
          <a:xfrm>
            <a:off x="274320" y="4598670"/>
            <a:ext cx="8595300" cy="384000"/>
          </a:xfrm>
          <a:prstGeom prst="rect">
            <a:avLst/>
          </a:prstGeom>
          <a:solidFill>
            <a:srgbClr val="0A1A0A"/>
          </a:solidFill>
          <a:ln cap="flat" cmpd="sng" w="12375">
            <a:solidFill>
              <a:srgbClr val="06D6A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3" name="Google Shape;323;g3e073069206_10_30"/>
          <p:cNvSpPr txBox="1"/>
          <p:nvPr/>
        </p:nvSpPr>
        <p:spPr>
          <a:xfrm>
            <a:off x="365760" y="4598670"/>
            <a:ext cx="8412600" cy="384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i="1" lang="en-US" sz="1100">
                <a:solidFill>
                  <a:srgbClr val="06D6A0"/>
                </a:solidFill>
                <a:latin typeface="Calibri"/>
                <a:ea typeface="Calibri"/>
                <a:cs typeface="Calibri"/>
                <a:sym typeface="Calibri"/>
              </a:rPr>
              <a:t>All methodology and architectural baselines derived from the Championship Value Prediction (CVP) framework.</a:t>
            </a:r>
            <a:endParaRPr sz="1100">
              <a:solidFill>
                <a:srgbClr val="06D6A0"/>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2026-04-22T22:42:17Z</dcterms:created>
  <dc:creator>PptxGenJS</dc:creator>
</cp:coreProperties>
</file>